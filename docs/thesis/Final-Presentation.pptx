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4"/>
  </p:sldMasterIdLst>
  <p:notesMasterIdLst>
    <p:notesMasterId r:id="rId51"/>
  </p:notesMasterIdLst>
  <p:sldIdLst>
    <p:sldId id="256" r:id="rId5"/>
    <p:sldId id="257" r:id="rId6"/>
    <p:sldId id="296" r:id="rId7"/>
    <p:sldId id="297" r:id="rId8"/>
    <p:sldId id="258" r:id="rId9"/>
    <p:sldId id="270" r:id="rId10"/>
    <p:sldId id="271" r:id="rId11"/>
    <p:sldId id="259" r:id="rId12"/>
    <p:sldId id="260" r:id="rId13"/>
    <p:sldId id="261" r:id="rId14"/>
    <p:sldId id="294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390" r:id="rId35"/>
    <p:sldId id="472" r:id="rId36"/>
    <p:sldId id="391" r:id="rId37"/>
    <p:sldId id="393" r:id="rId38"/>
    <p:sldId id="395" r:id="rId39"/>
    <p:sldId id="396" r:id="rId40"/>
    <p:sldId id="475" r:id="rId41"/>
    <p:sldId id="473" r:id="rId42"/>
    <p:sldId id="398" r:id="rId43"/>
    <p:sldId id="400" r:id="rId44"/>
    <p:sldId id="402" r:id="rId45"/>
    <p:sldId id="403" r:id="rId46"/>
    <p:sldId id="476" r:id="rId47"/>
    <p:sldId id="478" r:id="rId48"/>
    <p:sldId id="388" r:id="rId49"/>
    <p:sldId id="389" r:id="rId50"/>
  </p:sldIdLst>
  <p:sldSz cx="9144000" cy="5143500" type="screen16x9"/>
  <p:notesSz cx="6858000" cy="9144000"/>
  <p:embeddedFontLst>
    <p:embeddedFont>
      <p:font typeface="Lato" panose="020F0502020204030203" pitchFamily="34" charset="0"/>
      <p:regular r:id="rId52"/>
      <p:bold r:id="rId53"/>
      <p:italic r:id="rId54"/>
      <p:boldItalic r:id="rId55"/>
    </p:embeddedFont>
    <p:embeddedFont>
      <p:font typeface="Montserrat" pitchFamily="2" charset="77"/>
      <p:regular r:id="rId56"/>
      <p:bold r:id="rId57"/>
      <p:italic r:id="rId58"/>
      <p:boldItalic r:id="rId5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E46874-9D99-0847-BD54-DCF91F557D38}" v="360" dt="2026-02-01T17:02:35.780"/>
  </p1510:revLst>
</p1510:revInfo>
</file>

<file path=ppt/tableStyles.xml><?xml version="1.0" encoding="utf-8"?>
<a:tblStyleLst xmlns:a="http://schemas.openxmlformats.org/drawingml/2006/main" def="{1D0A32A6-33CC-43D0-9E1B-FCB90422735E}">
  <a:tblStyle styleId="{1D0A32A6-33CC-43D0-9E1B-FCB90422735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–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–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–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Light Style 2 –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FECB4D8-DB02-4DC6-A0A2-4F2EBAE1DC90}" styleName="Medium Style 1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03447BB-5D67-496B-8E87-E561075AD55C}" styleName="Dark Style 1 –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83"/>
    <p:restoredTop sz="94804"/>
  </p:normalViewPr>
  <p:slideViewPr>
    <p:cSldViewPr snapToGrid="0">
      <p:cViewPr>
        <p:scale>
          <a:sx n="182" d="100"/>
          <a:sy n="182" d="100"/>
        </p:scale>
        <p:origin x="904" y="4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font" Target="fonts/font4.fntdata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2.fntdata"/><Relationship Id="rId58" Type="http://schemas.openxmlformats.org/officeDocument/2006/relationships/font" Target="fonts/font7.fntdata"/><Relationship Id="rId5" Type="http://schemas.openxmlformats.org/officeDocument/2006/relationships/slide" Target="slides/slide1.xml"/><Relationship Id="rId61" Type="http://schemas.openxmlformats.org/officeDocument/2006/relationships/viewProps" Target="view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font" Target="fonts/font5.fntdata"/><Relationship Id="rId64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font" Target="fonts/font8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3.fntdata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font" Target="fonts/font6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1.fntdata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52873b686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b52873b686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52873b686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b52873b686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52873b686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b52873b686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να εξηγησουμε τι ειναι καραντινα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52873b686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b52873b686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b52873b686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b52873b686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b52873b686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b52873b686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R" dirty="0"/>
          </a:p>
        </p:txBody>
      </p:sp>
    </p:spTree>
    <p:extLst>
      <p:ext uri="{BB962C8B-B14F-4D97-AF65-F5344CB8AC3E}">
        <p14:creationId xmlns:p14="http://schemas.microsoft.com/office/powerpoint/2010/main" val="2053617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/>
        </p:nvSpPr>
        <p:spPr>
          <a:xfrm>
            <a:off x="2988824" y="1435224"/>
            <a:ext cx="6155175" cy="2006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47500" lnSpcReduction="20000"/>
          </a:bodyPr>
          <a:lstStyle/>
          <a:p>
            <a:pPr lvl="0" algn="ctr">
              <a:lnSpc>
                <a:spcPct val="90000"/>
              </a:lnSpc>
            </a:pPr>
            <a:r>
              <a:rPr lang="en-US" sz="6700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HANDLING OUT OF ORDER </a:t>
            </a:r>
            <a:br>
              <a:rPr lang="en-US" sz="6700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6700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EVENTS IN</a:t>
            </a:r>
            <a:br>
              <a:rPr lang="en-US" sz="6000" dirty="0">
                <a:solidFill>
                  <a:schemeClr val="accent1">
                    <a:lumMod val="75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US" sz="6000" dirty="0">
                <a:solidFill>
                  <a:srgbClr val="82C7A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8000" dirty="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CORE</a:t>
            </a:r>
            <a:br>
              <a:rPr lang="en-US" sz="5555" noProof="0" dirty="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lang="en-US" sz="5666" noProof="0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4000" noProof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>
                <a:solidFill>
                  <a:schemeClr val="lt2"/>
                </a:solidFill>
              </a:rPr>
              <a:t>General Explanation of Core</a:t>
            </a:r>
            <a:r>
              <a:rPr lang="en-US" noProof="0"/>
              <a:t> </a:t>
            </a:r>
          </a:p>
        </p:txBody>
      </p:sp>
      <p:sp>
        <p:nvSpPr>
          <p:cNvPr id="140" name="Google Shape;140;p14"/>
          <p:cNvSpPr txBox="1">
            <a:spLocks noGrp="1"/>
          </p:cNvSpPr>
          <p:nvPr>
            <p:ph type="body" idx="1"/>
          </p:nvPr>
        </p:nvSpPr>
        <p:spPr>
          <a:xfrm>
            <a:off x="325525" y="1479625"/>
            <a:ext cx="8382000" cy="3577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</a:pPr>
            <a:r>
              <a:rPr lang="en-US" sz="1600" noProof="0" dirty="0">
                <a:latin typeface="Montserrat"/>
                <a:ea typeface="Montserrat"/>
                <a:cs typeface="Montserrat"/>
                <a:sym typeface="Montserrat"/>
              </a:rPr>
              <a:t>CORE is a </a:t>
            </a:r>
            <a:r>
              <a:rPr lang="en-US" sz="1600" noProof="0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Complex Event Recognition (CER)</a:t>
            </a:r>
            <a:r>
              <a:rPr lang="en-US" sz="1600" noProof="0" dirty="0">
                <a:latin typeface="Montserrat"/>
                <a:ea typeface="Montserrat"/>
                <a:cs typeface="Montserrat"/>
                <a:sym typeface="Montserrat"/>
              </a:rPr>
              <a:t> engine built to detect patterns in high‑velocity data streams with low latency.</a:t>
            </a: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noProof="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</a:pPr>
            <a:r>
              <a:rPr lang="en-US" sz="1600" noProof="0" dirty="0">
                <a:latin typeface="Montserrat"/>
                <a:ea typeface="Montserrat"/>
                <a:cs typeface="Montserrat"/>
                <a:sym typeface="Montserrat"/>
              </a:rPr>
              <a:t>It evaluates complex event queries </a:t>
            </a:r>
            <a:r>
              <a:rPr lang="en-US" sz="1600" noProof="0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efficiently</a:t>
            </a:r>
            <a:r>
              <a:rPr lang="en-US" sz="1600" noProof="0" dirty="0">
                <a:latin typeface="Montserrat"/>
                <a:ea typeface="Montserrat"/>
                <a:cs typeface="Montserrat"/>
                <a:sym typeface="Montserrat"/>
              </a:rPr>
              <a:t>, including those involving time windows, filters and partition‑by correlations.</a:t>
            </a:r>
          </a:p>
          <a:p>
            <a:pPr marL="127000" lvl="0" indent="0" algn="l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lang="en-US" sz="1600" noProof="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</a:pPr>
            <a:r>
              <a:rPr lang="en-US" sz="1600" noProof="0" dirty="0">
                <a:latin typeface="Montserrat"/>
                <a:ea typeface="Montserrat"/>
                <a:cs typeface="Montserrat"/>
                <a:sym typeface="Montserrat"/>
              </a:rPr>
              <a:t>CORE is powered by </a:t>
            </a:r>
            <a:r>
              <a:rPr lang="en-US" sz="1600" noProof="0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CEQL</a:t>
            </a:r>
            <a:r>
              <a:rPr lang="en-US" sz="1600" noProof="0" dirty="0">
                <a:latin typeface="Montserrat"/>
                <a:ea typeface="Montserrat"/>
                <a:cs typeface="Montserrat"/>
                <a:sym typeface="Montserrat"/>
              </a:rPr>
              <a:t>, a practical query language supporting sequencing, disjunction, iteration, filtering, time windows, and partition‑by.</a:t>
            </a:r>
            <a:br>
              <a:rPr lang="en-US" sz="1600" noProof="0" dirty="0"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US" sz="1600" noProof="0" dirty="0">
                <a:latin typeface="Montserrat"/>
                <a:ea typeface="Montserrat"/>
                <a:cs typeface="Montserrat"/>
                <a:sym typeface="Montserrat"/>
              </a:rPr>
            </a:br>
            <a:endParaRPr lang="en-US" noProof="0" dirty="0"/>
          </a:p>
        </p:txBody>
      </p:sp>
      <p:sp>
        <p:nvSpPr>
          <p:cNvPr id="141" name="Google Shape;141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2</a:t>
            </a:fld>
            <a:endParaRPr lang="en-US" noProof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D934A-A0EA-2EF7-2C78-5378BB750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500" y="428247"/>
            <a:ext cx="7038900" cy="914100"/>
          </a:xfrm>
        </p:spPr>
        <p:txBody>
          <a:bodyPr/>
          <a:lstStyle/>
          <a:p>
            <a:r>
              <a:rPr lang="en-GR">
                <a:solidFill>
                  <a:schemeClr val="tx2"/>
                </a:solidFill>
              </a:rPr>
              <a:t>Event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0879E1-3041-186A-9243-2045C7E68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7500" y="1342347"/>
            <a:ext cx="7038900" cy="798763"/>
          </a:xfrm>
        </p:spPr>
        <p:txBody>
          <a:bodyPr>
            <a:normAutofit fontScale="92500" lnSpcReduction="20000"/>
          </a:bodyPr>
          <a:lstStyle/>
          <a:p>
            <a:pPr marL="146050" indent="0">
              <a:buNone/>
            </a:pPr>
            <a:r>
              <a:rPr lang="en-GB" sz="1500">
                <a:latin typeface="Montserrat" pitchFamily="2" charset="77"/>
              </a:rPr>
              <a:t>A </a:t>
            </a:r>
            <a:r>
              <a:rPr lang="en-GB" sz="1500">
                <a:solidFill>
                  <a:schemeClr val="tx2"/>
                </a:solidFill>
                <a:latin typeface="Montserrat" pitchFamily="2" charset="77"/>
              </a:rPr>
              <a:t>single event </a:t>
            </a:r>
            <a:r>
              <a:rPr lang="en-GB" sz="1500">
                <a:latin typeface="Montserrat" pitchFamily="2" charset="77"/>
              </a:rPr>
              <a:t>is one complete, atomic record that describes a specific real-world occurrence at a single point in time, containing all relevant attributes needed to process it independently.</a:t>
            </a:r>
          </a:p>
          <a:p>
            <a:pPr marL="146050" indent="0">
              <a:buNone/>
            </a:pPr>
            <a:endParaRPr lang="en-GB">
              <a:latin typeface="Montserrat" pitchFamily="2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33AE7E-D3AF-C0AD-BA7C-63452F7114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 smtClean="0"/>
              <a:t>3</a:t>
            </a:fld>
            <a:endParaRPr lang="el"/>
          </a:p>
        </p:txBody>
      </p:sp>
      <p:sp>
        <p:nvSpPr>
          <p:cNvPr id="5" name="Google Shape;164;p17">
            <a:extLst>
              <a:ext uri="{FF2B5EF4-FFF2-40B4-BE49-F238E27FC236}">
                <a16:creationId xmlns:a16="http://schemas.microsoft.com/office/drawing/2014/main" id="{23389029-32FD-CB76-C6F1-1CE2156A78A6}"/>
              </a:ext>
            </a:extLst>
          </p:cNvPr>
          <p:cNvSpPr/>
          <p:nvPr/>
        </p:nvSpPr>
        <p:spPr>
          <a:xfrm>
            <a:off x="2886127" y="2912482"/>
            <a:ext cx="3371746" cy="1397612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" name="Google Shape;167;p17">
            <a:extLst>
              <a:ext uri="{FF2B5EF4-FFF2-40B4-BE49-F238E27FC236}">
                <a16:creationId xmlns:a16="http://schemas.microsoft.com/office/drawing/2014/main" id="{3B9D980A-1FC4-9724-2EE2-6C87326A5786}"/>
              </a:ext>
            </a:extLst>
          </p:cNvPr>
          <p:cNvSpPr txBox="1"/>
          <p:nvPr/>
        </p:nvSpPr>
        <p:spPr>
          <a:xfrm>
            <a:off x="2886127" y="3092301"/>
            <a:ext cx="3371746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/>
            <a:r>
              <a:rPr lang="en-GB" sz="1000" dirty="0">
                <a:solidFill>
                  <a:schemeClr val="tx1"/>
                </a:solidFill>
                <a:latin typeface="Montserrat" pitchFamily="2" charset="77"/>
              </a:rPr>
              <a:t>Event Type (CARRIER_NAME): </a:t>
            </a:r>
            <a:r>
              <a:rPr lang="en-GB" sz="1000" dirty="0" err="1">
                <a:solidFill>
                  <a:schemeClr val="accent1"/>
                </a:solidFill>
                <a:latin typeface="Montserrat" pitchFamily="2" charset="77"/>
              </a:rPr>
              <a:t>Delta_Air_Lines_Inc</a:t>
            </a:r>
            <a:endParaRPr lang="en-GB" sz="1000" dirty="0">
              <a:solidFill>
                <a:schemeClr val="accent1"/>
              </a:solidFill>
              <a:latin typeface="Montserrat" pitchFamily="2" charset="77"/>
            </a:endParaRPr>
          </a:p>
          <a:p>
            <a:pPr lvl="0" algn="ctr"/>
            <a:r>
              <a:rPr lang="en-GB" sz="1000" dirty="0" err="1">
                <a:solidFill>
                  <a:schemeClr val="tx1"/>
                </a:solidFill>
                <a:latin typeface="Montserrat" pitchFamily="2" charset="77"/>
              </a:rPr>
              <a:t>Event_Timestamp</a:t>
            </a:r>
            <a:r>
              <a:rPr lang="en-GB" sz="1000" dirty="0">
                <a:solidFill>
                  <a:schemeClr val="tx1"/>
                </a:solidFill>
                <a:latin typeface="Montserrat" pitchFamily="2" charset="77"/>
              </a:rPr>
              <a:t>:</a:t>
            </a:r>
            <a:r>
              <a:rPr lang="en-GB" sz="1000" dirty="0">
                <a:solidFill>
                  <a:schemeClr val="bg1"/>
                </a:solidFill>
                <a:latin typeface="Montserrat" pitchFamily="2" charset="77"/>
              </a:rPr>
              <a:t> </a:t>
            </a:r>
            <a:r>
              <a:rPr lang="en-GB" sz="1000" dirty="0">
                <a:solidFill>
                  <a:schemeClr val="accent1"/>
                </a:solidFill>
                <a:latin typeface="Montserrat" pitchFamily="2" charset="77"/>
              </a:rPr>
              <a:t>1735690200</a:t>
            </a:r>
          </a:p>
          <a:p>
            <a:pPr lvl="0" algn="ctr"/>
            <a:r>
              <a:rPr lang="en-GB" sz="1000" dirty="0" err="1">
                <a:solidFill>
                  <a:schemeClr val="tx1"/>
                </a:solidFill>
                <a:latin typeface="Montserrat" pitchFamily="2" charset="77"/>
              </a:rPr>
              <a:t>Arrival_Timestamp</a:t>
            </a:r>
            <a:r>
              <a:rPr lang="en-GB" sz="1000" dirty="0">
                <a:solidFill>
                  <a:schemeClr val="tx1"/>
                </a:solidFill>
                <a:latin typeface="Montserrat" pitchFamily="2" charset="77"/>
              </a:rPr>
              <a:t>: </a:t>
            </a:r>
            <a:r>
              <a:rPr lang="en-GB" sz="1000" dirty="0">
                <a:solidFill>
                  <a:schemeClr val="accent1"/>
                </a:solidFill>
                <a:latin typeface="Montserrat" pitchFamily="2" charset="77"/>
              </a:rPr>
              <a:t>1735697400</a:t>
            </a:r>
          </a:p>
          <a:p>
            <a:pPr lvl="0" algn="ctr"/>
            <a:r>
              <a:rPr lang="en-GB" sz="1000" dirty="0">
                <a:solidFill>
                  <a:schemeClr val="tx1"/>
                </a:solidFill>
                <a:latin typeface="Montserrat" pitchFamily="2" charset="77"/>
              </a:rPr>
              <a:t>FL_NUM: </a:t>
            </a:r>
            <a:r>
              <a:rPr lang="en-GB" sz="1000" dirty="0">
                <a:solidFill>
                  <a:schemeClr val="accent1"/>
                </a:solidFill>
                <a:latin typeface="Montserrat" pitchFamily="2" charset="77"/>
              </a:rPr>
              <a:t>2080</a:t>
            </a:r>
          </a:p>
          <a:p>
            <a:pPr lvl="0" algn="ctr"/>
            <a:r>
              <a:rPr lang="en-GB" sz="1000" dirty="0">
                <a:solidFill>
                  <a:schemeClr val="tx1"/>
                </a:solidFill>
                <a:latin typeface="Montserrat" pitchFamily="2" charset="77"/>
              </a:rPr>
              <a:t>ORIGIN: </a:t>
            </a:r>
            <a:r>
              <a:rPr lang="en-GB" sz="1000" dirty="0">
                <a:solidFill>
                  <a:schemeClr val="accent1"/>
                </a:solidFill>
                <a:latin typeface="Montserrat" pitchFamily="2" charset="77"/>
              </a:rPr>
              <a:t>SFO</a:t>
            </a:r>
          </a:p>
          <a:p>
            <a:pPr lvl="0" algn="ctr"/>
            <a:r>
              <a:rPr lang="en-GB" sz="1000" dirty="0">
                <a:solidFill>
                  <a:schemeClr val="tx1"/>
                </a:solidFill>
                <a:latin typeface="Montserrat" pitchFamily="2" charset="77"/>
              </a:rPr>
              <a:t>DEST: </a:t>
            </a:r>
            <a:r>
              <a:rPr lang="en-GB" sz="1000" dirty="0">
                <a:solidFill>
                  <a:schemeClr val="accent1"/>
                </a:solidFill>
                <a:latin typeface="Montserrat" pitchFamily="2" charset="77"/>
              </a:rPr>
              <a:t>MSP</a:t>
            </a:r>
          </a:p>
          <a:p>
            <a:pPr lvl="0" algn="ctr"/>
            <a:r>
              <a:rPr lang="en-GB" sz="1000" dirty="0">
                <a:solidFill>
                  <a:schemeClr val="tx1"/>
                </a:solidFill>
                <a:latin typeface="Montserrat" pitchFamily="2" charset="77"/>
              </a:rPr>
              <a:t>DEP_TIME: </a:t>
            </a:r>
            <a:r>
              <a:rPr lang="en-GB" sz="1000" dirty="0">
                <a:solidFill>
                  <a:schemeClr val="accent1"/>
                </a:solidFill>
                <a:latin typeface="Montserrat" pitchFamily="2" charset="77"/>
              </a:rPr>
              <a:t>05:59</a:t>
            </a:r>
          </a:p>
          <a:p>
            <a:pPr lvl="0" algn="ctr"/>
            <a:r>
              <a:rPr lang="en-GB" sz="1000" dirty="0">
                <a:solidFill>
                  <a:schemeClr val="bg1"/>
                </a:solidFill>
              </a:rPr>
              <a:t>  </a:t>
            </a:r>
            <a:endParaRPr lang="en-US" sz="1050" noProof="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37A8F8-162E-D015-58F9-B529CF4E204E}"/>
              </a:ext>
            </a:extLst>
          </p:cNvPr>
          <p:cNvSpPr txBox="1"/>
          <p:nvPr/>
        </p:nvSpPr>
        <p:spPr>
          <a:xfrm>
            <a:off x="4066309" y="2912482"/>
            <a:ext cx="10113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R" sz="1200" b="1">
                <a:solidFill>
                  <a:schemeClr val="tx1"/>
                </a:solidFill>
                <a:latin typeface="Montserrat" pitchFamily="2" charset="77"/>
              </a:rPr>
              <a:t>Event</a:t>
            </a:r>
          </a:p>
        </p:txBody>
      </p:sp>
    </p:spTree>
    <p:extLst>
      <p:ext uri="{BB962C8B-B14F-4D97-AF65-F5344CB8AC3E}">
        <p14:creationId xmlns:p14="http://schemas.microsoft.com/office/powerpoint/2010/main" val="463491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AE8E5-DDF1-3A29-451A-961F51CED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R">
                <a:solidFill>
                  <a:schemeClr val="tx2"/>
                </a:solidFill>
              </a:rPr>
              <a:t>Complex Event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0E51C3-554F-0C90-0D00-D44085594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7500" y="1304127"/>
            <a:ext cx="7038900" cy="914093"/>
          </a:xfrm>
        </p:spPr>
        <p:txBody>
          <a:bodyPr>
            <a:normAutofit lnSpcReduction="10000"/>
          </a:bodyPr>
          <a:lstStyle/>
          <a:p>
            <a:pPr marL="146050" indent="0">
              <a:buNone/>
            </a:pPr>
            <a:r>
              <a:rPr lang="en-GB" sz="1400">
                <a:latin typeface="Montserrat" pitchFamily="2" charset="77"/>
              </a:rPr>
              <a:t>A </a:t>
            </a:r>
            <a:r>
              <a:rPr lang="en-GB" sz="1400">
                <a:solidFill>
                  <a:schemeClr val="tx2"/>
                </a:solidFill>
                <a:latin typeface="Montserrat" pitchFamily="2" charset="77"/>
              </a:rPr>
              <a:t>complex event </a:t>
            </a:r>
            <a:r>
              <a:rPr lang="en-GB" sz="1400">
                <a:latin typeface="Montserrat" pitchFamily="2" charset="77"/>
              </a:rPr>
              <a:t>is a higher-level event that is derived by correlating, aggregating, or analysing multiple single events over time to identify a meaningful operational pattern or condition.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E4F8D-782E-C5B7-2E50-53D334419E2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 smtClean="0"/>
              <a:t>4</a:t>
            </a:fld>
            <a:endParaRPr lang="el"/>
          </a:p>
        </p:txBody>
      </p:sp>
      <p:sp>
        <p:nvSpPr>
          <p:cNvPr id="5" name="Google Shape;164;p17">
            <a:extLst>
              <a:ext uri="{FF2B5EF4-FFF2-40B4-BE49-F238E27FC236}">
                <a16:creationId xmlns:a16="http://schemas.microsoft.com/office/drawing/2014/main" id="{C56606E2-0E64-BC78-1988-D6EF8C34379D}"/>
              </a:ext>
            </a:extLst>
          </p:cNvPr>
          <p:cNvSpPr/>
          <p:nvPr/>
        </p:nvSpPr>
        <p:spPr>
          <a:xfrm>
            <a:off x="566651" y="2436462"/>
            <a:ext cx="2683037" cy="669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" name="Google Shape;164;p17">
            <a:extLst>
              <a:ext uri="{FF2B5EF4-FFF2-40B4-BE49-F238E27FC236}">
                <a16:creationId xmlns:a16="http://schemas.microsoft.com/office/drawing/2014/main" id="{EC047468-306C-0665-F53D-7047A7AD94D9}"/>
              </a:ext>
            </a:extLst>
          </p:cNvPr>
          <p:cNvSpPr/>
          <p:nvPr/>
        </p:nvSpPr>
        <p:spPr>
          <a:xfrm>
            <a:off x="566650" y="3247617"/>
            <a:ext cx="2683038" cy="669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" name="Google Shape;164;p17">
            <a:extLst>
              <a:ext uri="{FF2B5EF4-FFF2-40B4-BE49-F238E27FC236}">
                <a16:creationId xmlns:a16="http://schemas.microsoft.com/office/drawing/2014/main" id="{599FD329-0F61-3E8C-9CEB-B2D0A12D9D9A}"/>
              </a:ext>
            </a:extLst>
          </p:cNvPr>
          <p:cNvSpPr/>
          <p:nvPr/>
        </p:nvSpPr>
        <p:spPr>
          <a:xfrm>
            <a:off x="566650" y="4072724"/>
            <a:ext cx="2683038" cy="669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E902FEE-9A75-B110-44CD-4930EE959637}"/>
              </a:ext>
            </a:extLst>
          </p:cNvPr>
          <p:cNvCxnSpPr>
            <a:cxnSpLocks/>
            <a:stCxn id="5" idx="3"/>
            <a:endCxn id="17" idx="1"/>
          </p:cNvCxnSpPr>
          <p:nvPr/>
        </p:nvCxnSpPr>
        <p:spPr>
          <a:xfrm>
            <a:off x="3249688" y="2770962"/>
            <a:ext cx="1107185" cy="8111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9809DB3-F5E1-964A-5B98-A2E6DA75C09B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3249688" y="3582117"/>
            <a:ext cx="1107185" cy="46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7" name="Google Shape;164;p17">
            <a:extLst>
              <a:ext uri="{FF2B5EF4-FFF2-40B4-BE49-F238E27FC236}">
                <a16:creationId xmlns:a16="http://schemas.microsoft.com/office/drawing/2014/main" id="{B94A8F3F-F91A-02E4-6564-AD999E71CA8C}"/>
              </a:ext>
            </a:extLst>
          </p:cNvPr>
          <p:cNvSpPr/>
          <p:nvPr/>
        </p:nvSpPr>
        <p:spPr>
          <a:xfrm>
            <a:off x="4356873" y="3247617"/>
            <a:ext cx="1504200" cy="669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" name="Google Shape;167;p17">
            <a:extLst>
              <a:ext uri="{FF2B5EF4-FFF2-40B4-BE49-F238E27FC236}">
                <a16:creationId xmlns:a16="http://schemas.microsoft.com/office/drawing/2014/main" id="{4F54A4B4-FAAA-4479-153C-F791DC907B3E}"/>
              </a:ext>
            </a:extLst>
          </p:cNvPr>
          <p:cNvSpPr txBox="1"/>
          <p:nvPr/>
        </p:nvSpPr>
        <p:spPr>
          <a:xfrm>
            <a:off x="4460223" y="3389772"/>
            <a:ext cx="1297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noProof="0" dirty="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CORE engine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6FB94D6-7C31-9313-B1BB-23174EAD6F19}"/>
              </a:ext>
            </a:extLst>
          </p:cNvPr>
          <p:cNvCxnSpPr>
            <a:cxnSpLocks/>
            <a:endCxn id="17" idx="1"/>
          </p:cNvCxnSpPr>
          <p:nvPr/>
        </p:nvCxnSpPr>
        <p:spPr>
          <a:xfrm flipV="1">
            <a:off x="3249688" y="3582117"/>
            <a:ext cx="1107185" cy="8065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AC09500-CB61-B311-8B99-7DF7281FB6D6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5861073" y="3582117"/>
            <a:ext cx="11071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7" name="Google Shape;164;p17">
            <a:extLst>
              <a:ext uri="{FF2B5EF4-FFF2-40B4-BE49-F238E27FC236}">
                <a16:creationId xmlns:a16="http://schemas.microsoft.com/office/drawing/2014/main" id="{33E9B6F7-AEA8-989A-2A15-25D9EE768625}"/>
              </a:ext>
            </a:extLst>
          </p:cNvPr>
          <p:cNvSpPr/>
          <p:nvPr/>
        </p:nvSpPr>
        <p:spPr>
          <a:xfrm>
            <a:off x="6968258" y="3247617"/>
            <a:ext cx="1773960" cy="669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" name="Google Shape;167;p17">
            <a:extLst>
              <a:ext uri="{FF2B5EF4-FFF2-40B4-BE49-F238E27FC236}">
                <a16:creationId xmlns:a16="http://schemas.microsoft.com/office/drawing/2014/main" id="{AA82E19D-5F2E-E92A-8E88-9D7AB5A1D3F5}"/>
              </a:ext>
            </a:extLst>
          </p:cNvPr>
          <p:cNvSpPr txBox="1"/>
          <p:nvPr/>
        </p:nvSpPr>
        <p:spPr>
          <a:xfrm>
            <a:off x="6968258" y="3239770"/>
            <a:ext cx="1773960" cy="384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noProof="0" dirty="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Complex Event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75F20C-C18A-C044-1C21-29310D0637A2}"/>
              </a:ext>
            </a:extLst>
          </p:cNvPr>
          <p:cNvSpPr txBox="1"/>
          <p:nvPr/>
        </p:nvSpPr>
        <p:spPr>
          <a:xfrm>
            <a:off x="1456123" y="2422486"/>
            <a:ext cx="8585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R" sz="1100" b="1">
                <a:solidFill>
                  <a:schemeClr val="tx1"/>
                </a:solidFill>
                <a:latin typeface="Montserrat" pitchFamily="2" charset="77"/>
              </a:rPr>
              <a:t>Event 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40457D-5CD4-0FEE-5152-3917A7D78213}"/>
              </a:ext>
            </a:extLst>
          </p:cNvPr>
          <p:cNvSpPr txBox="1"/>
          <p:nvPr/>
        </p:nvSpPr>
        <p:spPr>
          <a:xfrm>
            <a:off x="1478889" y="3237598"/>
            <a:ext cx="8585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R" sz="1100" b="1">
                <a:solidFill>
                  <a:schemeClr val="tx1"/>
                </a:solidFill>
                <a:latin typeface="Montserrat" pitchFamily="2" charset="77"/>
              </a:rPr>
              <a:t>Event 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F77194-5CDF-4FD3-E3E9-277A83A8769F}"/>
              </a:ext>
            </a:extLst>
          </p:cNvPr>
          <p:cNvSpPr txBox="1"/>
          <p:nvPr/>
        </p:nvSpPr>
        <p:spPr>
          <a:xfrm>
            <a:off x="1478889" y="4078565"/>
            <a:ext cx="8585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R" sz="1100" b="1">
                <a:solidFill>
                  <a:schemeClr val="tx1"/>
                </a:solidFill>
                <a:latin typeface="Montserrat" pitchFamily="2" charset="77"/>
              </a:rPr>
              <a:t>Event 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1F71E5-85AD-E786-6EAE-D6D30D320472}"/>
              </a:ext>
            </a:extLst>
          </p:cNvPr>
          <p:cNvSpPr txBox="1"/>
          <p:nvPr/>
        </p:nvSpPr>
        <p:spPr>
          <a:xfrm>
            <a:off x="566650" y="2626916"/>
            <a:ext cx="268303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GB" sz="800" dirty="0">
                <a:solidFill>
                  <a:schemeClr val="tx1"/>
                </a:solidFill>
              </a:rPr>
              <a:t>Event Type (CARRIER_NAME): </a:t>
            </a:r>
            <a:r>
              <a:rPr lang="en-GB" sz="800" dirty="0" err="1">
                <a:solidFill>
                  <a:schemeClr val="accent1"/>
                </a:solidFill>
              </a:rPr>
              <a:t>Delta_Air_Lines_Inc</a:t>
            </a:r>
            <a:endParaRPr lang="en-GB" sz="800" dirty="0">
              <a:solidFill>
                <a:schemeClr val="accent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7273F01-364D-3404-7737-17FC31481033}"/>
              </a:ext>
            </a:extLst>
          </p:cNvPr>
          <p:cNvSpPr txBox="1"/>
          <p:nvPr/>
        </p:nvSpPr>
        <p:spPr>
          <a:xfrm>
            <a:off x="566649" y="3425714"/>
            <a:ext cx="268303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GB" sz="800" dirty="0">
                <a:solidFill>
                  <a:schemeClr val="tx1"/>
                </a:solidFill>
              </a:rPr>
              <a:t>Event Type (CARRIER_NAME): </a:t>
            </a:r>
            <a:r>
              <a:rPr lang="en-GB" sz="800" dirty="0" err="1">
                <a:solidFill>
                  <a:schemeClr val="accent1"/>
                </a:solidFill>
              </a:rPr>
              <a:t>American_Airlines_Inc</a:t>
            </a:r>
            <a:endParaRPr lang="en-GB" sz="800" dirty="0">
              <a:solidFill>
                <a:schemeClr val="accent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E36F1C-5264-7272-45F6-3272B0518AD4}"/>
              </a:ext>
            </a:extLst>
          </p:cNvPr>
          <p:cNvSpPr txBox="1"/>
          <p:nvPr/>
        </p:nvSpPr>
        <p:spPr>
          <a:xfrm>
            <a:off x="566650" y="4267709"/>
            <a:ext cx="268303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GB" sz="800" dirty="0">
                <a:solidFill>
                  <a:schemeClr val="tx1"/>
                </a:solidFill>
              </a:rPr>
              <a:t>Event Type (CARRIER_NAME): </a:t>
            </a:r>
            <a:r>
              <a:rPr lang="en-GB" sz="800" dirty="0" err="1">
                <a:solidFill>
                  <a:schemeClr val="accent1"/>
                </a:solidFill>
              </a:rPr>
              <a:t>United_Air_Lines_Inc</a:t>
            </a:r>
            <a:endParaRPr lang="en-GB" sz="800" dirty="0">
              <a:solidFill>
                <a:schemeClr val="accent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E289E5-F1A8-AF5F-2D56-4A2869D185CB}"/>
              </a:ext>
            </a:extLst>
          </p:cNvPr>
          <p:cNvSpPr txBox="1"/>
          <p:nvPr/>
        </p:nvSpPr>
        <p:spPr>
          <a:xfrm>
            <a:off x="543885" y="2777687"/>
            <a:ext cx="27285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GB" sz="800" dirty="0">
                <a:solidFill>
                  <a:schemeClr val="tx1"/>
                </a:solidFill>
              </a:rPr>
              <a:t>DEST: </a:t>
            </a:r>
            <a:r>
              <a:rPr lang="en-GB" sz="800" dirty="0">
                <a:solidFill>
                  <a:schemeClr val="accent1"/>
                </a:solidFill>
              </a:rPr>
              <a:t>LAX</a:t>
            </a:r>
          </a:p>
          <a:p>
            <a:pPr lvl="0" algn="ctr"/>
            <a:r>
              <a:rPr lang="en-GB" sz="800" dirty="0">
                <a:solidFill>
                  <a:schemeClr val="tx1"/>
                </a:solidFill>
              </a:rPr>
              <a:t>ARR_DELAY: </a:t>
            </a:r>
            <a:r>
              <a:rPr lang="en-GB" sz="800" dirty="0">
                <a:solidFill>
                  <a:schemeClr val="accent1"/>
                </a:solidFill>
              </a:rPr>
              <a:t>15 min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B63E9AE-0AA1-A249-9760-92F1FACF15C7}"/>
              </a:ext>
            </a:extLst>
          </p:cNvPr>
          <p:cNvSpPr txBox="1"/>
          <p:nvPr/>
        </p:nvSpPr>
        <p:spPr>
          <a:xfrm>
            <a:off x="521121" y="3582117"/>
            <a:ext cx="27285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GB" sz="800" dirty="0">
                <a:solidFill>
                  <a:schemeClr val="tx1"/>
                </a:solidFill>
              </a:rPr>
              <a:t>DEST: </a:t>
            </a:r>
            <a:r>
              <a:rPr lang="en-GB" sz="800" dirty="0">
                <a:solidFill>
                  <a:schemeClr val="accent1"/>
                </a:solidFill>
              </a:rPr>
              <a:t>LAX</a:t>
            </a:r>
          </a:p>
          <a:p>
            <a:pPr lvl="0" algn="ctr"/>
            <a:r>
              <a:rPr lang="en-GB" sz="800" dirty="0">
                <a:solidFill>
                  <a:schemeClr val="tx1"/>
                </a:solidFill>
              </a:rPr>
              <a:t>ARR_DELAY: </a:t>
            </a:r>
            <a:r>
              <a:rPr lang="en-GB" sz="800" dirty="0">
                <a:solidFill>
                  <a:schemeClr val="accent1"/>
                </a:solidFill>
              </a:rPr>
              <a:t>10 min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01D88AF-2200-E715-4B3D-12BAD614877E}"/>
              </a:ext>
            </a:extLst>
          </p:cNvPr>
          <p:cNvSpPr txBox="1"/>
          <p:nvPr/>
        </p:nvSpPr>
        <p:spPr>
          <a:xfrm>
            <a:off x="521120" y="4411196"/>
            <a:ext cx="27285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GB" sz="800" dirty="0">
                <a:solidFill>
                  <a:schemeClr val="tx1"/>
                </a:solidFill>
              </a:rPr>
              <a:t>DEST: </a:t>
            </a:r>
            <a:r>
              <a:rPr lang="en-GB" sz="800" dirty="0">
                <a:solidFill>
                  <a:schemeClr val="accent1"/>
                </a:solidFill>
              </a:rPr>
              <a:t>LAX</a:t>
            </a:r>
          </a:p>
          <a:p>
            <a:pPr lvl="0" algn="ctr"/>
            <a:r>
              <a:rPr lang="en-GB" sz="800" dirty="0">
                <a:solidFill>
                  <a:schemeClr val="tx1"/>
                </a:solidFill>
              </a:rPr>
              <a:t>ARR_DELAY: </a:t>
            </a:r>
            <a:r>
              <a:rPr lang="en-GB" sz="800" dirty="0">
                <a:solidFill>
                  <a:schemeClr val="accent1"/>
                </a:solidFill>
              </a:rPr>
              <a:t>7 min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40E505D-B648-67BD-24A6-9E956A60183D}"/>
              </a:ext>
            </a:extLst>
          </p:cNvPr>
          <p:cNvSpPr txBox="1"/>
          <p:nvPr/>
        </p:nvSpPr>
        <p:spPr>
          <a:xfrm>
            <a:off x="6968258" y="3541994"/>
            <a:ext cx="1773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900" b="0" i="0" u="none" strike="noStrike">
                <a:solidFill>
                  <a:srgbClr val="000000"/>
                </a:solidFill>
                <a:effectLst/>
                <a:latin typeface="Montserrat" pitchFamily="2" charset="77"/>
              </a:rPr>
              <a:t>“High arrival traffic at LAX airport”</a:t>
            </a:r>
            <a:endParaRPr lang="en-GR" sz="900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47627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solidFill>
                  <a:schemeClr val="lt2"/>
                </a:solidFill>
              </a:rPr>
              <a:t>Complex Event Query Language (CEQL)</a:t>
            </a:r>
          </a:p>
        </p:txBody>
      </p:sp>
      <p:sp>
        <p:nvSpPr>
          <p:cNvPr id="147" name="Google Shape;147;p15"/>
          <p:cNvSpPr txBox="1">
            <a:spLocks noGrp="1"/>
          </p:cNvSpPr>
          <p:nvPr>
            <p:ph type="body" idx="1"/>
          </p:nvPr>
        </p:nvSpPr>
        <p:spPr>
          <a:xfrm>
            <a:off x="0" y="1380000"/>
            <a:ext cx="4163700" cy="3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98181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200" noProof="0">
                <a:latin typeface="Montserrat"/>
                <a:ea typeface="Montserrat"/>
                <a:cs typeface="Montserrat"/>
                <a:sym typeface="Montserrat"/>
              </a:rPr>
              <a:t>Syntactically, a</a:t>
            </a:r>
            <a:r>
              <a:rPr lang="en-US" sz="1200" noProof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 CEQL </a:t>
            </a:r>
            <a:r>
              <a:rPr lang="en-US" sz="1200" noProof="0">
                <a:latin typeface="Montserrat"/>
                <a:ea typeface="Montserrat"/>
                <a:cs typeface="Montserrat"/>
                <a:sym typeface="Montserrat"/>
              </a:rPr>
              <a:t>query has this form:</a:t>
            </a:r>
            <a:br>
              <a:rPr lang="en-US" sz="1200" noProof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lang="en-US" sz="1200" noProof="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lnSpc>
                <a:spcPct val="98181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200" noProof="0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SELECT</a:t>
            </a:r>
            <a:r>
              <a:rPr lang="en-US" sz="1200" noProof="0">
                <a:latin typeface="Montserrat"/>
                <a:ea typeface="Montserrat"/>
                <a:cs typeface="Montserrat"/>
                <a:sym typeface="Montserrat"/>
              </a:rPr>
              <a:t>  &lt; list-of-variables &gt;</a:t>
            </a:r>
          </a:p>
          <a:p>
            <a:pPr marL="457200" lvl="0" indent="0" algn="l" rtl="0">
              <a:lnSpc>
                <a:spcPct val="98181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200" noProof="0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FROM</a:t>
            </a:r>
            <a:r>
              <a:rPr lang="en-US" sz="1200" noProof="0">
                <a:latin typeface="Montserrat"/>
                <a:ea typeface="Montserrat"/>
                <a:cs typeface="Montserrat"/>
                <a:sym typeface="Montserrat"/>
              </a:rPr>
              <a:t> &lt; list-of-streams &gt;</a:t>
            </a:r>
          </a:p>
          <a:p>
            <a:pPr marL="457200" lvl="0" indent="0" algn="l" rtl="0">
              <a:lnSpc>
                <a:spcPct val="98181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200" noProof="0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WHERE</a:t>
            </a:r>
            <a:r>
              <a:rPr lang="en-US" sz="1200" noProof="0">
                <a:latin typeface="Montserrat"/>
                <a:ea typeface="Montserrat"/>
                <a:cs typeface="Montserrat"/>
                <a:sym typeface="Montserrat"/>
              </a:rPr>
              <a:t> &lt; CEL-formula &gt;</a:t>
            </a:r>
          </a:p>
          <a:p>
            <a:pPr marL="457200" lvl="0" indent="0" algn="l" rtl="0">
              <a:lnSpc>
                <a:spcPct val="98181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200" noProof="0">
                <a:latin typeface="Montserrat"/>
                <a:ea typeface="Montserrat"/>
                <a:cs typeface="Montserrat"/>
                <a:sym typeface="Montserrat"/>
              </a:rPr>
              <a:t>[FILTER &lt; list-of-filters&gt;]</a:t>
            </a:r>
            <a:br>
              <a:rPr lang="en-US" sz="1200" noProof="0"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US" sz="1200" noProof="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200" noProof="0">
                <a:latin typeface="Montserrat"/>
                <a:ea typeface="Montserrat"/>
                <a:cs typeface="Montserrat"/>
                <a:sym typeface="Montserrat"/>
              </a:rPr>
              <a:t>[PARTITION BY &lt; list-of-attributes &gt;]</a:t>
            </a:r>
          </a:p>
          <a:p>
            <a:pPr marL="457200" lvl="0" indent="0" algn="l" rtl="0">
              <a:lnSpc>
                <a:spcPct val="98181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200" noProof="0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WITHIN</a:t>
            </a:r>
            <a:r>
              <a:rPr lang="en-US" sz="1200" noProof="0">
                <a:latin typeface="Montserrat"/>
                <a:ea typeface="Montserrat"/>
                <a:cs typeface="Montserrat"/>
                <a:sym typeface="Montserrat"/>
              </a:rPr>
              <a:t> &lt; time-value &gt;</a:t>
            </a:r>
            <a:br>
              <a:rPr lang="en-US" sz="1200" noProof="0"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US" sz="1200" noProof="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200" noProof="0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CONSUME BY NONE/ANY</a:t>
            </a:r>
            <a:br>
              <a:rPr lang="en-US" sz="1200" noProof="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200" noProof="0">
                <a:latin typeface="Montserrat"/>
                <a:ea typeface="Montserrat"/>
                <a:cs typeface="Montserrat"/>
                <a:sym typeface="Montserrat"/>
              </a:rPr>
              <a:t>[LIMIT &lt; number &gt;]	</a:t>
            </a:r>
            <a:r>
              <a:rPr lang="en-US" sz="2000" noProof="0">
                <a:latin typeface="Montserrat"/>
                <a:ea typeface="Montserrat"/>
                <a:cs typeface="Montserrat"/>
                <a:sym typeface="Montserrat"/>
              </a:rPr>
              <a:t>					</a:t>
            </a:r>
          </a:p>
          <a:p>
            <a:pPr marL="0" lvl="0" indent="0" algn="l" rtl="0">
              <a:lnSpc>
                <a:spcPct val="98181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en-US" sz="2000" noProof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5</a:t>
            </a:fld>
            <a:endParaRPr lang="en-US" noProof="0"/>
          </a:p>
        </p:txBody>
      </p:sp>
      <p:sp>
        <p:nvSpPr>
          <p:cNvPr id="149" name="Google Shape;149;p15"/>
          <p:cNvSpPr txBox="1"/>
          <p:nvPr/>
        </p:nvSpPr>
        <p:spPr>
          <a:xfrm>
            <a:off x="4163700" y="1380000"/>
            <a:ext cx="4951500" cy="34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noProof="0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Example: </a:t>
            </a:r>
            <a:br>
              <a:rPr lang="en-US" sz="1200" noProof="0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US" sz="1200" noProof="0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200" noProof="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It detects sequences of four events — BTC, then BNB, then DOGE, then NEAR — that all come from the same Exchange and occur within 10 time units of each other.</a:t>
            </a:r>
            <a:br>
              <a:rPr lang="en-US" sz="1200" noProof="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200" noProof="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br>
              <a:rPr lang="en-US" sz="1200" noProof="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200" noProof="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SELECT * FROM S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noProof="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WHERE (BTC as </a:t>
            </a:r>
            <a:r>
              <a:rPr lang="en-US" sz="1200" noProof="0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btc</a:t>
            </a:r>
            <a:r>
              <a:rPr lang="en-US" sz="1200" noProof="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; BNB as </a:t>
            </a:r>
            <a:r>
              <a:rPr lang="en-US" sz="1200" noProof="0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bnb</a:t>
            </a:r>
            <a:r>
              <a:rPr lang="en-US" sz="1200" noProof="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; DOGE as doge; NEAR as near)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noProof="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PARTITION BY [Exchange]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noProof="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WITHIN 10 [</a:t>
            </a:r>
            <a:r>
              <a:rPr lang="en-US" sz="1200" noProof="0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Event_Timestamp</a:t>
            </a:r>
            <a:r>
              <a:rPr lang="en-US" sz="1200" noProof="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]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noProof="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CONSUME BY ANY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300" noProof="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F9F53-674C-EEED-B905-0AEC6D447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tx2"/>
                </a:solidFill>
              </a:rPr>
              <a:t>Event Time vs. Arrival Time</a:t>
            </a:r>
            <a:endParaRPr lang="en-GR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F7F75A-9C09-791C-6151-DBC891C1B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7500" y="1307850"/>
            <a:ext cx="7038900" cy="3441900"/>
          </a:xfrm>
        </p:spPr>
        <p:txBody>
          <a:bodyPr>
            <a:normAutofit/>
          </a:bodyPr>
          <a:lstStyle/>
          <a:p>
            <a:r>
              <a:rPr lang="en-GB" sz="1400" dirty="0">
                <a:latin typeface="Montserrat" pitchFamily="2" charset="77"/>
              </a:rPr>
              <a:t>Each event in the datasets is associated with </a:t>
            </a:r>
            <a:r>
              <a:rPr lang="en-GB" sz="1400" dirty="0">
                <a:solidFill>
                  <a:schemeClr val="tx2"/>
                </a:solidFill>
                <a:latin typeface="Montserrat" pitchFamily="2" charset="77"/>
              </a:rPr>
              <a:t>two distinct timestamps</a:t>
            </a:r>
            <a:r>
              <a:rPr lang="en-GB" sz="1400" dirty="0">
                <a:latin typeface="Montserrat" pitchFamily="2" charset="77"/>
              </a:rPr>
              <a:t>.</a:t>
            </a:r>
          </a:p>
          <a:p>
            <a:pPr marL="146050" indent="0">
              <a:buNone/>
            </a:pPr>
            <a:endParaRPr lang="en-GB" sz="1400" dirty="0">
              <a:latin typeface="Montserrat" pitchFamily="2" charset="77"/>
            </a:endParaRPr>
          </a:p>
          <a:p>
            <a:r>
              <a:rPr lang="en-GB" sz="1400" dirty="0">
                <a:solidFill>
                  <a:schemeClr val="tx2"/>
                </a:solidFill>
                <a:latin typeface="Montserrat" pitchFamily="2" charset="77"/>
              </a:rPr>
              <a:t>Event Time </a:t>
            </a:r>
            <a:r>
              <a:rPr lang="en-GB" sz="1400" dirty="0">
                <a:latin typeface="Montserrat" pitchFamily="2" charset="77"/>
              </a:rPr>
              <a:t>represents when the event actually occurred in the real world.</a:t>
            </a:r>
          </a:p>
          <a:p>
            <a:endParaRPr lang="en-GB" sz="1400" dirty="0">
              <a:latin typeface="Montserrat" pitchFamily="2" charset="77"/>
            </a:endParaRPr>
          </a:p>
          <a:p>
            <a:r>
              <a:rPr lang="en-GB" sz="1400" dirty="0">
                <a:solidFill>
                  <a:schemeClr val="tx2"/>
                </a:solidFill>
                <a:latin typeface="Montserrat" pitchFamily="2" charset="77"/>
              </a:rPr>
              <a:t>Arrival Time </a:t>
            </a:r>
            <a:r>
              <a:rPr lang="en-GB" sz="1400" dirty="0">
                <a:latin typeface="Montserrat" pitchFamily="2" charset="77"/>
              </a:rPr>
              <a:t>represents when the event was arrived at the system.</a:t>
            </a:r>
          </a:p>
          <a:p>
            <a:endParaRPr lang="en-GB" sz="1400" dirty="0">
              <a:latin typeface="Montserrat" pitchFamily="2" charset="77"/>
            </a:endParaRPr>
          </a:p>
          <a:p>
            <a:r>
              <a:rPr lang="en-GB" sz="1400" dirty="0">
                <a:latin typeface="Montserrat" pitchFamily="2" charset="77"/>
              </a:rPr>
              <a:t>The difference between these timestamps captures </a:t>
            </a:r>
            <a:r>
              <a:rPr lang="en-GB" sz="1400" dirty="0">
                <a:solidFill>
                  <a:schemeClr val="tx2"/>
                </a:solidFill>
                <a:latin typeface="Montserrat" pitchFamily="2" charset="77"/>
              </a:rPr>
              <a:t>network delays </a:t>
            </a:r>
            <a:r>
              <a:rPr lang="en-GB" sz="1400" dirty="0">
                <a:solidFill>
                  <a:schemeClr val="bg1"/>
                </a:solidFill>
                <a:latin typeface="Montserrat" pitchFamily="2" charset="77"/>
              </a:rPr>
              <a:t>and is called </a:t>
            </a:r>
            <a:r>
              <a:rPr lang="en-GB" sz="1400" dirty="0">
                <a:solidFill>
                  <a:schemeClr val="tx2"/>
                </a:solidFill>
                <a:latin typeface="Montserrat" pitchFamily="2" charset="77"/>
              </a:rPr>
              <a:t>System Arrival Delay</a:t>
            </a:r>
            <a:r>
              <a:rPr lang="en-GB" sz="1400" dirty="0">
                <a:latin typeface="Montserrat" pitchFamily="2" charset="77"/>
              </a:rPr>
              <a:t>.</a:t>
            </a:r>
          </a:p>
          <a:p>
            <a:pPr marL="146050" indent="0">
              <a:buNone/>
            </a:pPr>
            <a:endParaRPr lang="en-GB" sz="1400" dirty="0">
              <a:latin typeface="Montserrat" pitchFamily="2" charset="77"/>
            </a:endParaRPr>
          </a:p>
          <a:p>
            <a:pPr marL="146050" indent="0" algn="ctr">
              <a:buNone/>
            </a:pPr>
            <a:r>
              <a:rPr lang="en-GB" sz="1400" dirty="0">
                <a:solidFill>
                  <a:schemeClr val="tx2"/>
                </a:solidFill>
                <a:latin typeface="Montserrat" pitchFamily="2" charset="77"/>
              </a:rPr>
              <a:t>System Arrival Delay = Arrival Time − Event Time</a:t>
            </a:r>
            <a:endParaRPr lang="en-GR" sz="1400" dirty="0">
              <a:solidFill>
                <a:schemeClr val="tx2"/>
              </a:solidFill>
              <a:latin typeface="Montserrat" pitchFamily="2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DE259-E0F8-7BF1-9E57-E678C0431A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 smtClean="0"/>
              <a:t>6</a:t>
            </a:fld>
            <a:endParaRPr lang="el"/>
          </a:p>
        </p:txBody>
      </p:sp>
    </p:spTree>
    <p:extLst>
      <p:ext uri="{BB962C8B-B14F-4D97-AF65-F5344CB8AC3E}">
        <p14:creationId xmlns:p14="http://schemas.microsoft.com/office/powerpoint/2010/main" val="2482936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38658-A113-9C2D-19E4-B240E2E0D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tx2"/>
                </a:solidFill>
              </a:rPr>
              <a:t>Detection Delay</a:t>
            </a:r>
            <a:endParaRPr lang="en-GR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191480-5A5B-3557-6909-7505A91DF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7500" y="1210127"/>
            <a:ext cx="7038900" cy="3748967"/>
          </a:xfrm>
        </p:spPr>
        <p:txBody>
          <a:bodyPr>
            <a:normAutofit lnSpcReduction="10000"/>
          </a:bodyPr>
          <a:lstStyle/>
          <a:p>
            <a:r>
              <a:rPr lang="en-GB" dirty="0">
                <a:latin typeface="Montserrat" pitchFamily="2" charset="77"/>
              </a:rPr>
              <a:t>The </a:t>
            </a:r>
            <a:r>
              <a:rPr lang="en-GB" dirty="0">
                <a:solidFill>
                  <a:schemeClr val="tx2"/>
                </a:solidFill>
                <a:latin typeface="Montserrat" pitchFamily="2" charset="77"/>
              </a:rPr>
              <a:t>detection delay </a:t>
            </a:r>
            <a:r>
              <a:rPr lang="en-GB" dirty="0">
                <a:latin typeface="Montserrat" pitchFamily="2" charset="77"/>
              </a:rPr>
              <a:t>represents the total end-to-end latency of an event, measuring the complete duration from its initial generation to the final reporting of the result. </a:t>
            </a:r>
          </a:p>
          <a:p>
            <a:pPr marL="146050" indent="0">
              <a:buNone/>
            </a:pPr>
            <a:endParaRPr lang="en-GB" dirty="0">
              <a:latin typeface="Montserrat" pitchFamily="2" charset="77"/>
            </a:endParaRPr>
          </a:p>
          <a:p>
            <a:pPr marL="146050" indent="0" algn="ctr">
              <a:buNone/>
            </a:pPr>
            <a:r>
              <a:rPr lang="en-GB" dirty="0">
                <a:solidFill>
                  <a:schemeClr val="tx2"/>
                </a:solidFill>
                <a:latin typeface="Montserrat" pitchFamily="2" charset="77"/>
              </a:rPr>
              <a:t>Detection Delay = System Arrival Delay + Processing Delay </a:t>
            </a:r>
          </a:p>
          <a:p>
            <a:pPr marL="615950" lvl="1" indent="0">
              <a:buNone/>
            </a:pPr>
            <a:endParaRPr lang="en-GB" dirty="0">
              <a:latin typeface="Montserrat" pitchFamily="2" charset="77"/>
            </a:endParaRPr>
          </a:p>
          <a:p>
            <a:endParaRPr lang="en-GB" dirty="0">
              <a:latin typeface="Montserrat" pitchFamily="2" charset="77"/>
            </a:endParaRPr>
          </a:p>
          <a:p>
            <a:r>
              <a:rPr lang="en-GB" dirty="0">
                <a:solidFill>
                  <a:schemeClr val="tx2"/>
                </a:solidFill>
                <a:latin typeface="Montserrat" pitchFamily="2" charset="77"/>
              </a:rPr>
              <a:t>The System Arrival Delay </a:t>
            </a:r>
            <a:r>
              <a:rPr lang="en-GB" dirty="0">
                <a:latin typeface="Montserrat" pitchFamily="2" charset="77"/>
              </a:rPr>
              <a:t>accounts for external network latency</a:t>
            </a:r>
          </a:p>
          <a:p>
            <a:endParaRPr lang="en-GB" dirty="0">
              <a:latin typeface="Montserrat" pitchFamily="2" charset="77"/>
            </a:endParaRPr>
          </a:p>
          <a:p>
            <a:pPr marL="146050" indent="0" algn="ctr">
              <a:buNone/>
            </a:pPr>
            <a:r>
              <a:rPr lang="en-GB" dirty="0">
                <a:solidFill>
                  <a:schemeClr val="tx2"/>
                </a:solidFill>
                <a:latin typeface="Montserrat" pitchFamily="2" charset="77"/>
              </a:rPr>
              <a:t>System Arrival Delay = Arrival Time − Event Time</a:t>
            </a:r>
            <a:endParaRPr lang="en-GB" dirty="0">
              <a:latin typeface="Montserrat" pitchFamily="2" charset="77"/>
            </a:endParaRPr>
          </a:p>
          <a:p>
            <a:pPr marL="146050" indent="0">
              <a:buNone/>
            </a:pPr>
            <a:endParaRPr lang="en-GB" dirty="0">
              <a:latin typeface="Montserrat" pitchFamily="2" charset="77"/>
            </a:endParaRPr>
          </a:p>
          <a:p>
            <a:pPr marL="146050" indent="0">
              <a:buNone/>
            </a:pPr>
            <a:endParaRPr lang="en-GB" dirty="0">
              <a:latin typeface="Montserrat" pitchFamily="2" charset="77"/>
            </a:endParaRPr>
          </a:p>
          <a:p>
            <a:r>
              <a:rPr lang="en-GB" dirty="0">
                <a:solidFill>
                  <a:schemeClr val="tx2"/>
                </a:solidFill>
                <a:latin typeface="Montserrat" pitchFamily="2" charset="77"/>
              </a:rPr>
              <a:t>The Processing Delay </a:t>
            </a:r>
            <a:r>
              <a:rPr lang="en-GB" dirty="0">
                <a:solidFill>
                  <a:schemeClr val="bg1"/>
                </a:solidFill>
                <a:latin typeface="Montserrat" pitchFamily="2" charset="77"/>
              </a:rPr>
              <a:t>is the time the CORE system itself requires to execute processing logic, calculated from event arrival at CORE to result generation within CORE</a:t>
            </a:r>
          </a:p>
          <a:p>
            <a:endParaRPr lang="en-GB" dirty="0">
              <a:latin typeface="Montserrat" pitchFamily="2" charset="77"/>
            </a:endParaRPr>
          </a:p>
          <a:p>
            <a:pPr marL="146050" indent="0" algn="ctr">
              <a:buNone/>
            </a:pPr>
            <a:r>
              <a:rPr lang="en-GB" dirty="0">
                <a:solidFill>
                  <a:schemeClr val="tx2"/>
                </a:solidFill>
                <a:latin typeface="Montserrat" pitchFamily="2" charset="77"/>
              </a:rPr>
              <a:t>Processing Delay = Output Result Time - Arrival Time </a:t>
            </a:r>
            <a:endParaRPr lang="en-GB" dirty="0">
              <a:latin typeface="Montserrat" pitchFamily="2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C6DBD3-8720-B14E-C4A1-B8DB284A84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 smtClean="0"/>
              <a:t>7</a:t>
            </a:fld>
            <a:endParaRPr lang="el"/>
          </a:p>
        </p:txBody>
      </p:sp>
    </p:spTree>
    <p:extLst>
      <p:ext uri="{BB962C8B-B14F-4D97-AF65-F5344CB8AC3E}">
        <p14:creationId xmlns:p14="http://schemas.microsoft.com/office/powerpoint/2010/main" val="2498090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noProof="0">
                <a:solidFill>
                  <a:schemeClr val="lt2"/>
                </a:solidFill>
              </a:rPr>
              <a:t>Quarantine Policies of CORE</a:t>
            </a:r>
            <a:r>
              <a:rPr lang="en-US" noProof="0"/>
              <a:t> </a:t>
            </a:r>
          </a:p>
        </p:txBody>
      </p:sp>
      <p:sp>
        <p:nvSpPr>
          <p:cNvPr id="155" name="Google Shape;155;p16"/>
          <p:cNvSpPr txBox="1">
            <a:spLocks noGrp="1"/>
          </p:cNvSpPr>
          <p:nvPr>
            <p:ph type="body" idx="1"/>
          </p:nvPr>
        </p:nvSpPr>
        <p:spPr>
          <a:xfrm>
            <a:off x="583900" y="1435725"/>
            <a:ext cx="8088900" cy="34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98181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 noProof="0">
                <a:solidFill>
                  <a:schemeClr val="tx2"/>
                </a:solidFill>
                <a:latin typeface="Montserrat" pitchFamily="2" charset="77"/>
                <a:ea typeface="Montserrat"/>
                <a:cs typeface="Montserrat"/>
                <a:sym typeface="Montserrat"/>
              </a:rPr>
              <a:t>Quarantine</a:t>
            </a:r>
            <a:r>
              <a:rPr lang="en-US" sz="1600" noProof="0">
                <a:latin typeface="Montserrat" pitchFamily="2" charset="77"/>
                <a:ea typeface="Montserrat"/>
                <a:cs typeface="Montserrat"/>
                <a:sym typeface="Montserrat"/>
              </a:rPr>
              <a:t> is a mechanism that temporarily holds incoming events and ensures that late-arriving events can still be correctly ordered within a specified time window.</a:t>
            </a:r>
            <a:br>
              <a:rPr lang="en-US" sz="2000" noProof="0">
                <a:latin typeface="Montserrat" pitchFamily="2" charset="77"/>
                <a:ea typeface="Arial"/>
                <a:cs typeface="Arial"/>
                <a:sym typeface="Arial"/>
              </a:rPr>
            </a:br>
            <a:br>
              <a:rPr lang="en-US" sz="2000" noProof="0">
                <a:latin typeface="Montserrat" pitchFamily="2" charset="77"/>
                <a:ea typeface="Arial"/>
                <a:cs typeface="Arial"/>
                <a:sym typeface="Arial"/>
              </a:rPr>
            </a:br>
            <a:r>
              <a:rPr lang="en-US" sz="1600" noProof="0">
                <a:latin typeface="Montserrat" pitchFamily="2" charset="77"/>
                <a:ea typeface="Arial"/>
                <a:cs typeface="Arial"/>
                <a:sym typeface="Arial"/>
              </a:rPr>
              <a:t>CORE supports two policies:</a:t>
            </a:r>
            <a:br>
              <a:rPr lang="en-US" sz="2000" noProof="0">
                <a:latin typeface="Montserrat" pitchFamily="2" charset="77"/>
                <a:ea typeface="Arial"/>
                <a:cs typeface="Arial"/>
                <a:sym typeface="Arial"/>
              </a:rPr>
            </a:br>
            <a:endParaRPr lang="en-US" sz="2000" noProof="0">
              <a:latin typeface="Montserrat" pitchFamily="2" charset="77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98181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"/>
              <a:buChar char="●"/>
            </a:pPr>
            <a:r>
              <a:rPr lang="en-US" sz="1600" noProof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Direct Policy </a:t>
            </a:r>
            <a:br>
              <a:rPr lang="en-US" sz="1600" noProof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lang="en-US" sz="1600" noProof="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30200" algn="l" rtl="0">
              <a:lnSpc>
                <a:spcPct val="98181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"/>
              <a:buChar char="●"/>
            </a:pPr>
            <a:r>
              <a:rPr lang="en-US" sz="1600" noProof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Fixed Time Policy </a:t>
            </a:r>
            <a:br>
              <a:rPr lang="en-US" sz="1600" noProof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lang="en-US" sz="1600" noProof="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8</a:t>
            </a:fld>
            <a:endParaRPr lang="en-US" noProof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>
            <a:spLocks noGrp="1"/>
          </p:cNvSpPr>
          <p:nvPr>
            <p:ph type="title"/>
          </p:nvPr>
        </p:nvSpPr>
        <p:spPr>
          <a:xfrm>
            <a:off x="1297500" y="482006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>
                <a:solidFill>
                  <a:schemeClr val="lt2"/>
                </a:solidFill>
              </a:rPr>
              <a:t>DIRECT policy</a:t>
            </a:r>
          </a:p>
        </p:txBody>
      </p:sp>
      <p:sp>
        <p:nvSpPr>
          <p:cNvPr id="162" name="Google Shape;162;p17"/>
          <p:cNvSpPr txBox="1">
            <a:spLocks noGrp="1"/>
          </p:cNvSpPr>
          <p:nvPr>
            <p:ph type="body" idx="1"/>
          </p:nvPr>
        </p:nvSpPr>
        <p:spPr>
          <a:xfrm>
            <a:off x="1297500" y="1152050"/>
            <a:ext cx="7038900" cy="11152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700" noProof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DIRECT</a:t>
            </a:r>
            <a:r>
              <a:rPr lang="en-US" sz="1700" noProof="0">
                <a:latin typeface="Montserrat"/>
                <a:ea typeface="Montserrat"/>
                <a:cs typeface="Montserrat"/>
                <a:sym typeface="Montserrat"/>
              </a:rPr>
              <a:t> - Defines no quarantine, events pass directly to the CORE engine</a:t>
            </a:r>
          </a:p>
          <a:p>
            <a:pPr marL="0" lvl="0" indent="0" algn="l" rtl="0">
              <a:spcBef>
                <a:spcPts val="1600"/>
              </a:spcBef>
              <a:spcAft>
                <a:spcPts val="1200"/>
              </a:spcAft>
              <a:buNone/>
            </a:pPr>
            <a:endParaRPr lang="en-US" noProof="0"/>
          </a:p>
        </p:txBody>
      </p:sp>
      <p:sp>
        <p:nvSpPr>
          <p:cNvPr id="163" name="Google Shape;163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9</a:t>
            </a:fld>
            <a:endParaRPr lang="en-US" noProof="0"/>
          </a:p>
        </p:txBody>
      </p:sp>
      <p:sp>
        <p:nvSpPr>
          <p:cNvPr id="164" name="Google Shape;164;p17"/>
          <p:cNvSpPr/>
          <p:nvPr/>
        </p:nvSpPr>
        <p:spPr>
          <a:xfrm>
            <a:off x="5581923" y="3324211"/>
            <a:ext cx="1504200" cy="669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65" name="Google Shape;165;p17"/>
          <p:cNvCxnSpPr>
            <a:cxnSpLocks/>
            <a:stCxn id="2" idx="3"/>
            <a:endCxn id="164" idx="1"/>
          </p:cNvCxnSpPr>
          <p:nvPr/>
        </p:nvCxnSpPr>
        <p:spPr>
          <a:xfrm>
            <a:off x="4298949" y="3658711"/>
            <a:ext cx="1282974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7" name="Google Shape;167;p17"/>
          <p:cNvSpPr txBox="1"/>
          <p:nvPr/>
        </p:nvSpPr>
        <p:spPr>
          <a:xfrm>
            <a:off x="5685273" y="3466261"/>
            <a:ext cx="1297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noProof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CORE engine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A07903B-1B35-8417-DFA3-5006DB7D8F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1275342"/>
              </p:ext>
            </p:extLst>
          </p:nvPr>
        </p:nvGraphicFramePr>
        <p:xfrm>
          <a:off x="1365250" y="2604611"/>
          <a:ext cx="2933699" cy="2108200"/>
        </p:xfrm>
        <a:graphic>
          <a:graphicData uri="http://schemas.openxmlformats.org/drawingml/2006/table">
            <a:tbl>
              <a:tblPr firstRow="1" bandRow="1">
                <a:tableStyleId>{1D0A32A6-33CC-43D0-9E1B-FCB90422735E}</a:tableStyleId>
              </a:tblPr>
              <a:tblGrid>
                <a:gridCol w="2933699">
                  <a:extLst>
                    <a:ext uri="{9D8B030D-6E8A-4147-A177-3AD203B41FA5}">
                      <a16:colId xmlns:a16="http://schemas.microsoft.com/office/drawing/2014/main" val="2085734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noProof="0">
                          <a:solidFill>
                            <a:schemeClr val="tx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Input Stream 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4000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R" sz="800" b="1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Event 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800" dirty="0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Event Type (CARRIER_NAME): </a:t>
                      </a:r>
                      <a:r>
                        <a:rPr lang="en-GB" sz="800" dirty="0" err="1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Delta_Air_Lines_Inc</a:t>
                      </a:r>
                      <a:endParaRPr lang="en-GB" sz="800" dirty="0">
                        <a:solidFill>
                          <a:schemeClr val="bg1"/>
                        </a:solidFill>
                        <a:latin typeface="Montserrat" pitchFamily="2" charset="77"/>
                      </a:endParaRPr>
                    </a:p>
                    <a:p>
                      <a:pPr lvl="0" algn="ctr"/>
                      <a:r>
                        <a:rPr lang="en-GB" sz="800" dirty="0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DEST: LAX</a:t>
                      </a:r>
                    </a:p>
                    <a:p>
                      <a:pPr lvl="0" algn="ctr"/>
                      <a:r>
                        <a:rPr lang="en-GB" sz="800" dirty="0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ARR_DELAY: 15 min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973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R" sz="800" b="1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Event 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800" dirty="0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Event Type (CARRIER_NAME): </a:t>
                      </a:r>
                      <a:r>
                        <a:rPr lang="en-GB" sz="800" dirty="0" err="1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American_Airlines_Inc</a:t>
                      </a:r>
                      <a:endParaRPr lang="en-GB" sz="800" dirty="0">
                        <a:solidFill>
                          <a:schemeClr val="bg1"/>
                        </a:solidFill>
                        <a:latin typeface="Montserrat" pitchFamily="2" charset="77"/>
                      </a:endParaRPr>
                    </a:p>
                    <a:p>
                      <a:pPr lvl="0" algn="ctr"/>
                      <a:r>
                        <a:rPr lang="en-GB" sz="800" dirty="0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DEST: LAX</a:t>
                      </a:r>
                    </a:p>
                    <a:p>
                      <a:pPr lvl="0" algn="ctr"/>
                      <a:r>
                        <a:rPr lang="en-GB" sz="800" dirty="0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ARR_DELAY: 10 min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37426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R" sz="800" b="1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Event 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800" dirty="0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Event Type (CARRIER_NAME): </a:t>
                      </a:r>
                      <a:r>
                        <a:rPr lang="en-GB" sz="800" dirty="0" err="1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United_Air_Lines_Inc</a:t>
                      </a:r>
                      <a:endParaRPr lang="en-GB" sz="800" dirty="0">
                        <a:solidFill>
                          <a:schemeClr val="bg1"/>
                        </a:solidFill>
                        <a:latin typeface="Montserrat" pitchFamily="2" charset="77"/>
                      </a:endParaRPr>
                    </a:p>
                    <a:p>
                      <a:pPr lvl="0" algn="ctr"/>
                      <a:r>
                        <a:rPr lang="en-GB" sz="800" dirty="0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DEST: LAX</a:t>
                      </a:r>
                    </a:p>
                    <a:p>
                      <a:pPr lvl="0" algn="ctr"/>
                      <a:r>
                        <a:rPr lang="en-GB" sz="800" dirty="0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ARR_DELAY: 7 min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2185288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8"/>
          <p:cNvSpPr txBox="1">
            <a:spLocks noGrp="1"/>
          </p:cNvSpPr>
          <p:nvPr>
            <p:ph type="title"/>
          </p:nvPr>
        </p:nvSpPr>
        <p:spPr>
          <a:xfrm>
            <a:off x="1297500" y="32858"/>
            <a:ext cx="7038900" cy="5704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>
                <a:solidFill>
                  <a:schemeClr val="lt2"/>
                </a:solidFill>
              </a:rPr>
              <a:t>Fixed Time Policy </a:t>
            </a:r>
          </a:p>
        </p:txBody>
      </p:sp>
      <p:sp>
        <p:nvSpPr>
          <p:cNvPr id="173" name="Google Shape;173;p18"/>
          <p:cNvSpPr txBox="1">
            <a:spLocks noGrp="1"/>
          </p:cNvSpPr>
          <p:nvPr>
            <p:ph type="body" idx="1"/>
          </p:nvPr>
        </p:nvSpPr>
        <p:spPr>
          <a:xfrm>
            <a:off x="1263210" y="518845"/>
            <a:ext cx="7038900" cy="31496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-310832">
              <a:buSzPct val="100000"/>
              <a:buFont typeface="Montserrat"/>
              <a:buChar char="●"/>
            </a:pPr>
            <a:r>
              <a:rPr lang="en-US" sz="1400" noProof="0">
                <a:latin typeface="Montserrat"/>
                <a:ea typeface="Montserrat"/>
                <a:cs typeface="Montserrat"/>
                <a:sym typeface="Montserrat"/>
              </a:rPr>
              <a:t>Defines that each event must stay in quarantine </a:t>
            </a:r>
            <a:r>
              <a:rPr lang="en-US" sz="1400" noProof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a fixed amount of (wall-clock) time</a:t>
            </a:r>
            <a:r>
              <a:rPr lang="en-US" sz="1400" noProof="0">
                <a:latin typeface="Montserrat"/>
                <a:ea typeface="Montserrat"/>
                <a:cs typeface="Montserrat"/>
                <a:sym typeface="Montserrat"/>
              </a:rPr>
              <a:t>, waiting for late events to arrive, </a:t>
            </a:r>
            <a:r>
              <a:rPr lang="en-US" sz="1400">
                <a:latin typeface="Montserrat"/>
                <a:ea typeface="Montserrat"/>
                <a:cs typeface="Montserrat"/>
                <a:sym typeface="Montserrat"/>
              </a:rPr>
              <a:t>before it is sent to CORE</a:t>
            </a:r>
            <a:br>
              <a:rPr lang="en-US" sz="1400" noProof="0">
                <a:latin typeface="Montserrat"/>
                <a:ea typeface="Montserrat"/>
                <a:cs typeface="Montserrat"/>
                <a:sym typeface="Montserrat"/>
              </a:rPr>
            </a:br>
            <a:endParaRPr lang="en-US" sz="1400" noProof="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0832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Montserrat"/>
              <a:buChar char="●"/>
            </a:pPr>
            <a:r>
              <a:rPr lang="en-US" sz="1400" noProof="0">
                <a:latin typeface="Montserrat"/>
                <a:ea typeface="Montserrat"/>
                <a:cs typeface="Montserrat"/>
                <a:sym typeface="Montserrat"/>
              </a:rPr>
              <a:t>The event is added to </a:t>
            </a:r>
            <a:r>
              <a:rPr lang="en-US" sz="1400" noProof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a set sorted by event time </a:t>
            </a:r>
            <a:r>
              <a:rPr lang="en-US" sz="1400" noProof="0">
                <a:latin typeface="Montserrat"/>
                <a:ea typeface="Montserrat"/>
                <a:cs typeface="Montserrat"/>
                <a:sym typeface="Montserrat"/>
              </a:rPr>
              <a:t>at the correct position.</a:t>
            </a:r>
            <a:br>
              <a:rPr lang="en-US" sz="1400" noProof="0">
                <a:latin typeface="Montserrat"/>
                <a:ea typeface="Montserrat"/>
                <a:cs typeface="Montserrat"/>
                <a:sym typeface="Montserrat"/>
              </a:rPr>
            </a:br>
            <a:endParaRPr lang="en-US" sz="1400" noProof="0">
              <a:latin typeface="Montserrat"/>
              <a:ea typeface="Montserrat"/>
              <a:cs typeface="Montserrat"/>
              <a:sym typeface="Montserrat"/>
            </a:endParaRPr>
          </a:p>
          <a:p>
            <a:pPr lvl="0" indent="-310832">
              <a:buSzPct val="100000"/>
              <a:buFont typeface="Montserrat"/>
              <a:buChar char="●"/>
            </a:pPr>
            <a:r>
              <a:rPr lang="en-US" sz="1400" noProof="0">
                <a:latin typeface="Montserrat"/>
                <a:ea typeface="Montserrat"/>
                <a:cs typeface="Montserrat"/>
                <a:sym typeface="Montserrat"/>
              </a:rPr>
              <a:t>From the event with </a:t>
            </a:r>
            <a:r>
              <a:rPr lang="en-US" sz="1400" noProof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the smaller </a:t>
            </a:r>
            <a:r>
              <a:rPr lang="en-US" sz="140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Event time in </a:t>
            </a:r>
            <a:r>
              <a:rPr lang="en-US" sz="1400" noProof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quarantine</a:t>
            </a:r>
            <a:r>
              <a:rPr lang="en-US" sz="1400" noProof="0">
                <a:latin typeface="Montserrat"/>
                <a:ea typeface="Montserrat"/>
                <a:cs typeface="Montserrat"/>
                <a:sym typeface="Montserrat"/>
              </a:rPr>
              <a:t>, that event is released together with all events in quarantine that their </a:t>
            </a:r>
            <a:r>
              <a:rPr lang="en-US" sz="1400" noProof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quarantine time has passed</a:t>
            </a:r>
            <a:r>
              <a:rPr lang="en-US" sz="1400" noProof="0">
                <a:latin typeface="Montserrat"/>
                <a:ea typeface="Montserrat"/>
                <a:cs typeface="Montserrat"/>
                <a:sym typeface="Montserrat"/>
              </a:rPr>
              <a:t>.</a:t>
            </a:r>
            <a:br>
              <a:rPr lang="en-US" sz="1400" noProof="0">
                <a:latin typeface="Montserrat"/>
                <a:ea typeface="Montserrat"/>
                <a:cs typeface="Montserrat"/>
                <a:sym typeface="Montserrat"/>
              </a:rPr>
            </a:br>
            <a:endParaRPr lang="en-US" sz="1400" noProof="0">
              <a:latin typeface="Montserrat"/>
              <a:ea typeface="Montserrat"/>
              <a:cs typeface="Montserrat"/>
              <a:sym typeface="Montserrat"/>
            </a:endParaRPr>
          </a:p>
          <a:p>
            <a:pPr lvl="0" indent="-310832">
              <a:buSzPct val="100000"/>
              <a:buFont typeface="Arial"/>
              <a:buChar char="●"/>
            </a:pPr>
            <a:r>
              <a:rPr lang="en-US" sz="1400" noProof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Any late events </a:t>
            </a:r>
            <a:r>
              <a:rPr lang="en-US" sz="1400" noProof="0">
                <a:latin typeface="Montserrat"/>
                <a:ea typeface="Montserrat"/>
                <a:cs typeface="Montserrat"/>
                <a:sym typeface="Montserrat"/>
              </a:rPr>
              <a:t>that arrive after this point </a:t>
            </a:r>
            <a:r>
              <a:rPr lang="en-US" sz="1400" noProof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with </a:t>
            </a:r>
            <a:r>
              <a:rPr lang="en-US" sz="1400" noProof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140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vent time </a:t>
            </a:r>
            <a:r>
              <a:rPr lang="en-US" sz="1400" noProof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smaller than the last</a:t>
            </a:r>
            <a:r>
              <a:rPr lang="en-US" sz="1400" noProof="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400" noProof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sent event</a:t>
            </a:r>
            <a:r>
              <a:rPr lang="en-US" sz="1400" noProof="0">
                <a:latin typeface="Montserrat"/>
                <a:ea typeface="Montserrat"/>
                <a:cs typeface="Montserrat"/>
                <a:sym typeface="Montserrat"/>
              </a:rPr>
              <a:t> are </a:t>
            </a:r>
            <a:r>
              <a:rPr lang="en-US" sz="1400" b="1" u="sng" noProof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dropped</a:t>
            </a:r>
            <a:r>
              <a:rPr lang="en-US" sz="1400" noProof="0"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id="174" name="Google Shape;17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10</a:t>
            </a:fld>
            <a:endParaRPr lang="en-US" noProof="0"/>
          </a:p>
        </p:txBody>
      </p:sp>
      <p:sp>
        <p:nvSpPr>
          <p:cNvPr id="175" name="Google Shape;175;p18"/>
          <p:cNvSpPr/>
          <p:nvPr/>
        </p:nvSpPr>
        <p:spPr>
          <a:xfrm>
            <a:off x="3934883" y="4205647"/>
            <a:ext cx="1504200" cy="669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77" name="Google Shape;177;p18"/>
          <p:cNvCxnSpPr>
            <a:cxnSpLocks/>
          </p:cNvCxnSpPr>
          <p:nvPr/>
        </p:nvCxnSpPr>
        <p:spPr>
          <a:xfrm>
            <a:off x="2873596" y="4511372"/>
            <a:ext cx="1036312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8" name="Google Shape;178;p18"/>
          <p:cNvSpPr txBox="1"/>
          <p:nvPr/>
        </p:nvSpPr>
        <p:spPr>
          <a:xfrm>
            <a:off x="3934883" y="4347697"/>
            <a:ext cx="1504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noProof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Quarantine</a:t>
            </a:r>
          </a:p>
        </p:txBody>
      </p:sp>
      <p:sp>
        <p:nvSpPr>
          <p:cNvPr id="179" name="Google Shape;179;p18"/>
          <p:cNvSpPr/>
          <p:nvPr/>
        </p:nvSpPr>
        <p:spPr>
          <a:xfrm>
            <a:off x="6968258" y="4155247"/>
            <a:ext cx="1504200" cy="669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7071608" y="4297297"/>
            <a:ext cx="1297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noProof="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CORE engine</a:t>
            </a:r>
          </a:p>
        </p:txBody>
      </p:sp>
      <p:cxnSp>
        <p:nvCxnSpPr>
          <p:cNvPr id="181" name="Google Shape;181;p18"/>
          <p:cNvCxnSpPr>
            <a:cxnSpLocks/>
          </p:cNvCxnSpPr>
          <p:nvPr/>
        </p:nvCxnSpPr>
        <p:spPr>
          <a:xfrm>
            <a:off x="5439083" y="4540147"/>
            <a:ext cx="15042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2" name="Google Shape;182;p18"/>
          <p:cNvSpPr txBox="1"/>
          <p:nvPr/>
        </p:nvSpPr>
        <p:spPr>
          <a:xfrm>
            <a:off x="5464058" y="4155247"/>
            <a:ext cx="1504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noProof="0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ordered stream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69DCB66-144F-34E6-D314-0812E18F26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8626584"/>
              </p:ext>
            </p:extLst>
          </p:nvPr>
        </p:nvGraphicFramePr>
        <p:xfrm>
          <a:off x="16034" y="3668500"/>
          <a:ext cx="2875422" cy="1470850"/>
        </p:xfrm>
        <a:graphic>
          <a:graphicData uri="http://schemas.openxmlformats.org/drawingml/2006/table">
            <a:tbl>
              <a:tblPr firstRow="1" bandRow="1">
                <a:tableStyleId>{1D0A32A6-33CC-43D0-9E1B-FCB90422735E}</a:tableStyleId>
              </a:tblPr>
              <a:tblGrid>
                <a:gridCol w="2875422">
                  <a:extLst>
                    <a:ext uri="{9D8B030D-6E8A-4147-A177-3AD203B41FA5}">
                      <a16:colId xmlns:a16="http://schemas.microsoft.com/office/drawing/2014/main" val="1189248727"/>
                    </a:ext>
                  </a:extLst>
                </a:gridCol>
              </a:tblGrid>
              <a:tr h="2415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noProof="0">
                          <a:solidFill>
                            <a:schemeClr val="tx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Input Stream 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06358933"/>
                  </a:ext>
                </a:extLst>
              </a:tr>
              <a:tr h="5424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R" sz="800" b="1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Event 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800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Event Type (CARRIER_NAME): </a:t>
                      </a:r>
                      <a:r>
                        <a:rPr lang="en-GB" sz="800" err="1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Delta_Air_Lines_Inc</a:t>
                      </a:r>
                      <a:endParaRPr lang="en-GB" sz="800">
                        <a:solidFill>
                          <a:schemeClr val="bg1"/>
                        </a:solidFill>
                        <a:latin typeface="Montserrat" pitchFamily="2" charset="7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800" err="1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Event_Timestamp</a:t>
                      </a:r>
                      <a:r>
                        <a:rPr lang="en-GB" sz="800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: 1735690200</a:t>
                      </a:r>
                    </a:p>
                    <a:p>
                      <a:pPr lvl="0" algn="ctr"/>
                      <a:r>
                        <a:rPr lang="en-GB" sz="800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DEST: LAX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8904352"/>
                  </a:ext>
                </a:extLst>
              </a:tr>
              <a:tr h="61741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R" sz="800" b="1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Event 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800" dirty="0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Event Type (CARRIER_NAME): </a:t>
                      </a:r>
                      <a:r>
                        <a:rPr lang="en-GB" sz="800" dirty="0" err="1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American_Airlines_Inc</a:t>
                      </a:r>
                      <a:endParaRPr lang="en-GB" sz="800" dirty="0">
                        <a:solidFill>
                          <a:schemeClr val="bg1"/>
                        </a:solidFill>
                        <a:latin typeface="Montserrat" pitchFamily="2" charset="7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800" dirty="0" err="1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Event_Timestamp</a:t>
                      </a:r>
                      <a:r>
                        <a:rPr lang="en-GB" sz="800" dirty="0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: 1735697400</a:t>
                      </a:r>
                    </a:p>
                    <a:p>
                      <a:pPr lvl="0" algn="ctr"/>
                      <a:r>
                        <a:rPr lang="en-GB" sz="800" dirty="0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DEST: LAX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47634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FBE18-198D-4CF7-B3A7-4F62676C8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500" y="108655"/>
            <a:ext cx="7038900" cy="633802"/>
          </a:xfrm>
        </p:spPr>
        <p:txBody>
          <a:bodyPr>
            <a:normAutofit/>
          </a:bodyPr>
          <a:lstStyle/>
          <a:p>
            <a:r>
              <a:rPr lang="en-GR">
                <a:solidFill>
                  <a:schemeClr val="tx2"/>
                </a:solidFill>
              </a:rPr>
              <a:t>New Fixed Time Policy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75F68C-3C3C-C6C8-295C-D77BD6F9B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7500" y="742457"/>
            <a:ext cx="7038900" cy="3466318"/>
          </a:xfrm>
        </p:spPr>
        <p:txBody>
          <a:bodyPr>
            <a:normAutofit/>
          </a:bodyPr>
          <a:lstStyle/>
          <a:p>
            <a:r>
              <a:rPr lang="en-GB" dirty="0">
                <a:latin typeface="Montserrat" pitchFamily="2" charset="77"/>
              </a:rPr>
              <a:t>Defines that events are held in quarantine based on data </a:t>
            </a:r>
            <a:r>
              <a:rPr lang="en-GB" dirty="0">
                <a:solidFill>
                  <a:schemeClr val="tx2"/>
                </a:solidFill>
                <a:latin typeface="Montserrat" pitchFamily="2" charset="77"/>
              </a:rPr>
              <a:t>timestamps</a:t>
            </a:r>
            <a:r>
              <a:rPr lang="en-GB" dirty="0">
                <a:latin typeface="Montserrat" pitchFamily="2" charset="77"/>
              </a:rPr>
              <a:t>, not real-world (wall-clock) time.</a:t>
            </a:r>
          </a:p>
          <a:p>
            <a:pPr marL="146050" indent="0">
              <a:buNone/>
            </a:pPr>
            <a:endParaRPr lang="en-GB" dirty="0">
              <a:latin typeface="Montserrat" pitchFamily="2" charset="77"/>
            </a:endParaRPr>
          </a:p>
          <a:p>
            <a:r>
              <a:rPr lang="en-GB" dirty="0">
                <a:latin typeface="Montserrat" pitchFamily="2" charset="77"/>
              </a:rPr>
              <a:t>The policy tracks the </a:t>
            </a:r>
            <a:r>
              <a:rPr lang="en-GB" dirty="0">
                <a:solidFill>
                  <a:schemeClr val="tx2"/>
                </a:solidFill>
                <a:latin typeface="Montserrat" pitchFamily="2" charset="77"/>
              </a:rPr>
              <a:t>arrival time of the latest received event </a:t>
            </a:r>
            <a:r>
              <a:rPr lang="en-GB" dirty="0">
                <a:latin typeface="Montserrat" pitchFamily="2" charset="77"/>
              </a:rPr>
              <a:t>to measure how far the data stream has progressed.</a:t>
            </a:r>
          </a:p>
          <a:p>
            <a:endParaRPr lang="en-GB" dirty="0">
              <a:latin typeface="Montserrat" pitchFamily="2" charset="77"/>
            </a:endParaRPr>
          </a:p>
          <a:p>
            <a:r>
              <a:rPr lang="en-GB" dirty="0">
                <a:latin typeface="Montserrat" pitchFamily="2" charset="77"/>
              </a:rPr>
              <a:t>From the event with </a:t>
            </a:r>
            <a:r>
              <a:rPr lang="en-GB" dirty="0">
                <a:solidFill>
                  <a:schemeClr val="tx2"/>
                </a:solidFill>
                <a:latin typeface="Montserrat" pitchFamily="2" charset="77"/>
              </a:rPr>
              <a:t>the smaller event time in quarantine</a:t>
            </a:r>
            <a:r>
              <a:rPr lang="en-GB" dirty="0">
                <a:latin typeface="Montserrat" pitchFamily="2" charset="77"/>
              </a:rPr>
              <a:t>, that event is released only when the time interval between </a:t>
            </a:r>
            <a:r>
              <a:rPr lang="en-GB" dirty="0">
                <a:solidFill>
                  <a:schemeClr val="tx2"/>
                </a:solidFill>
                <a:latin typeface="Montserrat" pitchFamily="2" charset="77"/>
              </a:rPr>
              <a:t>the arrival time of the latest received event </a:t>
            </a:r>
            <a:r>
              <a:rPr lang="en-GB" dirty="0">
                <a:latin typeface="Montserrat" pitchFamily="2" charset="77"/>
              </a:rPr>
              <a:t>and </a:t>
            </a:r>
            <a:r>
              <a:rPr lang="en-GB" dirty="0">
                <a:solidFill>
                  <a:schemeClr val="tx2"/>
                </a:solidFill>
                <a:latin typeface="Montserrat" pitchFamily="2" charset="77"/>
              </a:rPr>
              <a:t>the event’s arrival time</a:t>
            </a:r>
            <a:r>
              <a:rPr lang="en-GB" dirty="0">
                <a:latin typeface="Montserrat" pitchFamily="2" charset="77"/>
              </a:rPr>
              <a:t> </a:t>
            </a:r>
            <a:r>
              <a:rPr lang="en-GB" dirty="0">
                <a:solidFill>
                  <a:schemeClr val="tx2"/>
                </a:solidFill>
                <a:latin typeface="Montserrat" pitchFamily="2" charset="77"/>
              </a:rPr>
              <a:t>exceeds</a:t>
            </a:r>
            <a:r>
              <a:rPr lang="en-GB" dirty="0">
                <a:latin typeface="Montserrat" pitchFamily="2" charset="77"/>
              </a:rPr>
              <a:t> the configured wait time.</a:t>
            </a:r>
          </a:p>
          <a:p>
            <a:endParaRPr lang="en-GB" dirty="0">
              <a:latin typeface="Montserrat" pitchFamily="2" charset="77"/>
            </a:endParaRPr>
          </a:p>
          <a:p>
            <a:r>
              <a:rPr lang="en-GB" dirty="0">
                <a:solidFill>
                  <a:schemeClr val="tx2"/>
                </a:solidFill>
                <a:latin typeface="Montserrat" pitchFamily="2" charset="77"/>
              </a:rPr>
              <a:t>Any late events </a:t>
            </a:r>
            <a:r>
              <a:rPr lang="en-GB" dirty="0">
                <a:latin typeface="Montserrat" pitchFamily="2" charset="77"/>
              </a:rPr>
              <a:t>that arrive after this point </a:t>
            </a:r>
            <a:r>
              <a:rPr lang="en-GB" dirty="0">
                <a:solidFill>
                  <a:schemeClr val="tx2"/>
                </a:solidFill>
                <a:latin typeface="Montserrat" pitchFamily="2" charset="77"/>
              </a:rPr>
              <a:t>with event time smaller than the last sent event </a:t>
            </a:r>
            <a:r>
              <a:rPr lang="en-GB" dirty="0">
                <a:latin typeface="Montserrat" pitchFamily="2" charset="77"/>
              </a:rPr>
              <a:t>are </a:t>
            </a:r>
            <a:r>
              <a:rPr lang="en-GB" b="1" u="sng" dirty="0">
                <a:solidFill>
                  <a:schemeClr val="tx2"/>
                </a:solidFill>
                <a:latin typeface="Montserrat" pitchFamily="2" charset="77"/>
              </a:rPr>
              <a:t>dropped</a:t>
            </a:r>
            <a:r>
              <a:rPr lang="en-GB" dirty="0">
                <a:latin typeface="Montserrat" pitchFamily="2" charset="77"/>
              </a:rPr>
              <a:t>.</a:t>
            </a:r>
            <a:endParaRPr lang="en-GR">
              <a:latin typeface="Montserrat" pitchFamily="2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05BCA3-FA3B-6D2F-C4D8-98DD506EDF5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 smtClean="0"/>
              <a:t>11</a:t>
            </a:fld>
            <a:endParaRPr lang="el"/>
          </a:p>
        </p:txBody>
      </p:sp>
      <p:sp>
        <p:nvSpPr>
          <p:cNvPr id="5" name="Google Shape;175;p18">
            <a:extLst>
              <a:ext uri="{FF2B5EF4-FFF2-40B4-BE49-F238E27FC236}">
                <a16:creationId xmlns:a16="http://schemas.microsoft.com/office/drawing/2014/main" id="{CD26F555-3D17-C6BB-3FD3-5505D0C4A7D8}"/>
              </a:ext>
            </a:extLst>
          </p:cNvPr>
          <p:cNvSpPr/>
          <p:nvPr/>
        </p:nvSpPr>
        <p:spPr>
          <a:xfrm>
            <a:off x="4279784" y="4206075"/>
            <a:ext cx="1504200" cy="669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" name="Google Shape;177;p18">
            <a:extLst>
              <a:ext uri="{FF2B5EF4-FFF2-40B4-BE49-F238E27FC236}">
                <a16:creationId xmlns:a16="http://schemas.microsoft.com/office/drawing/2014/main" id="{0FE0568E-AD62-FBAA-0539-69B377F2D8C5}"/>
              </a:ext>
            </a:extLst>
          </p:cNvPr>
          <p:cNvCxnSpPr>
            <a:cxnSpLocks/>
          </p:cNvCxnSpPr>
          <p:nvPr/>
        </p:nvCxnSpPr>
        <p:spPr>
          <a:xfrm>
            <a:off x="2932484" y="4533825"/>
            <a:ext cx="1347300" cy="54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" name="Google Shape;178;p18">
            <a:extLst>
              <a:ext uri="{FF2B5EF4-FFF2-40B4-BE49-F238E27FC236}">
                <a16:creationId xmlns:a16="http://schemas.microsoft.com/office/drawing/2014/main" id="{B4428690-F02B-804F-722F-129D3022E534}"/>
              </a:ext>
            </a:extLst>
          </p:cNvPr>
          <p:cNvSpPr txBox="1"/>
          <p:nvPr/>
        </p:nvSpPr>
        <p:spPr>
          <a:xfrm>
            <a:off x="4279784" y="4348125"/>
            <a:ext cx="1504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noProof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Quarantine</a:t>
            </a:r>
          </a:p>
        </p:txBody>
      </p:sp>
      <p:sp>
        <p:nvSpPr>
          <p:cNvPr id="9" name="Google Shape;179;p18">
            <a:extLst>
              <a:ext uri="{FF2B5EF4-FFF2-40B4-BE49-F238E27FC236}">
                <a16:creationId xmlns:a16="http://schemas.microsoft.com/office/drawing/2014/main" id="{DA740F51-FC39-A041-1DAB-0F3FEB947387}"/>
              </a:ext>
            </a:extLst>
          </p:cNvPr>
          <p:cNvSpPr/>
          <p:nvPr/>
        </p:nvSpPr>
        <p:spPr>
          <a:xfrm>
            <a:off x="7240484" y="4259175"/>
            <a:ext cx="1504200" cy="669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Google Shape;182;p18">
            <a:extLst>
              <a:ext uri="{FF2B5EF4-FFF2-40B4-BE49-F238E27FC236}">
                <a16:creationId xmlns:a16="http://schemas.microsoft.com/office/drawing/2014/main" id="{37F88ABF-6A19-5564-68DB-84A10459C701}"/>
              </a:ext>
            </a:extLst>
          </p:cNvPr>
          <p:cNvSpPr txBox="1"/>
          <p:nvPr/>
        </p:nvSpPr>
        <p:spPr>
          <a:xfrm>
            <a:off x="5736284" y="4259175"/>
            <a:ext cx="1504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noProof="0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ordered stream </a:t>
            </a:r>
          </a:p>
        </p:txBody>
      </p:sp>
      <p:cxnSp>
        <p:nvCxnSpPr>
          <p:cNvPr id="11" name="Google Shape;177;p18">
            <a:extLst>
              <a:ext uri="{FF2B5EF4-FFF2-40B4-BE49-F238E27FC236}">
                <a16:creationId xmlns:a16="http://schemas.microsoft.com/office/drawing/2014/main" id="{1738C5B2-6848-9C9A-CDC9-5C95374969C7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5783984" y="4593675"/>
            <a:ext cx="1456500" cy="472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" name="Google Shape;180;p18">
            <a:extLst>
              <a:ext uri="{FF2B5EF4-FFF2-40B4-BE49-F238E27FC236}">
                <a16:creationId xmlns:a16="http://schemas.microsoft.com/office/drawing/2014/main" id="{D6118C79-FD7B-E13C-19A7-1222D0F5CD44}"/>
              </a:ext>
            </a:extLst>
          </p:cNvPr>
          <p:cNvSpPr txBox="1"/>
          <p:nvPr/>
        </p:nvSpPr>
        <p:spPr>
          <a:xfrm>
            <a:off x="7343834" y="4396212"/>
            <a:ext cx="1297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noProof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CORE engine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605CB39-B67E-DCDC-CD27-48ABB138ED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341301"/>
              </p:ext>
            </p:extLst>
          </p:nvPr>
        </p:nvGraphicFramePr>
        <p:xfrm>
          <a:off x="57062" y="3660787"/>
          <a:ext cx="2875422" cy="1470850"/>
        </p:xfrm>
        <a:graphic>
          <a:graphicData uri="http://schemas.openxmlformats.org/drawingml/2006/table">
            <a:tbl>
              <a:tblPr firstRow="1" bandRow="1">
                <a:tableStyleId>{1D0A32A6-33CC-43D0-9E1B-FCB90422735E}</a:tableStyleId>
              </a:tblPr>
              <a:tblGrid>
                <a:gridCol w="2875422">
                  <a:extLst>
                    <a:ext uri="{9D8B030D-6E8A-4147-A177-3AD203B41FA5}">
                      <a16:colId xmlns:a16="http://schemas.microsoft.com/office/drawing/2014/main" val="1112174841"/>
                    </a:ext>
                  </a:extLst>
                </a:gridCol>
              </a:tblGrid>
              <a:tr h="2415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noProof="0">
                          <a:solidFill>
                            <a:schemeClr val="tx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Input Stream 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83896448"/>
                  </a:ext>
                </a:extLst>
              </a:tr>
              <a:tr h="5424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R" sz="800" b="1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Event 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800" dirty="0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Event Type (CARRIER_NAME): </a:t>
                      </a:r>
                      <a:r>
                        <a:rPr lang="en-GB" sz="800" dirty="0" err="1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Delta_Air_Lines_Inc</a:t>
                      </a:r>
                      <a:endParaRPr lang="en-GB" sz="800" dirty="0">
                        <a:solidFill>
                          <a:schemeClr val="bg1"/>
                        </a:solidFill>
                        <a:latin typeface="Montserrat" pitchFamily="2" charset="77"/>
                      </a:endParaRPr>
                    </a:p>
                    <a:p>
                      <a:pPr lvl="0" algn="ctr"/>
                      <a:r>
                        <a:rPr lang="en-GB" sz="800" dirty="0" err="1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Event_Timestamp</a:t>
                      </a:r>
                      <a:r>
                        <a:rPr lang="en-GB" sz="800" dirty="0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: 1735690200</a:t>
                      </a:r>
                    </a:p>
                    <a:p>
                      <a:pPr lvl="0" algn="ctr"/>
                      <a:r>
                        <a:rPr lang="en-GB" sz="800" dirty="0" err="1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Arrival_Timestamp</a:t>
                      </a:r>
                      <a:r>
                        <a:rPr lang="en-GB" sz="800" dirty="0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: 1735690200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02819064"/>
                  </a:ext>
                </a:extLst>
              </a:tr>
              <a:tr h="61741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R" sz="800" b="1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Event 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800" dirty="0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Event Type (CARRIER_NAME): </a:t>
                      </a:r>
                      <a:r>
                        <a:rPr lang="en-GB" sz="800" dirty="0" err="1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American_Airlines_Inc</a:t>
                      </a:r>
                      <a:endParaRPr lang="en-GB" sz="800" dirty="0">
                        <a:solidFill>
                          <a:schemeClr val="bg1"/>
                        </a:solidFill>
                        <a:latin typeface="Montserrat" pitchFamily="2" charset="7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800" dirty="0" err="1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Event_Timestamp</a:t>
                      </a:r>
                      <a:r>
                        <a:rPr lang="en-GB" sz="800" dirty="0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: 1735697400</a:t>
                      </a:r>
                    </a:p>
                    <a:p>
                      <a:pPr lvl="0" algn="ctr"/>
                      <a:r>
                        <a:rPr lang="en-GB" sz="800" dirty="0" err="1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Arrival_Timestamp</a:t>
                      </a:r>
                      <a:r>
                        <a:rPr lang="en-GB" sz="800" dirty="0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: 1735697400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033862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9514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12</a:t>
            </a:fld>
            <a:endParaRPr lang="en-US" noProof="0"/>
          </a:p>
        </p:txBody>
      </p:sp>
      <p:sp>
        <p:nvSpPr>
          <p:cNvPr id="189" name="Google Shape;189;p19"/>
          <p:cNvSpPr txBox="1"/>
          <p:nvPr/>
        </p:nvSpPr>
        <p:spPr>
          <a:xfrm>
            <a:off x="422564" y="4663217"/>
            <a:ext cx="7501036" cy="573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sz="1100" b="1" noProof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Events sent from quarantine:</a:t>
            </a:r>
            <a:r>
              <a:rPr lang="en-US" sz="1100" noProof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[Event 2, Event 1</a:t>
            </a:r>
            <a:r>
              <a:rPr lang="en-US" sz="1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Event 3]</a:t>
            </a:r>
            <a:endParaRPr lang="en-US" sz="1100" noProof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lnSpc>
                <a:spcPct val="115000"/>
              </a:lnSpc>
            </a:pPr>
            <a:r>
              <a:rPr lang="en-US" sz="1100" b="1" noProof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Dropped events:</a:t>
            </a:r>
            <a:r>
              <a:rPr lang="en-US" sz="1100" noProof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[Event 4]</a:t>
            </a:r>
            <a:endParaRPr lang="en-US" sz="1100" noProof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" name="Google Shape;190;p19"/>
          <p:cNvSpPr txBox="1"/>
          <p:nvPr/>
        </p:nvSpPr>
        <p:spPr>
          <a:xfrm>
            <a:off x="102956" y="64625"/>
            <a:ext cx="4876462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noProof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Example of new FIXED TIME POLICY</a:t>
            </a:r>
            <a:endParaRPr lang="en-US" sz="1600" noProof="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124516" y="1651910"/>
            <a:ext cx="2191768" cy="573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noProof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Quarantine time: 5</a:t>
            </a:r>
            <a:r>
              <a:rPr lang="en-US" sz="1100" noProof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sec. 		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5E5359D-0F8D-0E3E-9186-E2FBDBB25A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14590"/>
              </p:ext>
            </p:extLst>
          </p:nvPr>
        </p:nvGraphicFramePr>
        <p:xfrm>
          <a:off x="17317" y="1983488"/>
          <a:ext cx="9109364" cy="453297"/>
        </p:xfrm>
        <a:graphic>
          <a:graphicData uri="http://schemas.openxmlformats.org/drawingml/2006/table">
            <a:tbl>
              <a:tblPr>
                <a:noFill/>
                <a:tableStyleId>{1D0A32A6-33CC-43D0-9E1B-FCB90422735E}</a:tableStyleId>
              </a:tblPr>
              <a:tblGrid>
                <a:gridCol w="579649">
                  <a:extLst>
                    <a:ext uri="{9D8B030D-6E8A-4147-A177-3AD203B41FA5}">
                      <a16:colId xmlns:a16="http://schemas.microsoft.com/office/drawing/2014/main" val="1718161053"/>
                    </a:ext>
                  </a:extLst>
                </a:gridCol>
                <a:gridCol w="1326590">
                  <a:extLst>
                    <a:ext uri="{9D8B030D-6E8A-4147-A177-3AD203B41FA5}">
                      <a16:colId xmlns:a16="http://schemas.microsoft.com/office/drawing/2014/main" val="3973499670"/>
                    </a:ext>
                  </a:extLst>
                </a:gridCol>
                <a:gridCol w="1214499">
                  <a:extLst>
                    <a:ext uri="{9D8B030D-6E8A-4147-A177-3AD203B41FA5}">
                      <a16:colId xmlns:a16="http://schemas.microsoft.com/office/drawing/2014/main" val="3537421859"/>
                    </a:ext>
                  </a:extLst>
                </a:gridCol>
                <a:gridCol w="1683327">
                  <a:extLst>
                    <a:ext uri="{9D8B030D-6E8A-4147-A177-3AD203B41FA5}">
                      <a16:colId xmlns:a16="http://schemas.microsoft.com/office/drawing/2014/main" val="1645335207"/>
                    </a:ext>
                  </a:extLst>
                </a:gridCol>
                <a:gridCol w="1731818">
                  <a:extLst>
                    <a:ext uri="{9D8B030D-6E8A-4147-A177-3AD203B41FA5}">
                      <a16:colId xmlns:a16="http://schemas.microsoft.com/office/drawing/2014/main" val="721686943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2635618687"/>
                    </a:ext>
                  </a:extLst>
                </a:gridCol>
                <a:gridCol w="998681">
                  <a:extLst>
                    <a:ext uri="{9D8B030D-6E8A-4147-A177-3AD203B41FA5}">
                      <a16:colId xmlns:a16="http://schemas.microsoft.com/office/drawing/2014/main" val="3767587523"/>
                    </a:ext>
                  </a:extLst>
                </a:gridCol>
              </a:tblGrid>
              <a:tr h="2517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noProof="0" dirty="0">
                          <a:solidFill>
                            <a:srgbClr val="1B212C"/>
                          </a:solidFill>
                          <a:latin typeface="Montserrat" pitchFamily="2" charset="77"/>
                        </a:rPr>
                        <a:t>Arrival Time</a:t>
                      </a: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C7A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noProof="0" dirty="0">
                          <a:solidFill>
                            <a:srgbClr val="1B212C"/>
                          </a:solidFill>
                          <a:latin typeface="Montserrat" pitchFamily="2" charset="77"/>
                        </a:rPr>
                        <a:t>Input Stream Description</a:t>
                      </a: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C7A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noProof="0">
                          <a:solidFill>
                            <a:srgbClr val="1B212C"/>
                          </a:solidFill>
                          <a:latin typeface="Montserrat" pitchFamily="2" charset="77"/>
                        </a:rPr>
                        <a:t>Drop check</a:t>
                      </a: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C7A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noProof="0">
                          <a:solidFill>
                            <a:srgbClr val="1B212C"/>
                          </a:solidFill>
                          <a:latin typeface="Montserrat" pitchFamily="2" charset="77"/>
                        </a:rPr>
                        <a:t>Quarantine before insertion</a:t>
                      </a: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C7A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noProof="0">
                          <a:solidFill>
                            <a:srgbClr val="1B212C"/>
                          </a:solidFill>
                          <a:latin typeface="Montserrat" pitchFamily="2" charset="77"/>
                        </a:rPr>
                        <a:t>Expiry check</a:t>
                      </a: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C7A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noProof="0" dirty="0">
                          <a:solidFill>
                            <a:srgbClr val="1B212C"/>
                          </a:solidFill>
                          <a:latin typeface="Montserrat" pitchFamily="2" charset="77"/>
                        </a:rPr>
                        <a:t>Quarantine after insertion</a:t>
                      </a: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C7A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1" dirty="0">
                          <a:solidFill>
                            <a:schemeClr val="tx1"/>
                          </a:solidFill>
                          <a:latin typeface="Montserrat" pitchFamily="2" charset="77"/>
                        </a:rPr>
                        <a:t>Last event sent to CORE</a:t>
                      </a:r>
                      <a:endParaRPr lang="en-US" sz="800" b="1" noProof="0" dirty="0">
                        <a:solidFill>
                          <a:schemeClr val="tx1"/>
                        </a:solidFill>
                        <a:latin typeface="Montserrat" pitchFamily="2" charset="77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C7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8532244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9FA4CB5-2F62-8120-DC10-1B1D4A55C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7220264"/>
              </p:ext>
            </p:extLst>
          </p:nvPr>
        </p:nvGraphicFramePr>
        <p:xfrm>
          <a:off x="17311" y="2433975"/>
          <a:ext cx="9105901" cy="486717"/>
        </p:xfrm>
        <a:graphic>
          <a:graphicData uri="http://schemas.openxmlformats.org/drawingml/2006/table">
            <a:tbl>
              <a:tblPr>
                <a:noFill/>
                <a:tableStyleId>{1D0A32A6-33CC-43D0-9E1B-FCB90422735E}</a:tableStyleId>
              </a:tblPr>
              <a:tblGrid>
                <a:gridCol w="579655">
                  <a:extLst>
                    <a:ext uri="{9D8B030D-6E8A-4147-A177-3AD203B41FA5}">
                      <a16:colId xmlns:a16="http://schemas.microsoft.com/office/drawing/2014/main" val="2504278228"/>
                    </a:ext>
                  </a:extLst>
                </a:gridCol>
                <a:gridCol w="1326590">
                  <a:extLst>
                    <a:ext uri="{9D8B030D-6E8A-4147-A177-3AD203B41FA5}">
                      <a16:colId xmlns:a16="http://schemas.microsoft.com/office/drawing/2014/main" val="3847934011"/>
                    </a:ext>
                  </a:extLst>
                </a:gridCol>
                <a:gridCol w="1214493">
                  <a:extLst>
                    <a:ext uri="{9D8B030D-6E8A-4147-A177-3AD203B41FA5}">
                      <a16:colId xmlns:a16="http://schemas.microsoft.com/office/drawing/2014/main" val="3445794572"/>
                    </a:ext>
                  </a:extLst>
                </a:gridCol>
                <a:gridCol w="1683327">
                  <a:extLst>
                    <a:ext uri="{9D8B030D-6E8A-4147-A177-3AD203B41FA5}">
                      <a16:colId xmlns:a16="http://schemas.microsoft.com/office/drawing/2014/main" val="2558922256"/>
                    </a:ext>
                  </a:extLst>
                </a:gridCol>
                <a:gridCol w="1731818">
                  <a:extLst>
                    <a:ext uri="{9D8B030D-6E8A-4147-A177-3AD203B41FA5}">
                      <a16:colId xmlns:a16="http://schemas.microsoft.com/office/drawing/2014/main" val="192063204"/>
                    </a:ext>
                  </a:extLst>
                </a:gridCol>
                <a:gridCol w="1574806">
                  <a:extLst>
                    <a:ext uri="{9D8B030D-6E8A-4147-A177-3AD203B41FA5}">
                      <a16:colId xmlns:a16="http://schemas.microsoft.com/office/drawing/2014/main" val="2335919094"/>
                    </a:ext>
                  </a:extLst>
                </a:gridCol>
                <a:gridCol w="995212">
                  <a:extLst>
                    <a:ext uri="{9D8B030D-6E8A-4147-A177-3AD203B41FA5}">
                      <a16:colId xmlns:a16="http://schemas.microsoft.com/office/drawing/2014/main" val="1101018154"/>
                    </a:ext>
                  </a:extLst>
                </a:gridCol>
              </a:tblGrid>
              <a:tr h="486717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noProof="0" dirty="0">
                          <a:solidFill>
                            <a:srgbClr val="1B212C"/>
                          </a:solidFill>
                          <a:latin typeface="Montserrat" pitchFamily="2" charset="77"/>
                        </a:rPr>
                        <a:t>17</a:t>
                      </a: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C7A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noProof="0" dirty="0">
                          <a:solidFill>
                            <a:srgbClr val="1B212C"/>
                          </a:solidFill>
                          <a:latin typeface="Montserrat" pitchFamily="2" charset="77"/>
                        </a:rPr>
                        <a:t>Arrive Event 1 (ET:17)</a:t>
                      </a:r>
                    </a:p>
                  </a:txBody>
                  <a:tcPr marL="91425" marR="91425" marT="91425" marB="9142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C7A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noProof="0" dirty="0">
                          <a:solidFill>
                            <a:srgbClr val="1B212C"/>
                          </a:solidFill>
                          <a:latin typeface="Montserrat" pitchFamily="2" charset="77"/>
                        </a:rPr>
                        <a:t>Nothing sent yet</a:t>
                      </a:r>
                    </a:p>
                  </a:txBody>
                  <a:tcPr marL="91425" marR="91425" marT="91425" marB="9142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C7A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noProof="0">
                          <a:solidFill>
                            <a:srgbClr val="1B212C"/>
                          </a:solidFill>
                          <a:latin typeface="Montserrat" pitchFamily="2" charset="77"/>
                        </a:rPr>
                        <a:t>[ ]</a:t>
                      </a:r>
                    </a:p>
                  </a:txBody>
                  <a:tcPr marL="91425" marR="91425" marT="91425" marB="9142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C7A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noProof="0">
                          <a:solidFill>
                            <a:srgbClr val="1B212C"/>
                          </a:solidFill>
                          <a:latin typeface="Montserrat" pitchFamily="2" charset="77"/>
                        </a:rPr>
                        <a:t>—</a:t>
                      </a:r>
                    </a:p>
                  </a:txBody>
                  <a:tcPr marL="91425" marR="91425" marT="91425" marB="9142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C7A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noProof="0">
                          <a:solidFill>
                            <a:srgbClr val="1B212C"/>
                          </a:solidFill>
                          <a:latin typeface="Montserrat" pitchFamily="2" charset="77"/>
                        </a:rPr>
                        <a:t>[Event 1]</a:t>
                      </a:r>
                    </a:p>
                  </a:txBody>
                  <a:tcPr marL="91425" marR="91425" marT="91425" marB="9142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C7A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noProof="0" dirty="0">
                          <a:solidFill>
                            <a:srgbClr val="1B212C"/>
                          </a:solidFill>
                          <a:latin typeface="Montserrat" pitchFamily="2" charset="77"/>
                        </a:rPr>
                        <a:t>—</a:t>
                      </a:r>
                    </a:p>
                  </a:txBody>
                  <a:tcPr marL="91425" marR="91425" marT="91425" marB="9142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C7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9561587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10E4890-9AD1-D157-71F2-88B0CC3D53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367784"/>
              </p:ext>
            </p:extLst>
          </p:nvPr>
        </p:nvGraphicFramePr>
        <p:xfrm>
          <a:off x="17321" y="2786151"/>
          <a:ext cx="9105897" cy="345664"/>
        </p:xfrm>
        <a:graphic>
          <a:graphicData uri="http://schemas.openxmlformats.org/drawingml/2006/table">
            <a:tbl>
              <a:tblPr>
                <a:noFill/>
                <a:tableStyleId>{1D0A32A6-33CC-43D0-9E1B-FCB90422735E}</a:tableStyleId>
              </a:tblPr>
              <a:tblGrid>
                <a:gridCol w="579645">
                  <a:extLst>
                    <a:ext uri="{9D8B030D-6E8A-4147-A177-3AD203B41FA5}">
                      <a16:colId xmlns:a16="http://schemas.microsoft.com/office/drawing/2014/main" val="478930473"/>
                    </a:ext>
                  </a:extLst>
                </a:gridCol>
                <a:gridCol w="1321853">
                  <a:extLst>
                    <a:ext uri="{9D8B030D-6E8A-4147-A177-3AD203B41FA5}">
                      <a16:colId xmlns:a16="http://schemas.microsoft.com/office/drawing/2014/main" val="3427407680"/>
                    </a:ext>
                  </a:extLst>
                </a:gridCol>
                <a:gridCol w="1219236">
                  <a:extLst>
                    <a:ext uri="{9D8B030D-6E8A-4147-A177-3AD203B41FA5}">
                      <a16:colId xmlns:a16="http://schemas.microsoft.com/office/drawing/2014/main" val="3494924247"/>
                    </a:ext>
                  </a:extLst>
                </a:gridCol>
                <a:gridCol w="1690254">
                  <a:extLst>
                    <a:ext uri="{9D8B030D-6E8A-4147-A177-3AD203B41FA5}">
                      <a16:colId xmlns:a16="http://schemas.microsoft.com/office/drawing/2014/main" val="627012380"/>
                    </a:ext>
                  </a:extLst>
                </a:gridCol>
                <a:gridCol w="1724891">
                  <a:extLst>
                    <a:ext uri="{9D8B030D-6E8A-4147-A177-3AD203B41FA5}">
                      <a16:colId xmlns:a16="http://schemas.microsoft.com/office/drawing/2014/main" val="798888385"/>
                    </a:ext>
                  </a:extLst>
                </a:gridCol>
                <a:gridCol w="1581150">
                  <a:extLst>
                    <a:ext uri="{9D8B030D-6E8A-4147-A177-3AD203B41FA5}">
                      <a16:colId xmlns:a16="http://schemas.microsoft.com/office/drawing/2014/main" val="3260407815"/>
                    </a:ext>
                  </a:extLst>
                </a:gridCol>
                <a:gridCol w="988868">
                  <a:extLst>
                    <a:ext uri="{9D8B030D-6E8A-4147-A177-3AD203B41FA5}">
                      <a16:colId xmlns:a16="http://schemas.microsoft.com/office/drawing/2014/main" val="3808030172"/>
                    </a:ext>
                  </a:extLst>
                </a:gridCol>
              </a:tblGrid>
              <a:tr h="301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noProof="0" dirty="0">
                          <a:solidFill>
                            <a:srgbClr val="1B212C"/>
                          </a:solidFill>
                          <a:latin typeface="Montserrat" pitchFamily="2" charset="77"/>
                        </a:rPr>
                        <a:t>20</a:t>
                      </a: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C7A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noProof="0" dirty="0">
                          <a:solidFill>
                            <a:srgbClr val="1B212C"/>
                          </a:solidFill>
                          <a:latin typeface="Montserrat" pitchFamily="2" charset="77"/>
                        </a:rPr>
                        <a:t>Arrive Event 2 (ET:8)</a:t>
                      </a:r>
                    </a:p>
                  </a:txBody>
                  <a:tcPr marL="91425" marR="91425" marT="91425" marB="9142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C7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noProof="0" dirty="0">
                          <a:solidFill>
                            <a:srgbClr val="1B212C"/>
                          </a:solidFill>
                          <a:latin typeface="Montserrat" pitchFamily="2" charset="77"/>
                        </a:rPr>
                        <a:t>Nothing sent yet</a:t>
                      </a:r>
                    </a:p>
                  </a:txBody>
                  <a:tcPr marL="91425" marR="91425" marT="91425" marB="9142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C7A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noProof="0" dirty="0">
                          <a:solidFill>
                            <a:srgbClr val="1B212C"/>
                          </a:solidFill>
                          <a:latin typeface="Montserrat" pitchFamily="2" charset="77"/>
                        </a:rPr>
                        <a:t>[Event 1]</a:t>
                      </a:r>
                    </a:p>
                  </a:txBody>
                  <a:tcPr marL="91425" marR="91425" marT="91425" marB="9142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C7A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noProof="0">
                          <a:solidFill>
                            <a:srgbClr val="1B212C"/>
                          </a:solidFill>
                          <a:latin typeface="Montserrat" pitchFamily="2" charset="77"/>
                        </a:rPr>
                        <a:t>20-17=3&lt;5, Hold Event 1</a:t>
                      </a:r>
                    </a:p>
                  </a:txBody>
                  <a:tcPr marL="91425" marR="91425" marT="91425" marB="9142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C7A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noProof="0">
                          <a:solidFill>
                            <a:srgbClr val="1B212C"/>
                          </a:solidFill>
                          <a:latin typeface="Montserrat" pitchFamily="2" charset="77"/>
                        </a:rPr>
                        <a:t>[Event 2, Event 1]</a:t>
                      </a:r>
                    </a:p>
                  </a:txBody>
                  <a:tcPr marL="91425" marR="91425" marT="91425" marB="9142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C7A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noProof="0" dirty="0">
                          <a:solidFill>
                            <a:srgbClr val="1B212C"/>
                          </a:solidFill>
                          <a:latin typeface="Montserrat" pitchFamily="2" charset="77"/>
                        </a:rPr>
                        <a:t>—</a:t>
                      </a:r>
                    </a:p>
                  </a:txBody>
                  <a:tcPr marL="91425" marR="91425" marT="91425" marB="9142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C7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196598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D25FB46-75EC-8EC6-AD8A-E99D13384B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0108738"/>
              </p:ext>
            </p:extLst>
          </p:nvPr>
        </p:nvGraphicFramePr>
        <p:xfrm>
          <a:off x="17317" y="3137905"/>
          <a:ext cx="9109361" cy="329345"/>
        </p:xfrm>
        <a:graphic>
          <a:graphicData uri="http://schemas.openxmlformats.org/drawingml/2006/table">
            <a:tbl>
              <a:tblPr>
                <a:noFill/>
                <a:tableStyleId>{1D0A32A6-33CC-43D0-9E1B-FCB90422735E}</a:tableStyleId>
              </a:tblPr>
              <a:tblGrid>
                <a:gridCol w="575159">
                  <a:extLst>
                    <a:ext uri="{9D8B030D-6E8A-4147-A177-3AD203B41FA5}">
                      <a16:colId xmlns:a16="http://schemas.microsoft.com/office/drawing/2014/main" val="3587315572"/>
                    </a:ext>
                  </a:extLst>
                </a:gridCol>
                <a:gridCol w="1335818">
                  <a:extLst>
                    <a:ext uri="{9D8B030D-6E8A-4147-A177-3AD203B41FA5}">
                      <a16:colId xmlns:a16="http://schemas.microsoft.com/office/drawing/2014/main" val="233942385"/>
                    </a:ext>
                  </a:extLst>
                </a:gridCol>
                <a:gridCol w="1209761">
                  <a:extLst>
                    <a:ext uri="{9D8B030D-6E8A-4147-A177-3AD203B41FA5}">
                      <a16:colId xmlns:a16="http://schemas.microsoft.com/office/drawing/2014/main" val="2308884179"/>
                    </a:ext>
                  </a:extLst>
                </a:gridCol>
                <a:gridCol w="1690254">
                  <a:extLst>
                    <a:ext uri="{9D8B030D-6E8A-4147-A177-3AD203B41FA5}">
                      <a16:colId xmlns:a16="http://schemas.microsoft.com/office/drawing/2014/main" val="1838392055"/>
                    </a:ext>
                  </a:extLst>
                </a:gridCol>
                <a:gridCol w="1731818">
                  <a:extLst>
                    <a:ext uri="{9D8B030D-6E8A-4147-A177-3AD203B41FA5}">
                      <a16:colId xmlns:a16="http://schemas.microsoft.com/office/drawing/2014/main" val="3345783042"/>
                    </a:ext>
                  </a:extLst>
                </a:gridCol>
                <a:gridCol w="1580573">
                  <a:extLst>
                    <a:ext uri="{9D8B030D-6E8A-4147-A177-3AD203B41FA5}">
                      <a16:colId xmlns:a16="http://schemas.microsoft.com/office/drawing/2014/main" val="1666656033"/>
                    </a:ext>
                  </a:extLst>
                </a:gridCol>
                <a:gridCol w="985978">
                  <a:extLst>
                    <a:ext uri="{9D8B030D-6E8A-4147-A177-3AD203B41FA5}">
                      <a16:colId xmlns:a16="http://schemas.microsoft.com/office/drawing/2014/main" val="1283009599"/>
                    </a:ext>
                  </a:extLst>
                </a:gridCol>
              </a:tblGrid>
              <a:tr h="301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noProof="0" dirty="0">
                          <a:solidFill>
                            <a:srgbClr val="1B212C"/>
                          </a:solidFill>
                          <a:latin typeface="Montserrat" pitchFamily="2" charset="77"/>
                        </a:rPr>
                        <a:t>30</a:t>
                      </a: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C7A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noProof="0" dirty="0">
                          <a:solidFill>
                            <a:srgbClr val="1B212C"/>
                          </a:solidFill>
                          <a:latin typeface="Montserrat" pitchFamily="2" charset="77"/>
                        </a:rPr>
                        <a:t>Arrive Event 3 (ET:30)</a:t>
                      </a:r>
                    </a:p>
                  </a:txBody>
                  <a:tcPr marL="91425" marR="91425" marT="91425" marB="9142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C7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noProof="0" dirty="0">
                          <a:solidFill>
                            <a:srgbClr val="1B212C"/>
                          </a:solidFill>
                          <a:latin typeface="Montserrat" pitchFamily="2" charset="77"/>
                        </a:rPr>
                        <a:t>Nothing sent yet</a:t>
                      </a:r>
                    </a:p>
                  </a:txBody>
                  <a:tcPr marL="91425" marR="91425" marT="91425" marB="9142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C7A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noProof="0">
                          <a:solidFill>
                            <a:srgbClr val="1B212C"/>
                          </a:solidFill>
                          <a:latin typeface="Montserrat" pitchFamily="2" charset="77"/>
                        </a:rPr>
                        <a:t>[Event 2, Event 1]</a:t>
                      </a:r>
                    </a:p>
                  </a:txBody>
                  <a:tcPr marL="91425" marR="91425" marT="91425" marB="9142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C7A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noProof="0" dirty="0">
                          <a:solidFill>
                            <a:srgbClr val="1B212C"/>
                          </a:solidFill>
                          <a:latin typeface="Montserrat" pitchFamily="2" charset="77"/>
                        </a:rPr>
                        <a:t>30-20=10&gt;5, </a:t>
                      </a:r>
                      <a:r>
                        <a:rPr lang="en-US" sz="800" noProof="0" dirty="0">
                          <a:solidFill>
                            <a:schemeClr val="dk1"/>
                          </a:solidFill>
                          <a:latin typeface="Montserrat" pitchFamily="2" charset="77"/>
                        </a:rPr>
                        <a:t>Release </a:t>
                      </a:r>
                      <a:r>
                        <a:rPr lang="en-US" sz="800" noProof="0" dirty="0">
                          <a:solidFill>
                            <a:srgbClr val="1B212C"/>
                          </a:solidFill>
                          <a:latin typeface="Montserrat" pitchFamily="2" charset="77"/>
                        </a:rPr>
                        <a:t>Event 2 </a:t>
                      </a:r>
                    </a:p>
                  </a:txBody>
                  <a:tcPr marL="91425" marR="91425" marT="91425" marB="9142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C7A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noProof="0">
                          <a:solidFill>
                            <a:srgbClr val="1B212C"/>
                          </a:solidFill>
                          <a:latin typeface="Montserrat" pitchFamily="2" charset="77"/>
                        </a:rPr>
                        <a:t>[Event 1, Event 3]</a:t>
                      </a:r>
                    </a:p>
                  </a:txBody>
                  <a:tcPr marL="91425" marR="91425" marT="91425" marB="9142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C7A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noProof="0" dirty="0">
                          <a:solidFill>
                            <a:srgbClr val="1B212C"/>
                          </a:solidFill>
                          <a:latin typeface="Montserrat" pitchFamily="2" charset="77"/>
                        </a:rPr>
                        <a:t>Event 2</a:t>
                      </a:r>
                    </a:p>
                  </a:txBody>
                  <a:tcPr marL="91425" marR="91425" marT="91425" marB="9142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C7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259684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284AD7E-9913-A639-831C-C0EEEF28CC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7763497"/>
              </p:ext>
            </p:extLst>
          </p:nvPr>
        </p:nvGraphicFramePr>
        <p:xfrm>
          <a:off x="5703757" y="64625"/>
          <a:ext cx="3317401" cy="1645920"/>
        </p:xfrm>
        <a:graphic>
          <a:graphicData uri="http://schemas.openxmlformats.org/drawingml/2006/table">
            <a:tbl>
              <a:tblPr firstRow="1" bandRow="1">
                <a:tableStyleId>{1D0A32A6-33CC-43D0-9E1B-FCB90422735E}</a:tableStyleId>
              </a:tblPr>
              <a:tblGrid>
                <a:gridCol w="1012528">
                  <a:extLst>
                    <a:ext uri="{9D8B030D-6E8A-4147-A177-3AD203B41FA5}">
                      <a16:colId xmlns:a16="http://schemas.microsoft.com/office/drawing/2014/main" val="15692871"/>
                    </a:ext>
                  </a:extLst>
                </a:gridCol>
                <a:gridCol w="1248690">
                  <a:extLst>
                    <a:ext uri="{9D8B030D-6E8A-4147-A177-3AD203B41FA5}">
                      <a16:colId xmlns:a16="http://schemas.microsoft.com/office/drawing/2014/main" val="183602579"/>
                    </a:ext>
                  </a:extLst>
                </a:gridCol>
                <a:gridCol w="1056183">
                  <a:extLst>
                    <a:ext uri="{9D8B030D-6E8A-4147-A177-3AD203B41FA5}">
                      <a16:colId xmlns:a16="http://schemas.microsoft.com/office/drawing/2014/main" val="3669425249"/>
                    </a:ext>
                  </a:extLst>
                </a:gridCol>
              </a:tblGrid>
              <a:tr h="216592">
                <a:tc gridSpan="3">
                  <a:txBody>
                    <a:bodyPr/>
                    <a:lstStyle/>
                    <a:p>
                      <a:pPr algn="ctr"/>
                      <a:r>
                        <a:rPr lang="en-US" sz="1200" b="1" noProof="0" dirty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Input stream</a:t>
                      </a:r>
                      <a:endParaRPr lang="en-GR" sz="12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R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R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747462"/>
                  </a:ext>
                </a:extLst>
              </a:tr>
              <a:tr h="2165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R" sz="1200">
                          <a:solidFill>
                            <a:schemeClr val="bg1"/>
                          </a:solidFill>
                        </a:rPr>
                        <a:t>Event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R" sz="1200">
                          <a:solidFill>
                            <a:schemeClr val="bg1"/>
                          </a:solidFill>
                        </a:rPr>
                        <a:t>Event Time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R" sz="1200">
                          <a:solidFill>
                            <a:schemeClr val="bg1"/>
                          </a:solidFill>
                        </a:rPr>
                        <a:t>Arrival Time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3392986"/>
                  </a:ext>
                </a:extLst>
              </a:tr>
              <a:tr h="216592">
                <a:tc>
                  <a:txBody>
                    <a:bodyPr/>
                    <a:lstStyle/>
                    <a:p>
                      <a:r>
                        <a:rPr lang="en-GR" sz="1200">
                          <a:solidFill>
                            <a:schemeClr val="bg1"/>
                          </a:solidFill>
                        </a:rPr>
                        <a:t>Event 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R" sz="1200">
                          <a:solidFill>
                            <a:schemeClr val="bg1"/>
                          </a:solidFill>
                        </a:rPr>
                        <a:t>17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R" sz="1200">
                          <a:solidFill>
                            <a:schemeClr val="bg1"/>
                          </a:solidFill>
                        </a:rPr>
                        <a:t>17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3679923"/>
                  </a:ext>
                </a:extLst>
              </a:tr>
              <a:tr h="216592">
                <a:tc>
                  <a:txBody>
                    <a:bodyPr/>
                    <a:lstStyle/>
                    <a:p>
                      <a:r>
                        <a:rPr lang="en-GR" sz="1200">
                          <a:solidFill>
                            <a:schemeClr val="bg1"/>
                          </a:solidFill>
                        </a:rPr>
                        <a:t>Event 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R" sz="120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R" sz="1200">
                          <a:solidFill>
                            <a:schemeClr val="bg1"/>
                          </a:solidFill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1939794"/>
                  </a:ext>
                </a:extLst>
              </a:tr>
              <a:tr h="216592">
                <a:tc>
                  <a:txBody>
                    <a:bodyPr/>
                    <a:lstStyle/>
                    <a:p>
                      <a:r>
                        <a:rPr lang="en-GR" sz="1200">
                          <a:solidFill>
                            <a:schemeClr val="bg1"/>
                          </a:solidFill>
                        </a:rPr>
                        <a:t>Event 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R" sz="1200">
                          <a:solidFill>
                            <a:schemeClr val="bg1"/>
                          </a:solidFill>
                        </a:rPr>
                        <a:t>30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R" sz="1200">
                          <a:solidFill>
                            <a:schemeClr val="bg1"/>
                          </a:solidFill>
                        </a:rPr>
                        <a:t>30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1004748"/>
                  </a:ext>
                </a:extLst>
              </a:tr>
              <a:tr h="216592">
                <a:tc>
                  <a:txBody>
                    <a:bodyPr/>
                    <a:lstStyle/>
                    <a:p>
                      <a:r>
                        <a:rPr lang="en-GR" sz="1200">
                          <a:solidFill>
                            <a:schemeClr val="bg1"/>
                          </a:solidFill>
                        </a:rPr>
                        <a:t>Event 4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R" sz="120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R" sz="1200">
                          <a:solidFill>
                            <a:schemeClr val="bg1"/>
                          </a:solidFill>
                        </a:rPr>
                        <a:t>32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985312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BC001CE-6966-20AA-E784-289E870595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9699671"/>
              </p:ext>
            </p:extLst>
          </p:nvPr>
        </p:nvGraphicFramePr>
        <p:xfrm>
          <a:off x="17316" y="3473340"/>
          <a:ext cx="9105896" cy="345664"/>
        </p:xfrm>
        <a:graphic>
          <a:graphicData uri="http://schemas.openxmlformats.org/drawingml/2006/table">
            <a:tbl>
              <a:tblPr>
                <a:noFill/>
                <a:tableStyleId>{1D0A32A6-33CC-43D0-9E1B-FCB90422735E}</a:tableStyleId>
              </a:tblPr>
              <a:tblGrid>
                <a:gridCol w="571735">
                  <a:extLst>
                    <a:ext uri="{9D8B030D-6E8A-4147-A177-3AD203B41FA5}">
                      <a16:colId xmlns:a16="http://schemas.microsoft.com/office/drawing/2014/main" val="3090485107"/>
                    </a:ext>
                  </a:extLst>
                </a:gridCol>
                <a:gridCol w="1341348">
                  <a:extLst>
                    <a:ext uri="{9D8B030D-6E8A-4147-A177-3AD203B41FA5}">
                      <a16:colId xmlns:a16="http://schemas.microsoft.com/office/drawing/2014/main" val="2880240505"/>
                    </a:ext>
                  </a:extLst>
                </a:gridCol>
                <a:gridCol w="1207655">
                  <a:extLst>
                    <a:ext uri="{9D8B030D-6E8A-4147-A177-3AD203B41FA5}">
                      <a16:colId xmlns:a16="http://schemas.microsoft.com/office/drawing/2014/main" val="2833318144"/>
                    </a:ext>
                  </a:extLst>
                </a:gridCol>
                <a:gridCol w="1683327">
                  <a:extLst>
                    <a:ext uri="{9D8B030D-6E8A-4147-A177-3AD203B41FA5}">
                      <a16:colId xmlns:a16="http://schemas.microsoft.com/office/drawing/2014/main" val="1554996521"/>
                    </a:ext>
                  </a:extLst>
                </a:gridCol>
                <a:gridCol w="1738745">
                  <a:extLst>
                    <a:ext uri="{9D8B030D-6E8A-4147-A177-3AD203B41FA5}">
                      <a16:colId xmlns:a16="http://schemas.microsoft.com/office/drawing/2014/main" val="949763004"/>
                    </a:ext>
                  </a:extLst>
                </a:gridCol>
                <a:gridCol w="1586924">
                  <a:extLst>
                    <a:ext uri="{9D8B030D-6E8A-4147-A177-3AD203B41FA5}">
                      <a16:colId xmlns:a16="http://schemas.microsoft.com/office/drawing/2014/main" val="1920231670"/>
                    </a:ext>
                  </a:extLst>
                </a:gridCol>
                <a:gridCol w="976162">
                  <a:extLst>
                    <a:ext uri="{9D8B030D-6E8A-4147-A177-3AD203B41FA5}">
                      <a16:colId xmlns:a16="http://schemas.microsoft.com/office/drawing/2014/main" val="1902200000"/>
                    </a:ext>
                  </a:extLst>
                </a:gridCol>
              </a:tblGrid>
              <a:tr h="301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noProof="0" dirty="0">
                        <a:solidFill>
                          <a:srgbClr val="1B212C"/>
                        </a:solidFill>
                        <a:latin typeface="Montserrat" pitchFamily="2" charset="77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C7A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noProof="0" dirty="0">
                        <a:solidFill>
                          <a:srgbClr val="1B212C"/>
                        </a:solidFill>
                        <a:latin typeface="Montserrat" pitchFamily="2" charset="77"/>
                      </a:endParaRPr>
                    </a:p>
                  </a:txBody>
                  <a:tcPr marL="91425" marR="91425" marT="91425" marB="9142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C7A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noProof="0">
                        <a:solidFill>
                          <a:srgbClr val="1B212C"/>
                        </a:solidFill>
                        <a:latin typeface="Montserrat" pitchFamily="2" charset="77"/>
                      </a:endParaRPr>
                    </a:p>
                  </a:txBody>
                  <a:tcPr marL="91425" marR="91425" marT="91425" marB="9142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C7A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noProof="0" dirty="0">
                          <a:solidFill>
                            <a:srgbClr val="1B212C"/>
                          </a:solidFill>
                          <a:latin typeface="Montserrat" pitchFamily="2" charset="77"/>
                        </a:rPr>
                        <a:t>[Event 1, Event 3]</a:t>
                      </a:r>
                    </a:p>
                  </a:txBody>
                  <a:tcPr marL="91425" marR="91425" marT="91425" marB="9142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C7A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noProof="0" dirty="0">
                          <a:solidFill>
                            <a:srgbClr val="1B212C"/>
                          </a:solidFill>
                          <a:latin typeface="Montserrat" pitchFamily="2" charset="77"/>
                        </a:rPr>
                        <a:t>30-17=13&gt;5, </a:t>
                      </a:r>
                      <a:r>
                        <a:rPr lang="en-US" sz="900" noProof="0" dirty="0">
                          <a:solidFill>
                            <a:schemeClr val="dk1"/>
                          </a:solidFill>
                          <a:latin typeface="Montserrat" pitchFamily="2" charset="77"/>
                        </a:rPr>
                        <a:t>Release </a:t>
                      </a:r>
                      <a:r>
                        <a:rPr lang="en-US" sz="900" noProof="0" dirty="0">
                          <a:solidFill>
                            <a:srgbClr val="1B212C"/>
                          </a:solidFill>
                          <a:latin typeface="Montserrat" pitchFamily="2" charset="77"/>
                        </a:rPr>
                        <a:t>Event 1</a:t>
                      </a:r>
                    </a:p>
                  </a:txBody>
                  <a:tcPr marL="91425" marR="91425" marT="91425" marB="9142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C7A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noProof="0" dirty="0">
                          <a:solidFill>
                            <a:srgbClr val="1B212C"/>
                          </a:solidFill>
                          <a:latin typeface="Montserrat" pitchFamily="2" charset="77"/>
                        </a:rPr>
                        <a:t>[Event 3]</a:t>
                      </a:r>
                    </a:p>
                  </a:txBody>
                  <a:tcPr marL="91425" marR="91425" marT="91425" marB="9142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C7A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noProof="0" dirty="0">
                          <a:solidFill>
                            <a:srgbClr val="1B212C"/>
                          </a:solidFill>
                          <a:latin typeface="Montserrat" pitchFamily="2" charset="77"/>
                        </a:rPr>
                        <a:t>Event 1</a:t>
                      </a:r>
                    </a:p>
                  </a:txBody>
                  <a:tcPr marL="91425" marR="91425" marT="91425" marB="9142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C7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9973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6B08ACE-0BE1-B15C-3F92-188C9CFC3F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5193630"/>
              </p:ext>
            </p:extLst>
          </p:nvPr>
        </p:nvGraphicFramePr>
        <p:xfrm>
          <a:off x="13851" y="3819004"/>
          <a:ext cx="9105896" cy="487079"/>
        </p:xfrm>
        <a:graphic>
          <a:graphicData uri="http://schemas.openxmlformats.org/drawingml/2006/table">
            <a:tbl>
              <a:tblPr>
                <a:noFill/>
                <a:tableStyleId>{1D0A32A6-33CC-43D0-9E1B-FCB90422735E}</a:tableStyleId>
              </a:tblPr>
              <a:tblGrid>
                <a:gridCol w="570349">
                  <a:extLst>
                    <a:ext uri="{9D8B030D-6E8A-4147-A177-3AD203B41FA5}">
                      <a16:colId xmlns:a16="http://schemas.microsoft.com/office/drawing/2014/main" val="3090485107"/>
                    </a:ext>
                  </a:extLst>
                </a:gridCol>
                <a:gridCol w="1347815">
                  <a:extLst>
                    <a:ext uri="{9D8B030D-6E8A-4147-A177-3AD203B41FA5}">
                      <a16:colId xmlns:a16="http://schemas.microsoft.com/office/drawing/2014/main" val="2880240505"/>
                    </a:ext>
                  </a:extLst>
                </a:gridCol>
                <a:gridCol w="1209502">
                  <a:extLst>
                    <a:ext uri="{9D8B030D-6E8A-4147-A177-3AD203B41FA5}">
                      <a16:colId xmlns:a16="http://schemas.microsoft.com/office/drawing/2014/main" val="1182322637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1554996521"/>
                    </a:ext>
                  </a:extLst>
                </a:gridCol>
                <a:gridCol w="1745673">
                  <a:extLst>
                    <a:ext uri="{9D8B030D-6E8A-4147-A177-3AD203B41FA5}">
                      <a16:colId xmlns:a16="http://schemas.microsoft.com/office/drawing/2014/main" val="949763004"/>
                    </a:ext>
                  </a:extLst>
                </a:gridCol>
                <a:gridCol w="1589810">
                  <a:extLst>
                    <a:ext uri="{9D8B030D-6E8A-4147-A177-3AD203B41FA5}">
                      <a16:colId xmlns:a16="http://schemas.microsoft.com/office/drawing/2014/main" val="1920231670"/>
                    </a:ext>
                  </a:extLst>
                </a:gridCol>
                <a:gridCol w="966347">
                  <a:extLst>
                    <a:ext uri="{9D8B030D-6E8A-4147-A177-3AD203B41FA5}">
                      <a16:colId xmlns:a16="http://schemas.microsoft.com/office/drawing/2014/main" val="1902200000"/>
                    </a:ext>
                  </a:extLst>
                </a:gridCol>
              </a:tblGrid>
              <a:tr h="301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noProof="0" dirty="0">
                          <a:solidFill>
                            <a:srgbClr val="1B212C"/>
                          </a:solidFill>
                          <a:latin typeface="Montserrat" pitchFamily="2" charset="77"/>
                        </a:rPr>
                        <a:t>32</a:t>
                      </a: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C7A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noProof="0" dirty="0">
                          <a:solidFill>
                            <a:srgbClr val="1B212C"/>
                          </a:solidFill>
                          <a:latin typeface="Montserrat" pitchFamily="2" charset="77"/>
                        </a:rPr>
                        <a:t>Arrive Event 4 (ET:10)</a:t>
                      </a:r>
                    </a:p>
                  </a:txBody>
                  <a:tcPr marL="91425" marR="91425" marT="91425" marB="9142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C7A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noProof="0" dirty="0">
                          <a:solidFill>
                            <a:srgbClr val="1B212C"/>
                          </a:solidFill>
                          <a:latin typeface="Montserrat" pitchFamily="2" charset="77"/>
                        </a:rPr>
                        <a:t>ET</a:t>
                      </a:r>
                      <a:r>
                        <a:rPr lang="en-US" sz="900" baseline="-25000" noProof="0" dirty="0">
                          <a:solidFill>
                            <a:srgbClr val="1B212C"/>
                          </a:solidFill>
                          <a:latin typeface="Montserrat" pitchFamily="2" charset="77"/>
                        </a:rPr>
                        <a:t>1</a:t>
                      </a:r>
                      <a:r>
                        <a:rPr lang="en-US" sz="900" baseline="0" noProof="0" dirty="0">
                          <a:solidFill>
                            <a:srgbClr val="1B212C"/>
                          </a:solidFill>
                          <a:latin typeface="Montserrat" pitchFamily="2" charset="77"/>
                        </a:rPr>
                        <a:t>=17 &gt; </a:t>
                      </a:r>
                      <a:r>
                        <a:rPr lang="en-US" sz="900" noProof="0" dirty="0">
                          <a:solidFill>
                            <a:srgbClr val="1B212C"/>
                          </a:solidFill>
                          <a:latin typeface="Montserrat" pitchFamily="2" charset="77"/>
                        </a:rPr>
                        <a:t>ET</a:t>
                      </a:r>
                      <a:r>
                        <a:rPr lang="en-US" sz="900" baseline="-25000" noProof="0" dirty="0">
                          <a:solidFill>
                            <a:srgbClr val="1B212C"/>
                          </a:solidFill>
                          <a:latin typeface="Montserrat" pitchFamily="2" charset="77"/>
                        </a:rPr>
                        <a:t>4</a:t>
                      </a:r>
                      <a:r>
                        <a:rPr lang="en-US" sz="900" baseline="0" noProof="0" dirty="0">
                          <a:solidFill>
                            <a:srgbClr val="1B212C"/>
                          </a:solidFill>
                          <a:latin typeface="Montserrat" pitchFamily="2" charset="77"/>
                        </a:rPr>
                        <a:t>=10 </a:t>
                      </a:r>
                      <a:r>
                        <a:rPr lang="en-US" sz="900" b="1" baseline="0" noProof="0" dirty="0">
                          <a:solidFill>
                            <a:srgbClr val="1B212C"/>
                          </a:solidFill>
                          <a:latin typeface="Montserrat" pitchFamily="2" charset="77"/>
                        </a:rPr>
                        <a:t>DROP</a:t>
                      </a:r>
                      <a:endParaRPr lang="en-US" sz="900" b="1" noProof="0" dirty="0">
                        <a:solidFill>
                          <a:srgbClr val="1B212C"/>
                        </a:solidFill>
                        <a:latin typeface="Montserrat" pitchFamily="2" charset="77"/>
                      </a:endParaRPr>
                    </a:p>
                  </a:txBody>
                  <a:tcPr marL="91425" marR="91425" marT="91425" marB="9142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C7A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noProof="0" dirty="0">
                          <a:solidFill>
                            <a:srgbClr val="1B212C"/>
                          </a:solidFill>
                          <a:latin typeface="Montserrat" pitchFamily="2" charset="77"/>
                        </a:rPr>
                        <a:t>[Event 3]</a:t>
                      </a:r>
                    </a:p>
                  </a:txBody>
                  <a:tcPr marL="91425" marR="91425" marT="91425" marB="9142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C7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noProof="0">
                          <a:solidFill>
                            <a:srgbClr val="1B212C"/>
                          </a:solidFill>
                          <a:latin typeface="Montserrat" pitchFamily="2" charset="77"/>
                        </a:rPr>
                        <a:t>—</a:t>
                      </a:r>
                    </a:p>
                  </a:txBody>
                  <a:tcPr marL="91425" marR="91425" marT="91425" marB="9142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C7A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noProof="0">
                          <a:solidFill>
                            <a:srgbClr val="1B212C"/>
                          </a:solidFill>
                          <a:latin typeface="Montserrat" pitchFamily="2" charset="77"/>
                        </a:rPr>
                        <a:t>[Event 3]</a:t>
                      </a:r>
                    </a:p>
                  </a:txBody>
                  <a:tcPr marL="91425" marR="91425" marT="91425" marB="9142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C7A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noProof="0" dirty="0">
                          <a:solidFill>
                            <a:srgbClr val="1B212C"/>
                          </a:solidFill>
                          <a:latin typeface="Montserrat" pitchFamily="2" charset="77"/>
                        </a:rPr>
                        <a:t>Event 1</a:t>
                      </a:r>
                    </a:p>
                  </a:txBody>
                  <a:tcPr marL="91425" marR="91425" marT="91425" marB="9142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C7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99734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6588CE8-910D-C791-E84F-3C047A7699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908057"/>
              </p:ext>
            </p:extLst>
          </p:nvPr>
        </p:nvGraphicFramePr>
        <p:xfrm>
          <a:off x="17317" y="4299964"/>
          <a:ext cx="9109361" cy="369373"/>
        </p:xfrm>
        <a:graphic>
          <a:graphicData uri="http://schemas.openxmlformats.org/drawingml/2006/table">
            <a:tbl>
              <a:tblPr>
                <a:noFill/>
                <a:tableStyleId>{1D0A32A6-33CC-43D0-9E1B-FCB90422735E}</a:tableStyleId>
              </a:tblPr>
              <a:tblGrid>
                <a:gridCol w="572618">
                  <a:extLst>
                    <a:ext uri="{9D8B030D-6E8A-4147-A177-3AD203B41FA5}">
                      <a16:colId xmlns:a16="http://schemas.microsoft.com/office/drawing/2014/main" val="2766286497"/>
                    </a:ext>
                  </a:extLst>
                </a:gridCol>
                <a:gridCol w="1337581">
                  <a:extLst>
                    <a:ext uri="{9D8B030D-6E8A-4147-A177-3AD203B41FA5}">
                      <a16:colId xmlns:a16="http://schemas.microsoft.com/office/drawing/2014/main" val="184430886"/>
                    </a:ext>
                  </a:extLst>
                </a:gridCol>
                <a:gridCol w="1210539">
                  <a:extLst>
                    <a:ext uri="{9D8B030D-6E8A-4147-A177-3AD203B41FA5}">
                      <a16:colId xmlns:a16="http://schemas.microsoft.com/office/drawing/2014/main" val="2215658263"/>
                    </a:ext>
                  </a:extLst>
                </a:gridCol>
                <a:gridCol w="1690254">
                  <a:extLst>
                    <a:ext uri="{9D8B030D-6E8A-4147-A177-3AD203B41FA5}">
                      <a16:colId xmlns:a16="http://schemas.microsoft.com/office/drawing/2014/main" val="153115800"/>
                    </a:ext>
                  </a:extLst>
                </a:gridCol>
                <a:gridCol w="1731818">
                  <a:extLst>
                    <a:ext uri="{9D8B030D-6E8A-4147-A177-3AD203B41FA5}">
                      <a16:colId xmlns:a16="http://schemas.microsoft.com/office/drawing/2014/main" val="3542185522"/>
                    </a:ext>
                  </a:extLst>
                </a:gridCol>
                <a:gridCol w="1599623">
                  <a:extLst>
                    <a:ext uri="{9D8B030D-6E8A-4147-A177-3AD203B41FA5}">
                      <a16:colId xmlns:a16="http://schemas.microsoft.com/office/drawing/2014/main" val="269752379"/>
                    </a:ext>
                  </a:extLst>
                </a:gridCol>
                <a:gridCol w="966928">
                  <a:extLst>
                    <a:ext uri="{9D8B030D-6E8A-4147-A177-3AD203B41FA5}">
                      <a16:colId xmlns:a16="http://schemas.microsoft.com/office/drawing/2014/main" val="3524749117"/>
                    </a:ext>
                  </a:extLst>
                </a:gridCol>
              </a:tblGrid>
              <a:tr h="369373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noProof="0" dirty="0">
                        <a:solidFill>
                          <a:srgbClr val="1B212C"/>
                        </a:solidFill>
                        <a:latin typeface="Montserrat" pitchFamily="2" charset="77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C7A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noProof="0" dirty="0">
                          <a:solidFill>
                            <a:srgbClr val="1B212C"/>
                          </a:solidFill>
                          <a:latin typeface="Montserrat" pitchFamily="2" charset="77"/>
                        </a:rPr>
                        <a:t>End of stream</a:t>
                      </a:r>
                    </a:p>
                  </a:txBody>
                  <a:tcPr marL="91425" marR="91425" marT="91425" marB="9142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C7A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900" noProof="0">
                        <a:solidFill>
                          <a:srgbClr val="1B212C"/>
                        </a:solidFill>
                        <a:latin typeface="Montserrat" pitchFamily="2" charset="77"/>
                      </a:endParaRPr>
                    </a:p>
                  </a:txBody>
                  <a:tcPr marL="91425" marR="91425" marT="91425" marB="9142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C7A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noProof="0" dirty="0">
                          <a:solidFill>
                            <a:srgbClr val="1B212C"/>
                          </a:solidFill>
                          <a:latin typeface="Montserrat" pitchFamily="2" charset="77"/>
                        </a:rPr>
                        <a:t>[Event 3]</a:t>
                      </a:r>
                    </a:p>
                  </a:txBody>
                  <a:tcPr marL="91425" marR="91425" marT="91425" marB="9142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C7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noProof="0">
                          <a:solidFill>
                            <a:schemeClr val="dk1"/>
                          </a:solidFill>
                          <a:latin typeface="Montserrat" pitchFamily="2" charset="77"/>
                        </a:rPr>
                        <a:t>Release </a:t>
                      </a:r>
                      <a:r>
                        <a:rPr lang="en-US" sz="900" noProof="0">
                          <a:solidFill>
                            <a:srgbClr val="1B212C"/>
                          </a:solidFill>
                          <a:latin typeface="Montserrat" pitchFamily="2" charset="77"/>
                        </a:rPr>
                        <a:t>Event 3</a:t>
                      </a:r>
                    </a:p>
                  </a:txBody>
                  <a:tcPr marL="91425" marR="91425" marT="91425" marB="9142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C7A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noProof="0">
                          <a:solidFill>
                            <a:srgbClr val="1B212C"/>
                          </a:solidFill>
                          <a:latin typeface="Montserrat" pitchFamily="2" charset="77"/>
                        </a:rPr>
                        <a:t>[ ]</a:t>
                      </a:r>
                    </a:p>
                  </a:txBody>
                  <a:tcPr marL="91425" marR="91425" marT="91425" marB="9142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C7A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noProof="0" dirty="0">
                          <a:solidFill>
                            <a:srgbClr val="1B212C"/>
                          </a:solidFill>
                          <a:latin typeface="Montserrat" pitchFamily="2" charset="77"/>
                        </a:rPr>
                        <a:t>Event 3</a:t>
                      </a:r>
                    </a:p>
                  </a:txBody>
                  <a:tcPr marL="91425" marR="91425" marT="91425" marB="9142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C7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5566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" grpId="0"/>
      <p:bldP spid="19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B93C5-C0E1-BE90-8267-CA826173F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500" y="7034"/>
            <a:ext cx="7174958" cy="490666"/>
          </a:xfrm>
        </p:spPr>
        <p:txBody>
          <a:bodyPr>
            <a:normAutofit fontScale="90000"/>
          </a:bodyPr>
          <a:lstStyle/>
          <a:p>
            <a:r>
              <a:rPr lang="en-US" noProof="0" dirty="0">
                <a:solidFill>
                  <a:schemeClr val="tx2"/>
                </a:solidFill>
              </a:rPr>
              <a:t>Dynamic quarantine policies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697A9-BFFF-3F58-42FC-7C8B26770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7500" y="497700"/>
            <a:ext cx="7038900" cy="4645800"/>
          </a:xfrm>
        </p:spPr>
        <p:txBody>
          <a:bodyPr>
            <a:normAutofit fontScale="92500" lnSpcReduction="20000"/>
          </a:bodyPr>
          <a:lstStyle/>
          <a:p>
            <a:pPr marL="146050" indent="0">
              <a:buNone/>
            </a:pPr>
            <a:r>
              <a:rPr lang="en-US" dirty="0">
                <a:latin typeface="Montserrat" pitchFamily="2" charset="77"/>
              </a:rPr>
              <a:t>We introduce </a:t>
            </a:r>
            <a:r>
              <a:rPr lang="en-US" dirty="0">
                <a:solidFill>
                  <a:schemeClr val="tx2"/>
                </a:solidFill>
                <a:latin typeface="Montserrat" pitchFamily="2" charset="77"/>
              </a:rPr>
              <a:t>new quarantine policies </a:t>
            </a:r>
            <a:r>
              <a:rPr lang="en-US" dirty="0">
                <a:latin typeface="Montserrat" pitchFamily="2" charset="77"/>
              </a:rPr>
              <a:t>that improve CORE’s performance. They </a:t>
            </a:r>
            <a:r>
              <a:rPr lang="en-US" dirty="0">
                <a:solidFill>
                  <a:schemeClr val="tx2"/>
                </a:solidFill>
                <a:latin typeface="Montserrat" pitchFamily="2" charset="77"/>
              </a:rPr>
              <a:t>reduce drops </a:t>
            </a:r>
            <a:r>
              <a:rPr lang="en-US" dirty="0">
                <a:solidFill>
                  <a:schemeClr val="bg1"/>
                </a:solidFill>
                <a:latin typeface="Montserrat" pitchFamily="2" charset="77"/>
              </a:rPr>
              <a:t>and</a:t>
            </a:r>
            <a:r>
              <a:rPr lang="en-US" dirty="0">
                <a:latin typeface="Montserrat" pitchFamily="2" charset="77"/>
              </a:rPr>
              <a:t> </a:t>
            </a:r>
            <a:r>
              <a:rPr lang="en-US" dirty="0">
                <a:solidFill>
                  <a:schemeClr val="tx2"/>
                </a:solidFill>
                <a:latin typeface="Montserrat" pitchFamily="2" charset="77"/>
              </a:rPr>
              <a:t>increase complex events </a:t>
            </a:r>
            <a:r>
              <a:rPr lang="en-US" dirty="0">
                <a:latin typeface="Montserrat" pitchFamily="2" charset="77"/>
              </a:rPr>
              <a:t>found, while </a:t>
            </a:r>
            <a:r>
              <a:rPr lang="en-US" dirty="0">
                <a:solidFill>
                  <a:schemeClr val="tx2"/>
                </a:solidFill>
                <a:latin typeface="Montserrat" pitchFamily="2" charset="77"/>
              </a:rPr>
              <a:t>execution time remains the same</a:t>
            </a:r>
            <a:r>
              <a:rPr lang="en-US" dirty="0">
                <a:solidFill>
                  <a:schemeClr val="bg1"/>
                </a:solidFill>
                <a:latin typeface="Montserrat" pitchFamily="2" charset="77"/>
              </a:rPr>
              <a:t> as existed quarantine policies</a:t>
            </a:r>
            <a:r>
              <a:rPr lang="en-US" dirty="0">
                <a:latin typeface="Montserrat" pitchFamily="2" charset="77"/>
              </a:rPr>
              <a:t> without adding extra overhead:</a:t>
            </a:r>
          </a:p>
          <a:p>
            <a:pPr marL="146050" indent="0">
              <a:buNone/>
            </a:pPr>
            <a:endParaRPr lang="en-US" dirty="0">
              <a:latin typeface="Montserrat" pitchFamily="2" charset="77"/>
            </a:endParaRPr>
          </a:p>
          <a:p>
            <a:pPr marL="488950" indent="-342900">
              <a:buFont typeface="+mj-lt"/>
              <a:buAutoNum type="arabicPeriod"/>
            </a:pPr>
            <a:r>
              <a:rPr lang="en-US" dirty="0">
                <a:latin typeface="Montserrat" pitchFamily="2" charset="77"/>
              </a:rPr>
              <a:t>Dynamic Average Policy (AVG, Mean)</a:t>
            </a:r>
          </a:p>
          <a:p>
            <a:pPr marL="488950" indent="-342900">
              <a:buFont typeface="+mj-lt"/>
              <a:buAutoNum type="arabicPeriod"/>
            </a:pPr>
            <a:endParaRPr lang="en-US" dirty="0">
              <a:latin typeface="Montserrat" pitchFamily="2" charset="77"/>
            </a:endParaRPr>
          </a:p>
          <a:p>
            <a:pPr marL="488950" indent="-342900">
              <a:buFont typeface="+mj-lt"/>
              <a:buAutoNum type="arabicPeriod"/>
            </a:pPr>
            <a:r>
              <a:rPr lang="en-US" dirty="0">
                <a:latin typeface="Montserrat" pitchFamily="2" charset="77"/>
              </a:rPr>
              <a:t>Dynamic p99-EMA Policy (p99-EMA)</a:t>
            </a:r>
          </a:p>
          <a:p>
            <a:pPr marL="488950" indent="-342900">
              <a:buFont typeface="+mj-lt"/>
              <a:buAutoNum type="arabicPeriod"/>
            </a:pPr>
            <a:endParaRPr lang="en-US" dirty="0">
              <a:latin typeface="Montserrat" pitchFamily="2" charset="77"/>
            </a:endParaRPr>
          </a:p>
          <a:p>
            <a:pPr marL="488950" indent="-342900">
              <a:buFont typeface="+mj-lt"/>
              <a:buAutoNum type="arabicPeriod"/>
            </a:pPr>
            <a:r>
              <a:rPr lang="en-US" dirty="0">
                <a:latin typeface="Montserrat" pitchFamily="2" charset="77"/>
              </a:rPr>
              <a:t>Dynamic MAX-EMA Policy (MAX-EMA)</a:t>
            </a:r>
          </a:p>
          <a:p>
            <a:pPr marL="488950" indent="-342900">
              <a:buFont typeface="+mj-lt"/>
              <a:buAutoNum type="arabicPeriod"/>
            </a:pPr>
            <a:endParaRPr lang="en-US" dirty="0">
              <a:latin typeface="Montserrat" pitchFamily="2" charset="77"/>
            </a:endParaRPr>
          </a:p>
          <a:p>
            <a:pPr marL="488950" indent="-342900">
              <a:buFont typeface="+mj-lt"/>
              <a:buAutoNum type="arabicPeriod"/>
            </a:pPr>
            <a:r>
              <a:rPr lang="en-US" dirty="0">
                <a:latin typeface="Montserrat" pitchFamily="2" charset="77"/>
              </a:rPr>
              <a:t>Dynamic MAX Policy (MAX)</a:t>
            </a:r>
          </a:p>
          <a:p>
            <a:pPr marL="488950" indent="-342900">
              <a:buFont typeface="+mj-lt"/>
              <a:buAutoNum type="arabicPeriod"/>
            </a:pPr>
            <a:endParaRPr lang="en-US" dirty="0">
              <a:latin typeface="Montserrat" pitchFamily="2" charset="77"/>
            </a:endParaRPr>
          </a:p>
          <a:p>
            <a:pPr marL="488950" indent="-342900">
              <a:buFont typeface="+mj-lt"/>
              <a:buAutoNum type="arabicPeriod"/>
            </a:pPr>
            <a:r>
              <a:rPr lang="en-US" dirty="0">
                <a:latin typeface="Montserrat" pitchFamily="2" charset="77"/>
              </a:rPr>
              <a:t>Dynamic Jump-and-Decay Policy (Jump/Decay)</a:t>
            </a:r>
          </a:p>
          <a:p>
            <a:pPr marL="488950" indent="-342900">
              <a:buFont typeface="+mj-lt"/>
              <a:buAutoNum type="arabicPeriod"/>
            </a:pPr>
            <a:endParaRPr lang="en-US" dirty="0">
              <a:latin typeface="Montserrat" pitchFamily="2" charset="77"/>
            </a:endParaRPr>
          </a:p>
          <a:p>
            <a:pPr marL="488950" indent="-342900">
              <a:buFont typeface="+mj-lt"/>
              <a:buAutoNum type="arabicPeriod"/>
            </a:pPr>
            <a:r>
              <a:rPr lang="en-US" dirty="0">
                <a:latin typeface="Montserrat" pitchFamily="2" charset="77"/>
              </a:rPr>
              <a:t>Dynamic Per-Event Policy (Per-Event)</a:t>
            </a:r>
          </a:p>
          <a:p>
            <a:pPr marL="146050" indent="0">
              <a:buNone/>
            </a:pPr>
            <a:endParaRPr lang="en-US" dirty="0">
              <a:latin typeface="Montserrat" pitchFamily="2" charset="77"/>
            </a:endParaRPr>
          </a:p>
          <a:p>
            <a:pPr marL="146050" indent="0">
              <a:buNone/>
            </a:pPr>
            <a:endParaRPr lang="en-US" dirty="0">
              <a:latin typeface="Montserrat" pitchFamily="2" charset="77"/>
            </a:endParaRPr>
          </a:p>
          <a:p>
            <a:pPr marL="146050" indent="0">
              <a:buNone/>
            </a:pPr>
            <a:r>
              <a:rPr lang="en-US" dirty="0">
                <a:latin typeface="Montserrat" pitchFamily="2" charset="77"/>
              </a:rPr>
              <a:t>All new quarantine policies have in common:</a:t>
            </a:r>
          </a:p>
          <a:p>
            <a:pPr marL="146050" indent="0">
              <a:buNone/>
            </a:pPr>
            <a:endParaRPr lang="en-US" dirty="0">
              <a:latin typeface="Montserrat" pitchFamily="2" charset="77"/>
            </a:endParaRPr>
          </a:p>
          <a:p>
            <a:r>
              <a:rPr lang="en-US" dirty="0">
                <a:latin typeface="Montserrat" pitchFamily="2" charset="77"/>
              </a:rPr>
              <a:t>A </a:t>
            </a:r>
            <a:r>
              <a:rPr lang="en-US" dirty="0">
                <a:solidFill>
                  <a:schemeClr val="tx2"/>
                </a:solidFill>
                <a:latin typeface="Montserrat" pitchFamily="2" charset="77"/>
              </a:rPr>
              <a:t>quarantine buffer </a:t>
            </a:r>
            <a:r>
              <a:rPr lang="en-US" dirty="0">
                <a:latin typeface="Montserrat" pitchFamily="2" charset="77"/>
              </a:rPr>
              <a:t>where events are held before being sent</a:t>
            </a:r>
          </a:p>
          <a:p>
            <a:r>
              <a:rPr lang="en-US" dirty="0">
                <a:latin typeface="Montserrat" pitchFamily="2" charset="77"/>
              </a:rPr>
              <a:t>A </a:t>
            </a:r>
            <a:r>
              <a:rPr lang="en-US" dirty="0">
                <a:solidFill>
                  <a:schemeClr val="tx2"/>
                </a:solidFill>
                <a:latin typeface="Montserrat" pitchFamily="2" charset="77"/>
              </a:rPr>
              <a:t>sliding window of 500 recent events</a:t>
            </a:r>
            <a:r>
              <a:rPr lang="el-GR" dirty="0">
                <a:solidFill>
                  <a:schemeClr val="tx2"/>
                </a:solidFill>
                <a:latin typeface="Montserrat" pitchFamily="2" charset="77"/>
              </a:rPr>
              <a:t> (</a:t>
            </a:r>
            <a:r>
              <a:rPr lang="en-US" dirty="0">
                <a:solidFill>
                  <a:schemeClr val="tx2"/>
                </a:solidFill>
                <a:latin typeface="Montserrat" pitchFamily="2" charset="77"/>
              </a:rPr>
              <a:t>their </a:t>
            </a:r>
            <a:r>
              <a:rPr lang="en-GB" sz="1400" dirty="0">
                <a:solidFill>
                  <a:schemeClr val="tx2"/>
                </a:solidFill>
                <a:latin typeface="Montserrat" pitchFamily="2" charset="77"/>
              </a:rPr>
              <a:t>System Arrival Delay) </a:t>
            </a:r>
            <a:r>
              <a:rPr lang="en-US" dirty="0">
                <a:latin typeface="Montserrat" pitchFamily="2" charset="77"/>
              </a:rPr>
              <a:t>to adapt to network conditions.</a:t>
            </a:r>
          </a:p>
          <a:p>
            <a:r>
              <a:rPr lang="en-US" dirty="0">
                <a:solidFill>
                  <a:schemeClr val="tx2"/>
                </a:solidFill>
                <a:latin typeface="Montserrat" pitchFamily="2" charset="77"/>
              </a:rPr>
              <a:t>Out-of-order events are dropped</a:t>
            </a:r>
            <a:r>
              <a:rPr lang="en-US" dirty="0">
                <a:latin typeface="Montserrat" pitchFamily="2" charset="77"/>
              </a:rPr>
              <a:t> to maintain correct ordering.</a:t>
            </a:r>
          </a:p>
          <a:p>
            <a:r>
              <a:rPr lang="en-US" dirty="0">
                <a:latin typeface="Montserrat" pitchFamily="2" charset="77"/>
              </a:rPr>
              <a:t>The </a:t>
            </a:r>
            <a:r>
              <a:rPr lang="en-US" dirty="0">
                <a:solidFill>
                  <a:schemeClr val="tx2"/>
                </a:solidFill>
                <a:latin typeface="Montserrat" pitchFamily="2" charset="77"/>
              </a:rPr>
              <a:t>minimum quarantine time </a:t>
            </a:r>
            <a:r>
              <a:rPr lang="en-US" dirty="0">
                <a:latin typeface="Montserrat" pitchFamily="2" charset="77"/>
              </a:rPr>
              <a:t>is a fixed, user-defined value.</a:t>
            </a:r>
          </a:p>
          <a:p>
            <a:r>
              <a:rPr lang="en-US" dirty="0">
                <a:latin typeface="Montserrat" pitchFamily="2" charset="77"/>
              </a:rPr>
              <a:t>The </a:t>
            </a:r>
            <a:r>
              <a:rPr lang="en-US" dirty="0">
                <a:solidFill>
                  <a:schemeClr val="tx2"/>
                </a:solidFill>
                <a:latin typeface="Montserrat" pitchFamily="2" charset="77"/>
              </a:rPr>
              <a:t>maximum quarantine time</a:t>
            </a:r>
            <a:r>
              <a:rPr lang="en-US" dirty="0">
                <a:latin typeface="Montserrat" pitchFamily="2" charset="77"/>
              </a:rPr>
              <a:t> is 1M seconds.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C4E277-977A-063D-C684-DDCB752DDD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13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51661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50BAD-4159-7194-7903-251BFD141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  <a:latin typeface="Montserrat" pitchFamily="2" charset="77"/>
              </a:rPr>
              <a:t>1. Dynamic Average Policy (AVG, Mean)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B4B9A1-9919-C6FF-5983-BD2C0D6D97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7500" y="1251626"/>
            <a:ext cx="7038900" cy="3498124"/>
          </a:xfrm>
        </p:spPr>
        <p:txBody>
          <a:bodyPr>
            <a:normAutofit/>
          </a:bodyPr>
          <a:lstStyle/>
          <a:p>
            <a:r>
              <a:rPr lang="en-US" dirty="0">
                <a:latin typeface="Montserrat" pitchFamily="2" charset="77"/>
              </a:rPr>
              <a:t>The quarantine time is </a:t>
            </a:r>
            <a:r>
              <a:rPr lang="en-US" dirty="0">
                <a:solidFill>
                  <a:schemeClr val="tx2"/>
                </a:solidFill>
                <a:latin typeface="Montserrat" pitchFamily="2" charset="77"/>
              </a:rPr>
              <a:t>dynamically computed </a:t>
            </a:r>
            <a:r>
              <a:rPr lang="en-US" dirty="0">
                <a:latin typeface="Montserrat" pitchFamily="2" charset="77"/>
              </a:rPr>
              <a:t>from </a:t>
            </a:r>
            <a:r>
              <a:rPr lang="en-US" dirty="0">
                <a:solidFill>
                  <a:schemeClr val="tx2"/>
                </a:solidFill>
                <a:latin typeface="Montserrat" pitchFamily="2" charset="77"/>
              </a:rPr>
              <a:t>the average latency</a:t>
            </a:r>
            <a:r>
              <a:rPr lang="el-GR" dirty="0">
                <a:solidFill>
                  <a:schemeClr val="tx2"/>
                </a:solidFill>
                <a:latin typeface="Montserrat" pitchFamily="2" charset="77"/>
              </a:rPr>
              <a:t> (</a:t>
            </a:r>
            <a:r>
              <a:rPr lang="en-GB" sz="1200" dirty="0">
                <a:solidFill>
                  <a:schemeClr val="tx2"/>
                </a:solidFill>
                <a:latin typeface="Montserrat" pitchFamily="2" charset="77"/>
              </a:rPr>
              <a:t>System Arrival Delay</a:t>
            </a:r>
            <a:r>
              <a:rPr lang="el-GR" sz="1200" dirty="0">
                <a:solidFill>
                  <a:schemeClr val="tx2"/>
                </a:solidFill>
                <a:latin typeface="Montserrat" pitchFamily="2" charset="77"/>
              </a:rPr>
              <a:t>)</a:t>
            </a:r>
            <a:r>
              <a:rPr lang="en-US" dirty="0">
                <a:solidFill>
                  <a:schemeClr val="tx2"/>
                </a:solidFill>
                <a:latin typeface="Montserrat" pitchFamily="2" charset="77"/>
              </a:rPr>
              <a:t> </a:t>
            </a:r>
            <a:r>
              <a:rPr lang="en-US" dirty="0">
                <a:latin typeface="Montserrat" pitchFamily="2" charset="77"/>
              </a:rPr>
              <a:t>of recent events.</a:t>
            </a:r>
          </a:p>
          <a:p>
            <a:pPr marL="146050" indent="0">
              <a:buNone/>
            </a:pPr>
            <a:endParaRPr lang="en-US" dirty="0">
              <a:latin typeface="Montserrat" pitchFamily="2" charset="77"/>
            </a:endParaRPr>
          </a:p>
          <a:p>
            <a:r>
              <a:rPr lang="en-US" dirty="0">
                <a:latin typeface="Montserrat" pitchFamily="2" charset="77"/>
              </a:rPr>
              <a:t>Quarantine time is calculated as:</a:t>
            </a:r>
          </a:p>
          <a:p>
            <a:pPr marL="146050" indent="0">
              <a:buNone/>
            </a:pPr>
            <a:endParaRPr lang="en-US" dirty="0">
              <a:latin typeface="Montserrat" pitchFamily="2" charset="77"/>
            </a:endParaRPr>
          </a:p>
          <a:p>
            <a:pPr marL="615950" lvl="1" indent="0">
              <a:buNone/>
            </a:pPr>
            <a:r>
              <a:rPr lang="en-US" sz="1300" dirty="0">
                <a:solidFill>
                  <a:schemeClr val="tx2"/>
                </a:solidFill>
                <a:latin typeface="Montserrat" pitchFamily="2" charset="77"/>
              </a:rPr>
              <a:t>Q</a:t>
            </a:r>
            <a:r>
              <a:rPr lang="en-US" sz="1300" baseline="-25000" dirty="0">
                <a:solidFill>
                  <a:schemeClr val="tx2"/>
                </a:solidFill>
                <a:latin typeface="Montserrat" pitchFamily="2" charset="77"/>
              </a:rPr>
              <a:t>t</a:t>
            </a:r>
            <a:r>
              <a:rPr lang="en-US" sz="1300" dirty="0">
                <a:solidFill>
                  <a:schemeClr val="tx2"/>
                </a:solidFill>
                <a:latin typeface="Montserrat" pitchFamily="2" charset="77"/>
              </a:rPr>
              <a:t> = avg(L</a:t>
            </a:r>
            <a:r>
              <a:rPr lang="en-US" sz="1300" baseline="-25000" dirty="0">
                <a:solidFill>
                  <a:schemeClr val="tx2"/>
                </a:solidFill>
                <a:latin typeface="Montserrat" pitchFamily="2" charset="77"/>
              </a:rPr>
              <a:t>t</a:t>
            </a:r>
            <a:r>
              <a:rPr lang="en-US" sz="1300" dirty="0">
                <a:solidFill>
                  <a:schemeClr val="tx2"/>
                </a:solidFill>
                <a:latin typeface="Montserrat" pitchFamily="2" charset="77"/>
              </a:rPr>
              <a:t>)</a:t>
            </a:r>
            <a:r>
              <a:rPr lang="en-US" sz="1300" dirty="0">
                <a:solidFill>
                  <a:schemeClr val="bg1"/>
                </a:solidFill>
                <a:latin typeface="Montserrat" pitchFamily="2" charset="77"/>
              </a:rPr>
              <a:t>,</a:t>
            </a:r>
          </a:p>
          <a:p>
            <a:pPr marL="615950" lvl="1" indent="0">
              <a:buNone/>
            </a:pPr>
            <a:endParaRPr lang="en-US" dirty="0">
              <a:solidFill>
                <a:schemeClr val="tx2"/>
              </a:solidFill>
              <a:latin typeface="Montserrat" pitchFamily="2" charset="77"/>
            </a:endParaRPr>
          </a:p>
          <a:p>
            <a:pPr marL="615950" lvl="1" indent="0">
              <a:buNone/>
            </a:pPr>
            <a:r>
              <a:rPr lang="en-US" sz="1300" dirty="0">
                <a:latin typeface="Montserrat" pitchFamily="2" charset="77"/>
              </a:rPr>
              <a:t>where:</a:t>
            </a:r>
          </a:p>
          <a:p>
            <a:pPr marL="1073150" lvl="2" indent="0">
              <a:buNone/>
            </a:pPr>
            <a:r>
              <a:rPr lang="en-US" sz="1300" dirty="0">
                <a:latin typeface="Montserrat" pitchFamily="2" charset="77"/>
              </a:rPr>
              <a:t>L</a:t>
            </a:r>
            <a:r>
              <a:rPr lang="en-US" sz="1300" baseline="-25000" dirty="0">
                <a:latin typeface="Montserrat" pitchFamily="2" charset="77"/>
              </a:rPr>
              <a:t>t</a:t>
            </a:r>
            <a:r>
              <a:rPr lang="en-US" sz="1300" dirty="0">
                <a:latin typeface="Montserrat" pitchFamily="2" charset="77"/>
              </a:rPr>
              <a:t> : list of latencies in the sliding window (500 recent events)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37114-AFA0-653D-33FA-717D6F0B14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4654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9D764-AC5C-5965-20B9-27AE3F01A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923" y="318663"/>
            <a:ext cx="7038900" cy="9141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2"/>
                </a:solidFill>
                <a:latin typeface="Montserrat" pitchFamily="2" charset="77"/>
              </a:rPr>
              <a:t>2. Dynamic p99-EMA Policy (p99-EMA)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2A603-3A52-3448-89EF-74C0CE4A23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0289" y="1183902"/>
            <a:ext cx="7292169" cy="3689796"/>
          </a:xfrm>
        </p:spPr>
        <p:txBody>
          <a:bodyPr>
            <a:normAutofit/>
          </a:bodyPr>
          <a:lstStyle/>
          <a:p>
            <a:r>
              <a:rPr lang="en-US" dirty="0">
                <a:latin typeface="Montserrat" pitchFamily="2" charset="77"/>
              </a:rPr>
              <a:t>The quarantine time is </a:t>
            </a:r>
            <a:r>
              <a:rPr lang="en-US" dirty="0">
                <a:solidFill>
                  <a:schemeClr val="tx2"/>
                </a:solidFill>
                <a:latin typeface="Montserrat" pitchFamily="2" charset="77"/>
              </a:rPr>
              <a:t>dynamically computed </a:t>
            </a:r>
            <a:r>
              <a:rPr lang="en-US" dirty="0">
                <a:latin typeface="Montserrat" pitchFamily="2" charset="77"/>
              </a:rPr>
              <a:t>from </a:t>
            </a:r>
            <a:r>
              <a:rPr lang="en-US" dirty="0">
                <a:solidFill>
                  <a:schemeClr val="tx2"/>
                </a:solidFill>
                <a:latin typeface="Montserrat" pitchFamily="2" charset="77"/>
              </a:rPr>
              <a:t>the 99th percentile latency</a:t>
            </a:r>
            <a:r>
              <a:rPr lang="el-GR" dirty="0">
                <a:solidFill>
                  <a:schemeClr val="tx2"/>
                </a:solidFill>
                <a:latin typeface="Montserrat" pitchFamily="2" charset="77"/>
              </a:rPr>
              <a:t> (</a:t>
            </a:r>
            <a:r>
              <a:rPr lang="en-GB" sz="1200" dirty="0">
                <a:solidFill>
                  <a:schemeClr val="tx2"/>
                </a:solidFill>
                <a:latin typeface="Montserrat" pitchFamily="2" charset="77"/>
              </a:rPr>
              <a:t>System Arrival Delay</a:t>
            </a:r>
            <a:r>
              <a:rPr lang="el-GR" sz="1200" dirty="0">
                <a:solidFill>
                  <a:schemeClr val="tx2"/>
                </a:solidFill>
                <a:latin typeface="Montserrat" pitchFamily="2" charset="77"/>
              </a:rPr>
              <a:t>)</a:t>
            </a:r>
            <a:r>
              <a:rPr lang="en-US" dirty="0">
                <a:latin typeface="Montserrat" pitchFamily="2" charset="77"/>
              </a:rPr>
              <a:t> of recent events and smoothed with an </a:t>
            </a:r>
            <a:r>
              <a:rPr lang="en-US" dirty="0">
                <a:solidFill>
                  <a:schemeClr val="tx2"/>
                </a:solidFill>
                <a:latin typeface="Montserrat" pitchFamily="2" charset="77"/>
              </a:rPr>
              <a:t>EMA (α = 0.1)</a:t>
            </a:r>
            <a:r>
              <a:rPr lang="en-US" dirty="0">
                <a:solidFill>
                  <a:schemeClr val="bg1"/>
                </a:solidFill>
                <a:latin typeface="Montserrat" pitchFamily="2" charset="77"/>
              </a:rPr>
              <a:t>.</a:t>
            </a:r>
            <a:endParaRPr lang="en-US" dirty="0">
              <a:solidFill>
                <a:schemeClr val="tx2"/>
              </a:solidFill>
              <a:latin typeface="Montserrat" pitchFamily="2" charset="77"/>
            </a:endParaRPr>
          </a:p>
          <a:p>
            <a:pPr marL="146050" indent="0">
              <a:buNone/>
            </a:pPr>
            <a:endParaRPr lang="en-US" dirty="0">
              <a:latin typeface="Montserrat" pitchFamily="2" charset="77"/>
            </a:endParaRPr>
          </a:p>
          <a:p>
            <a:r>
              <a:rPr lang="en-US" dirty="0">
                <a:latin typeface="Montserrat" pitchFamily="2" charset="77"/>
              </a:rPr>
              <a:t>Quarantine time is calculated as:</a:t>
            </a:r>
          </a:p>
          <a:p>
            <a:pPr marL="146050" indent="0">
              <a:buNone/>
            </a:pPr>
            <a:endParaRPr lang="en-US" dirty="0">
              <a:latin typeface="Montserrat" pitchFamily="2" charset="77"/>
            </a:endParaRPr>
          </a:p>
          <a:p>
            <a:pPr marL="615950" lvl="1" indent="0">
              <a:buNone/>
            </a:pPr>
            <a:r>
              <a:rPr lang="en-US" sz="1300" dirty="0">
                <a:solidFill>
                  <a:schemeClr val="tx2"/>
                </a:solidFill>
                <a:latin typeface="Montserrat" pitchFamily="2" charset="77"/>
              </a:rPr>
              <a:t>Q</a:t>
            </a:r>
            <a:r>
              <a:rPr lang="en-US" sz="1300" baseline="-25000" dirty="0">
                <a:solidFill>
                  <a:schemeClr val="tx2"/>
                </a:solidFill>
                <a:latin typeface="Montserrat" pitchFamily="2" charset="77"/>
              </a:rPr>
              <a:t>t</a:t>
            </a:r>
            <a:r>
              <a:rPr lang="en-US" sz="1300" dirty="0">
                <a:solidFill>
                  <a:schemeClr val="tx2"/>
                </a:solidFill>
                <a:latin typeface="Montserrat" pitchFamily="2" charset="77"/>
              </a:rPr>
              <a:t> = (1 - α) * Q</a:t>
            </a:r>
            <a:r>
              <a:rPr lang="en-US" sz="1300" baseline="-25000" dirty="0">
                <a:solidFill>
                  <a:schemeClr val="tx2"/>
                </a:solidFill>
                <a:latin typeface="Montserrat" pitchFamily="2" charset="77"/>
              </a:rPr>
              <a:t>t-1</a:t>
            </a:r>
            <a:r>
              <a:rPr lang="en-US" sz="1300" dirty="0">
                <a:solidFill>
                  <a:schemeClr val="tx2"/>
                </a:solidFill>
                <a:latin typeface="Montserrat" pitchFamily="2" charset="77"/>
              </a:rPr>
              <a:t> + α * P</a:t>
            </a:r>
            <a:r>
              <a:rPr lang="en-US" sz="1300" baseline="-25000" dirty="0">
                <a:solidFill>
                  <a:schemeClr val="tx2"/>
                </a:solidFill>
                <a:latin typeface="Montserrat" pitchFamily="2" charset="77"/>
              </a:rPr>
              <a:t>99</a:t>
            </a:r>
            <a:r>
              <a:rPr lang="en-US" sz="1300" dirty="0">
                <a:solidFill>
                  <a:schemeClr val="tx2"/>
                </a:solidFill>
                <a:latin typeface="Montserrat" pitchFamily="2" charset="77"/>
              </a:rPr>
              <a:t> </a:t>
            </a:r>
            <a:r>
              <a:rPr lang="en-US" sz="1300" dirty="0">
                <a:latin typeface="Montserrat" pitchFamily="2" charset="77"/>
              </a:rPr>
              <a:t>,</a:t>
            </a:r>
          </a:p>
          <a:p>
            <a:pPr marL="615950" lvl="1" indent="0">
              <a:buNone/>
            </a:pPr>
            <a:endParaRPr lang="en-US" sz="1300" dirty="0">
              <a:latin typeface="Montserrat" pitchFamily="2" charset="77"/>
            </a:endParaRPr>
          </a:p>
          <a:p>
            <a:pPr marL="615950" lvl="1" indent="0">
              <a:buNone/>
            </a:pPr>
            <a:r>
              <a:rPr lang="en-US" sz="1300" dirty="0">
                <a:latin typeface="Montserrat" pitchFamily="2" charset="77"/>
              </a:rPr>
              <a:t>where: </a:t>
            </a:r>
          </a:p>
          <a:p>
            <a:pPr marL="615950" lvl="1" indent="0">
              <a:buNone/>
            </a:pPr>
            <a:r>
              <a:rPr lang="en-US" sz="1300" dirty="0">
                <a:latin typeface="Montserrat" pitchFamily="2" charset="77"/>
              </a:rPr>
              <a:t>	      α : EMA smoothing factor (α = 0.1)</a:t>
            </a:r>
          </a:p>
          <a:p>
            <a:pPr marL="615950" lvl="1" indent="0">
              <a:buNone/>
            </a:pPr>
            <a:r>
              <a:rPr lang="en-US" sz="1300" dirty="0">
                <a:latin typeface="Montserrat" pitchFamily="2" charset="77"/>
              </a:rPr>
              <a:t>             P</a:t>
            </a:r>
            <a:r>
              <a:rPr lang="en-US" sz="1300" baseline="-25000" dirty="0">
                <a:latin typeface="Montserrat" pitchFamily="2" charset="77"/>
              </a:rPr>
              <a:t>99 </a:t>
            </a:r>
            <a:r>
              <a:rPr lang="en-US" sz="1300" dirty="0">
                <a:latin typeface="Montserrat" pitchFamily="2" charset="77"/>
              </a:rPr>
              <a:t>: 99th percentile of latencies in the sliding window</a:t>
            </a:r>
          </a:p>
          <a:p>
            <a:endParaRPr lang="en-US" dirty="0">
              <a:latin typeface="Montserrat" pitchFamily="2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AC3B0B-470E-1C26-A63D-68EC9D7177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950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EA857-4770-287C-90BF-C227D1FAA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chemeClr val="tx2"/>
                </a:solidFill>
                <a:latin typeface="Montserrat" pitchFamily="2" charset="77"/>
              </a:rPr>
              <a:t>3. Dynamic MAX-EMA Policy (MAX-EMA)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DD7B2F-278F-2F85-29C8-5375D5F00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7500" y="1307850"/>
            <a:ext cx="7038900" cy="3659741"/>
          </a:xfrm>
        </p:spPr>
        <p:txBody>
          <a:bodyPr>
            <a:normAutofit/>
          </a:bodyPr>
          <a:lstStyle/>
          <a:p>
            <a:r>
              <a:rPr lang="en-US" dirty="0">
                <a:latin typeface="Montserrat" pitchFamily="2" charset="77"/>
              </a:rPr>
              <a:t>The quarantine time is </a:t>
            </a:r>
            <a:r>
              <a:rPr lang="en-US" dirty="0">
                <a:solidFill>
                  <a:schemeClr val="tx2"/>
                </a:solidFill>
                <a:latin typeface="Montserrat" pitchFamily="2" charset="77"/>
              </a:rPr>
              <a:t>dynamically computed </a:t>
            </a:r>
            <a:r>
              <a:rPr lang="en-US" dirty="0">
                <a:latin typeface="Montserrat" pitchFamily="2" charset="77"/>
              </a:rPr>
              <a:t>from </a:t>
            </a:r>
            <a:r>
              <a:rPr lang="en-US" dirty="0">
                <a:solidFill>
                  <a:schemeClr val="tx2"/>
                </a:solidFill>
                <a:latin typeface="Montserrat" pitchFamily="2" charset="77"/>
              </a:rPr>
              <a:t>the maximum latency</a:t>
            </a:r>
            <a:r>
              <a:rPr lang="el-GR" dirty="0">
                <a:solidFill>
                  <a:schemeClr val="tx2"/>
                </a:solidFill>
                <a:latin typeface="Montserrat" pitchFamily="2" charset="77"/>
              </a:rPr>
              <a:t> (</a:t>
            </a:r>
            <a:r>
              <a:rPr lang="en-GB" sz="1200" dirty="0">
                <a:solidFill>
                  <a:schemeClr val="tx2"/>
                </a:solidFill>
                <a:latin typeface="Montserrat" pitchFamily="2" charset="77"/>
              </a:rPr>
              <a:t>System Arrival Delay</a:t>
            </a:r>
            <a:r>
              <a:rPr lang="el-GR" sz="1200" dirty="0">
                <a:solidFill>
                  <a:schemeClr val="tx2"/>
                </a:solidFill>
                <a:latin typeface="Montserrat" pitchFamily="2" charset="77"/>
              </a:rPr>
              <a:t>)</a:t>
            </a:r>
            <a:r>
              <a:rPr lang="en-US" dirty="0">
                <a:solidFill>
                  <a:schemeClr val="tx2"/>
                </a:solidFill>
                <a:latin typeface="Montserrat" pitchFamily="2" charset="77"/>
              </a:rPr>
              <a:t> </a:t>
            </a:r>
            <a:r>
              <a:rPr lang="en-US" dirty="0">
                <a:latin typeface="Montserrat" pitchFamily="2" charset="77"/>
              </a:rPr>
              <a:t>of recent events and smoothed using an </a:t>
            </a:r>
            <a:r>
              <a:rPr lang="en-US" dirty="0">
                <a:solidFill>
                  <a:schemeClr val="tx2"/>
                </a:solidFill>
                <a:latin typeface="Montserrat" pitchFamily="2" charset="77"/>
              </a:rPr>
              <a:t>EMA (α = 0.1)</a:t>
            </a:r>
            <a:r>
              <a:rPr lang="en-US" dirty="0">
                <a:solidFill>
                  <a:schemeClr val="bg1"/>
                </a:solidFill>
                <a:latin typeface="Montserrat" pitchFamily="2" charset="77"/>
              </a:rPr>
              <a:t>.</a:t>
            </a:r>
            <a:endParaRPr lang="en-US" dirty="0">
              <a:latin typeface="Montserrat" pitchFamily="2" charset="77"/>
            </a:endParaRPr>
          </a:p>
          <a:p>
            <a:pPr marL="146050" indent="0">
              <a:buNone/>
            </a:pPr>
            <a:endParaRPr lang="en-US" dirty="0">
              <a:latin typeface="Montserrat" pitchFamily="2" charset="77"/>
            </a:endParaRPr>
          </a:p>
          <a:p>
            <a:r>
              <a:rPr lang="en-US" dirty="0">
                <a:latin typeface="Montserrat" pitchFamily="2" charset="77"/>
              </a:rPr>
              <a:t>Quarantine time is calculated as:</a:t>
            </a:r>
          </a:p>
          <a:p>
            <a:pPr marL="146050" indent="0">
              <a:buNone/>
            </a:pPr>
            <a:endParaRPr lang="en-US" dirty="0">
              <a:latin typeface="Montserrat" pitchFamily="2" charset="77"/>
            </a:endParaRPr>
          </a:p>
          <a:p>
            <a:pPr marL="615950" lvl="1" indent="0">
              <a:buNone/>
            </a:pPr>
            <a:r>
              <a:rPr lang="en-US" sz="1300" dirty="0">
                <a:solidFill>
                  <a:schemeClr val="tx2"/>
                </a:solidFill>
                <a:latin typeface="Montserrat" pitchFamily="2" charset="77"/>
              </a:rPr>
              <a:t>Q</a:t>
            </a:r>
            <a:r>
              <a:rPr lang="en-US" sz="1300" baseline="-25000" dirty="0">
                <a:solidFill>
                  <a:schemeClr val="tx2"/>
                </a:solidFill>
                <a:latin typeface="Montserrat" pitchFamily="2" charset="77"/>
              </a:rPr>
              <a:t>t</a:t>
            </a:r>
            <a:r>
              <a:rPr lang="en-US" sz="1300" dirty="0">
                <a:solidFill>
                  <a:schemeClr val="tx2"/>
                </a:solidFill>
                <a:latin typeface="Montserrat" pitchFamily="2" charset="77"/>
              </a:rPr>
              <a:t> = (1 - α) * Q</a:t>
            </a:r>
            <a:r>
              <a:rPr lang="en-US" sz="1300" baseline="-25000" dirty="0">
                <a:solidFill>
                  <a:schemeClr val="tx2"/>
                </a:solidFill>
                <a:latin typeface="Montserrat" pitchFamily="2" charset="77"/>
              </a:rPr>
              <a:t>t-1</a:t>
            </a:r>
            <a:r>
              <a:rPr lang="en-US" sz="1300" dirty="0">
                <a:solidFill>
                  <a:schemeClr val="tx2"/>
                </a:solidFill>
                <a:latin typeface="Montserrat" pitchFamily="2" charset="77"/>
              </a:rPr>
              <a:t> + α * max(L</a:t>
            </a:r>
            <a:r>
              <a:rPr lang="en-US" sz="1300" baseline="-25000" dirty="0">
                <a:solidFill>
                  <a:schemeClr val="tx2"/>
                </a:solidFill>
                <a:latin typeface="Montserrat" pitchFamily="2" charset="77"/>
              </a:rPr>
              <a:t>t</a:t>
            </a:r>
            <a:r>
              <a:rPr lang="en-US" sz="1300" dirty="0">
                <a:solidFill>
                  <a:schemeClr val="tx2"/>
                </a:solidFill>
                <a:latin typeface="Montserrat" pitchFamily="2" charset="77"/>
              </a:rPr>
              <a:t>)</a:t>
            </a:r>
            <a:r>
              <a:rPr lang="en-US" sz="1300" dirty="0">
                <a:solidFill>
                  <a:schemeClr val="bg1"/>
                </a:solidFill>
                <a:latin typeface="Montserrat" pitchFamily="2" charset="77"/>
              </a:rPr>
              <a:t>,</a:t>
            </a:r>
          </a:p>
          <a:p>
            <a:pPr marL="615950" lvl="1" indent="0">
              <a:buNone/>
            </a:pPr>
            <a:endParaRPr lang="en-US" sz="1300" dirty="0">
              <a:solidFill>
                <a:schemeClr val="bg1"/>
              </a:solidFill>
              <a:latin typeface="Montserrat" pitchFamily="2" charset="77"/>
            </a:endParaRPr>
          </a:p>
          <a:p>
            <a:pPr marL="615950" lvl="1" indent="0">
              <a:buNone/>
            </a:pPr>
            <a:r>
              <a:rPr lang="en-US" sz="1300" dirty="0">
                <a:solidFill>
                  <a:schemeClr val="bg1"/>
                </a:solidFill>
                <a:latin typeface="Montserrat" pitchFamily="2" charset="77"/>
              </a:rPr>
              <a:t>where:</a:t>
            </a:r>
          </a:p>
          <a:p>
            <a:pPr marL="615950" lvl="1" indent="0">
              <a:buNone/>
            </a:pPr>
            <a:r>
              <a:rPr lang="en-US" sz="1300" dirty="0">
                <a:solidFill>
                  <a:schemeClr val="bg1"/>
                </a:solidFill>
                <a:latin typeface="Montserrat" pitchFamily="2" charset="77"/>
              </a:rPr>
              <a:t> 	      </a:t>
            </a:r>
            <a:r>
              <a:rPr lang="el-GR" sz="1300" dirty="0">
                <a:solidFill>
                  <a:schemeClr val="bg1"/>
                </a:solidFill>
                <a:latin typeface="Montserrat" pitchFamily="2" charset="77"/>
              </a:rPr>
              <a:t>α</a:t>
            </a:r>
            <a:r>
              <a:rPr lang="en-US" sz="1300" dirty="0">
                <a:solidFill>
                  <a:schemeClr val="bg1"/>
                </a:solidFill>
                <a:latin typeface="Montserrat" pitchFamily="2" charset="77"/>
              </a:rPr>
              <a:t>: 0.1</a:t>
            </a:r>
          </a:p>
          <a:p>
            <a:pPr marL="615950" lvl="1" indent="0">
              <a:buNone/>
            </a:pPr>
            <a:r>
              <a:rPr lang="en-US" sz="1300" dirty="0">
                <a:solidFill>
                  <a:schemeClr val="bg1"/>
                </a:solidFill>
                <a:latin typeface="Montserrat" pitchFamily="2" charset="77"/>
              </a:rPr>
              <a:t>             L</a:t>
            </a:r>
            <a:r>
              <a:rPr lang="en-US" sz="1300" baseline="-25000" dirty="0">
                <a:solidFill>
                  <a:schemeClr val="bg1"/>
                </a:solidFill>
                <a:latin typeface="Montserrat" pitchFamily="2" charset="77"/>
              </a:rPr>
              <a:t>t</a:t>
            </a:r>
            <a:r>
              <a:rPr lang="en-US" sz="1300" dirty="0">
                <a:solidFill>
                  <a:schemeClr val="bg1"/>
                </a:solidFill>
                <a:latin typeface="Montserrat" pitchFamily="2" charset="77"/>
              </a:rPr>
              <a:t> : list of latencies in the sliding window (500 recent events)</a:t>
            </a:r>
          </a:p>
          <a:p>
            <a:pPr marL="615950" lvl="1" indent="0">
              <a:buNone/>
            </a:pPr>
            <a:r>
              <a:rPr lang="en-US" sz="1300" dirty="0">
                <a:solidFill>
                  <a:schemeClr val="bg1"/>
                </a:solidFill>
                <a:latin typeface="Montserrat" pitchFamily="2" charset="77"/>
              </a:rPr>
              <a:t>             max(L</a:t>
            </a:r>
            <a:r>
              <a:rPr lang="en-US" sz="1300" baseline="-25000" dirty="0">
                <a:solidFill>
                  <a:schemeClr val="bg1"/>
                </a:solidFill>
                <a:latin typeface="Montserrat" pitchFamily="2" charset="77"/>
              </a:rPr>
              <a:t>t</a:t>
            </a:r>
            <a:r>
              <a:rPr lang="en-US" sz="1300" dirty="0">
                <a:solidFill>
                  <a:schemeClr val="bg1"/>
                </a:solidFill>
                <a:latin typeface="Montserrat" pitchFamily="2" charset="77"/>
              </a:rPr>
              <a:t>) : maximum latency in the window </a:t>
            </a:r>
            <a:endParaRPr lang="en-US" sz="1300" dirty="0">
              <a:solidFill>
                <a:schemeClr val="tx2"/>
              </a:solidFill>
              <a:latin typeface="Montserrat" pitchFamily="2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5725C0-358A-2C5D-3165-727CE133CD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608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904B0-5ACC-D868-1F71-4DEBB270C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500" y="393751"/>
            <a:ext cx="7038900" cy="9141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2"/>
                </a:solidFill>
                <a:latin typeface="Montserrat" pitchFamily="2" charset="77"/>
              </a:rPr>
              <a:t>4. Dynamic MAX Policy (MAX)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2F9398-6ED5-7CA2-4960-D70C037DCE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7500" y="1307850"/>
            <a:ext cx="7038900" cy="3441899"/>
          </a:xfrm>
        </p:spPr>
        <p:txBody>
          <a:bodyPr>
            <a:normAutofit/>
          </a:bodyPr>
          <a:lstStyle/>
          <a:p>
            <a:r>
              <a:rPr lang="en-US" dirty="0">
                <a:latin typeface="Montserrat" pitchFamily="2" charset="77"/>
              </a:rPr>
              <a:t>The quarantine time is </a:t>
            </a:r>
            <a:r>
              <a:rPr lang="en-US" dirty="0">
                <a:solidFill>
                  <a:schemeClr val="tx2"/>
                </a:solidFill>
                <a:latin typeface="Montserrat" pitchFamily="2" charset="77"/>
              </a:rPr>
              <a:t>dynamically computed </a:t>
            </a:r>
            <a:r>
              <a:rPr lang="en-US" dirty="0">
                <a:latin typeface="Montserrat" pitchFamily="2" charset="77"/>
              </a:rPr>
              <a:t>from the </a:t>
            </a:r>
            <a:r>
              <a:rPr lang="en-US" dirty="0">
                <a:solidFill>
                  <a:schemeClr val="tx2"/>
                </a:solidFill>
                <a:latin typeface="Montserrat" pitchFamily="2" charset="77"/>
              </a:rPr>
              <a:t>maximum latency</a:t>
            </a:r>
            <a:r>
              <a:rPr lang="el-GR" dirty="0">
                <a:solidFill>
                  <a:schemeClr val="tx2"/>
                </a:solidFill>
                <a:latin typeface="Montserrat" pitchFamily="2" charset="77"/>
              </a:rPr>
              <a:t> (</a:t>
            </a:r>
            <a:r>
              <a:rPr lang="en-GB" sz="1200" dirty="0">
                <a:solidFill>
                  <a:schemeClr val="tx2"/>
                </a:solidFill>
                <a:latin typeface="Montserrat" pitchFamily="2" charset="77"/>
              </a:rPr>
              <a:t>System Arrival Delay</a:t>
            </a:r>
            <a:r>
              <a:rPr lang="el-GR" sz="1200" dirty="0">
                <a:solidFill>
                  <a:schemeClr val="tx2"/>
                </a:solidFill>
                <a:latin typeface="Montserrat" pitchFamily="2" charset="77"/>
              </a:rPr>
              <a:t>)</a:t>
            </a:r>
            <a:r>
              <a:rPr lang="en-US" dirty="0">
                <a:solidFill>
                  <a:schemeClr val="tx2"/>
                </a:solidFill>
                <a:latin typeface="Montserrat" pitchFamily="2" charset="77"/>
              </a:rPr>
              <a:t> </a:t>
            </a:r>
            <a:r>
              <a:rPr lang="en-US" dirty="0">
                <a:latin typeface="Montserrat" pitchFamily="2" charset="77"/>
              </a:rPr>
              <a:t>of recent events.</a:t>
            </a:r>
          </a:p>
          <a:p>
            <a:pPr marL="146050" indent="0">
              <a:buNone/>
            </a:pPr>
            <a:endParaRPr lang="en-US" dirty="0">
              <a:latin typeface="Montserrat" pitchFamily="2" charset="77"/>
            </a:endParaRPr>
          </a:p>
          <a:p>
            <a:r>
              <a:rPr lang="en-US" dirty="0">
                <a:latin typeface="Montserrat" pitchFamily="2" charset="77"/>
              </a:rPr>
              <a:t>Quarantine time is calculated as:</a:t>
            </a:r>
          </a:p>
          <a:p>
            <a:pPr marL="146050" indent="0">
              <a:buNone/>
            </a:pPr>
            <a:endParaRPr lang="en-US" dirty="0">
              <a:latin typeface="Montserrat" pitchFamily="2" charset="77"/>
            </a:endParaRPr>
          </a:p>
          <a:p>
            <a:pPr marL="615950" lvl="1" indent="0">
              <a:buNone/>
            </a:pPr>
            <a:r>
              <a:rPr lang="en-US" sz="1300" dirty="0">
                <a:solidFill>
                  <a:schemeClr val="tx2"/>
                </a:solidFill>
                <a:latin typeface="Montserrat" pitchFamily="2" charset="77"/>
              </a:rPr>
              <a:t>Q</a:t>
            </a:r>
            <a:r>
              <a:rPr lang="en-US" sz="1300" baseline="-25000" dirty="0">
                <a:solidFill>
                  <a:schemeClr val="tx2"/>
                </a:solidFill>
                <a:latin typeface="Montserrat" pitchFamily="2" charset="77"/>
              </a:rPr>
              <a:t>t</a:t>
            </a:r>
            <a:r>
              <a:rPr lang="en-US" sz="1300" dirty="0">
                <a:solidFill>
                  <a:schemeClr val="tx2"/>
                </a:solidFill>
                <a:latin typeface="Montserrat" pitchFamily="2" charset="77"/>
              </a:rPr>
              <a:t> = max(L</a:t>
            </a:r>
            <a:r>
              <a:rPr lang="en-US" sz="1300" baseline="-25000" dirty="0">
                <a:solidFill>
                  <a:schemeClr val="tx2"/>
                </a:solidFill>
                <a:latin typeface="Montserrat" pitchFamily="2" charset="77"/>
              </a:rPr>
              <a:t>t</a:t>
            </a:r>
            <a:r>
              <a:rPr lang="en-US" sz="1300" dirty="0">
                <a:solidFill>
                  <a:schemeClr val="tx2"/>
                </a:solidFill>
                <a:latin typeface="Montserrat" pitchFamily="2" charset="77"/>
              </a:rPr>
              <a:t>)</a:t>
            </a:r>
            <a:r>
              <a:rPr lang="en-US" sz="1300" dirty="0">
                <a:solidFill>
                  <a:schemeClr val="bg1"/>
                </a:solidFill>
                <a:latin typeface="Montserrat" pitchFamily="2" charset="77"/>
              </a:rPr>
              <a:t>,</a:t>
            </a:r>
          </a:p>
          <a:p>
            <a:pPr marL="615950" lvl="1" indent="0">
              <a:buNone/>
            </a:pPr>
            <a:endParaRPr lang="en-US" sz="1300" dirty="0">
              <a:solidFill>
                <a:schemeClr val="bg1"/>
              </a:solidFill>
              <a:latin typeface="Montserrat" pitchFamily="2" charset="77"/>
            </a:endParaRPr>
          </a:p>
          <a:p>
            <a:pPr marL="615950" lvl="1" indent="0">
              <a:buNone/>
            </a:pPr>
            <a:r>
              <a:rPr lang="en-US" sz="1300" dirty="0">
                <a:solidFill>
                  <a:schemeClr val="bg1"/>
                </a:solidFill>
                <a:latin typeface="Montserrat" pitchFamily="2" charset="77"/>
              </a:rPr>
              <a:t>where: </a:t>
            </a:r>
          </a:p>
          <a:p>
            <a:pPr marL="615950" lvl="1" indent="0">
              <a:buNone/>
            </a:pPr>
            <a:r>
              <a:rPr lang="en-US" sz="1300" dirty="0">
                <a:solidFill>
                  <a:schemeClr val="bg1"/>
                </a:solidFill>
                <a:latin typeface="Montserrat" pitchFamily="2" charset="77"/>
              </a:rPr>
              <a:t>              L</a:t>
            </a:r>
            <a:r>
              <a:rPr lang="en-US" sz="1300" baseline="-25000" dirty="0">
                <a:solidFill>
                  <a:schemeClr val="bg1"/>
                </a:solidFill>
                <a:latin typeface="Montserrat" pitchFamily="2" charset="77"/>
              </a:rPr>
              <a:t>t</a:t>
            </a:r>
            <a:r>
              <a:rPr lang="en-US" sz="1300" dirty="0">
                <a:solidFill>
                  <a:schemeClr val="bg1"/>
                </a:solidFill>
                <a:latin typeface="Montserrat" pitchFamily="2" charset="77"/>
              </a:rPr>
              <a:t> : list of latencies in the sliding window (500 recent events)</a:t>
            </a:r>
          </a:p>
          <a:p>
            <a:pPr marL="615950" lvl="1" indent="0">
              <a:buNone/>
            </a:pPr>
            <a:r>
              <a:rPr lang="en-US" sz="1300" dirty="0">
                <a:solidFill>
                  <a:schemeClr val="bg1"/>
                </a:solidFill>
                <a:latin typeface="Montserrat" pitchFamily="2" charset="77"/>
              </a:rPr>
              <a:t>              max(L</a:t>
            </a:r>
            <a:r>
              <a:rPr lang="en-US" sz="1300" baseline="-25000" dirty="0">
                <a:solidFill>
                  <a:schemeClr val="bg1"/>
                </a:solidFill>
                <a:latin typeface="Montserrat" pitchFamily="2" charset="77"/>
              </a:rPr>
              <a:t>t</a:t>
            </a:r>
            <a:r>
              <a:rPr lang="en-US" sz="1300" dirty="0">
                <a:solidFill>
                  <a:schemeClr val="bg1"/>
                </a:solidFill>
                <a:latin typeface="Montserrat" pitchFamily="2" charset="77"/>
              </a:rPr>
              <a:t>) : maximum latency in the window</a:t>
            </a:r>
            <a:endParaRPr lang="en-US" sz="1300" dirty="0">
              <a:solidFill>
                <a:schemeClr val="tx2"/>
              </a:solidFill>
              <a:latin typeface="Montserrat" pitchFamily="2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B7701B-95FF-295B-42B3-1E7E0C17A7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2775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8A7B2-CBA3-ABFE-3107-822A1C938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500" y="398168"/>
            <a:ext cx="7038900" cy="914100"/>
          </a:xfrm>
        </p:spPr>
        <p:txBody>
          <a:bodyPr>
            <a:normAutofit fontScale="90000"/>
          </a:bodyPr>
          <a:lstStyle/>
          <a:p>
            <a:r>
              <a:rPr lang="en-US">
                <a:solidFill>
                  <a:schemeClr val="tx2"/>
                </a:solidFill>
                <a:latin typeface="Montserrat" pitchFamily="2" charset="77"/>
              </a:rPr>
              <a:t>5. Dynamic Jump-and-Decay Policy (Jump/Decay)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25828-B0F6-2931-CE78-E486E2A7FA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7500" y="1382070"/>
            <a:ext cx="7038900" cy="3601143"/>
          </a:xfrm>
        </p:spPr>
        <p:txBody>
          <a:bodyPr>
            <a:normAutofit/>
          </a:bodyPr>
          <a:lstStyle/>
          <a:p>
            <a:r>
              <a:rPr lang="en-US" dirty="0">
                <a:latin typeface="Montserrat" pitchFamily="2" charset="77"/>
              </a:rPr>
              <a:t>The quarantine time is </a:t>
            </a:r>
            <a:r>
              <a:rPr lang="en-US" dirty="0">
                <a:solidFill>
                  <a:schemeClr val="tx2"/>
                </a:solidFill>
                <a:latin typeface="Montserrat" pitchFamily="2" charset="77"/>
              </a:rPr>
              <a:t>dynamically computed </a:t>
            </a:r>
            <a:r>
              <a:rPr lang="en-US" dirty="0">
                <a:latin typeface="Montserrat" pitchFamily="2" charset="77"/>
              </a:rPr>
              <a:t>using the </a:t>
            </a:r>
            <a:r>
              <a:rPr lang="en-US" dirty="0">
                <a:solidFill>
                  <a:schemeClr val="tx2"/>
                </a:solidFill>
                <a:latin typeface="Montserrat" pitchFamily="2" charset="77"/>
              </a:rPr>
              <a:t>maximum latency</a:t>
            </a:r>
            <a:r>
              <a:rPr lang="el-GR" dirty="0">
                <a:solidFill>
                  <a:schemeClr val="tx2"/>
                </a:solidFill>
                <a:latin typeface="Montserrat" pitchFamily="2" charset="77"/>
              </a:rPr>
              <a:t> (</a:t>
            </a:r>
            <a:r>
              <a:rPr lang="en-GB" sz="1200" dirty="0">
                <a:solidFill>
                  <a:schemeClr val="tx2"/>
                </a:solidFill>
                <a:latin typeface="Montserrat" pitchFamily="2" charset="77"/>
              </a:rPr>
              <a:t>System Arrival Delay</a:t>
            </a:r>
            <a:r>
              <a:rPr lang="el-GR" sz="1200" dirty="0">
                <a:solidFill>
                  <a:schemeClr val="tx2"/>
                </a:solidFill>
                <a:latin typeface="Montserrat" pitchFamily="2" charset="77"/>
              </a:rPr>
              <a:t>)</a:t>
            </a:r>
            <a:r>
              <a:rPr lang="en-US" dirty="0">
                <a:solidFill>
                  <a:schemeClr val="tx2"/>
                </a:solidFill>
                <a:latin typeface="Montserrat" pitchFamily="2" charset="77"/>
              </a:rPr>
              <a:t> in the recent window</a:t>
            </a:r>
            <a:r>
              <a:rPr lang="en-US" dirty="0">
                <a:latin typeface="Montserrat" pitchFamily="2" charset="77"/>
              </a:rPr>
              <a:t>, with a </a:t>
            </a:r>
            <a:r>
              <a:rPr lang="en-US" dirty="0">
                <a:solidFill>
                  <a:schemeClr val="tx2"/>
                </a:solidFill>
                <a:latin typeface="Montserrat" pitchFamily="2" charset="77"/>
              </a:rPr>
              <a:t>jump on spikes </a:t>
            </a:r>
            <a:r>
              <a:rPr lang="en-US" dirty="0">
                <a:latin typeface="Montserrat" pitchFamily="2" charset="77"/>
              </a:rPr>
              <a:t>and gradual </a:t>
            </a:r>
            <a:r>
              <a:rPr lang="en-US" dirty="0">
                <a:solidFill>
                  <a:schemeClr val="tx2"/>
                </a:solidFill>
                <a:latin typeface="Montserrat" pitchFamily="2" charset="77"/>
              </a:rPr>
              <a:t>decay</a:t>
            </a:r>
            <a:r>
              <a:rPr lang="en-US" dirty="0">
                <a:latin typeface="Montserrat" pitchFamily="2" charset="77"/>
              </a:rPr>
              <a:t> for smaller latencies.</a:t>
            </a:r>
          </a:p>
          <a:p>
            <a:pPr marL="146050" indent="0">
              <a:buNone/>
            </a:pPr>
            <a:endParaRPr lang="en-US" dirty="0">
              <a:latin typeface="Montserrat" pitchFamily="2" charset="77"/>
            </a:endParaRPr>
          </a:p>
          <a:p>
            <a:r>
              <a:rPr lang="en-US" dirty="0">
                <a:latin typeface="Montserrat" pitchFamily="2" charset="77"/>
              </a:rPr>
              <a:t>Quarantine time is calculated as:</a:t>
            </a:r>
          </a:p>
          <a:p>
            <a:endParaRPr lang="en-US" dirty="0">
              <a:latin typeface="Montserrat" pitchFamily="2" charset="77"/>
            </a:endParaRPr>
          </a:p>
          <a:p>
            <a:pPr marL="615950" lvl="1" indent="0">
              <a:buNone/>
            </a:pPr>
            <a:r>
              <a:rPr lang="en-US" sz="1300" dirty="0" err="1">
                <a:solidFill>
                  <a:schemeClr val="tx2"/>
                </a:solidFill>
                <a:latin typeface="Montserrat" pitchFamily="2" charset="77"/>
              </a:rPr>
              <a:t>window_max</a:t>
            </a:r>
            <a:r>
              <a:rPr lang="en-US" sz="1300" dirty="0">
                <a:solidFill>
                  <a:schemeClr val="tx2"/>
                </a:solidFill>
                <a:latin typeface="Montserrat" pitchFamily="2" charset="77"/>
              </a:rPr>
              <a:t> = max(L</a:t>
            </a:r>
            <a:r>
              <a:rPr lang="en-US" sz="1300" baseline="-25000" dirty="0">
                <a:solidFill>
                  <a:schemeClr val="tx2"/>
                </a:solidFill>
                <a:latin typeface="Montserrat" pitchFamily="2" charset="77"/>
              </a:rPr>
              <a:t>t</a:t>
            </a:r>
            <a:r>
              <a:rPr lang="en-US" sz="1300" dirty="0">
                <a:solidFill>
                  <a:schemeClr val="tx2"/>
                </a:solidFill>
                <a:latin typeface="Montserrat" pitchFamily="2" charset="77"/>
              </a:rPr>
              <a:t>)</a:t>
            </a:r>
          </a:p>
          <a:p>
            <a:pPr marL="615950" lvl="1" indent="0">
              <a:buNone/>
            </a:pPr>
            <a:r>
              <a:rPr lang="en-US" sz="1300" dirty="0">
                <a:solidFill>
                  <a:schemeClr val="tx2"/>
                </a:solidFill>
                <a:latin typeface="Montserrat" pitchFamily="2" charset="77"/>
              </a:rPr>
              <a:t>if </a:t>
            </a:r>
            <a:r>
              <a:rPr lang="en-US" sz="1300" dirty="0" err="1">
                <a:solidFill>
                  <a:schemeClr val="tx2"/>
                </a:solidFill>
                <a:latin typeface="Montserrat" pitchFamily="2" charset="77"/>
              </a:rPr>
              <a:t>window_max</a:t>
            </a:r>
            <a:r>
              <a:rPr lang="en-US" sz="1300" dirty="0">
                <a:solidFill>
                  <a:schemeClr val="tx2"/>
                </a:solidFill>
                <a:latin typeface="Montserrat" pitchFamily="2" charset="77"/>
              </a:rPr>
              <a:t> &gt; Q</a:t>
            </a:r>
            <a:r>
              <a:rPr lang="en-US" sz="1300" baseline="-25000" dirty="0">
                <a:solidFill>
                  <a:schemeClr val="tx2"/>
                </a:solidFill>
                <a:latin typeface="Montserrat" pitchFamily="2" charset="77"/>
              </a:rPr>
              <a:t>t-1</a:t>
            </a:r>
            <a:r>
              <a:rPr lang="en-US" sz="1300" dirty="0">
                <a:solidFill>
                  <a:schemeClr val="tx2"/>
                </a:solidFill>
                <a:latin typeface="Montserrat" pitchFamily="2" charset="77"/>
              </a:rPr>
              <a:t>:</a:t>
            </a:r>
          </a:p>
          <a:p>
            <a:pPr marL="615950" lvl="1" indent="0">
              <a:buNone/>
            </a:pPr>
            <a:r>
              <a:rPr lang="en-US" sz="1300" dirty="0">
                <a:solidFill>
                  <a:schemeClr val="tx2"/>
                </a:solidFill>
                <a:latin typeface="Montserrat" pitchFamily="2" charset="77"/>
              </a:rPr>
              <a:t>	Q</a:t>
            </a:r>
            <a:r>
              <a:rPr lang="en-US" sz="1300" baseline="-25000" dirty="0">
                <a:solidFill>
                  <a:schemeClr val="tx2"/>
                </a:solidFill>
                <a:latin typeface="Montserrat" pitchFamily="2" charset="77"/>
              </a:rPr>
              <a:t>t</a:t>
            </a:r>
            <a:r>
              <a:rPr lang="en-US" sz="1300" dirty="0">
                <a:solidFill>
                  <a:schemeClr val="tx2"/>
                </a:solidFill>
                <a:latin typeface="Montserrat" pitchFamily="2" charset="77"/>
              </a:rPr>
              <a:t> = </a:t>
            </a:r>
            <a:r>
              <a:rPr lang="en-US" sz="1300" dirty="0" err="1">
                <a:solidFill>
                  <a:schemeClr val="tx2"/>
                </a:solidFill>
                <a:latin typeface="Montserrat" pitchFamily="2" charset="77"/>
              </a:rPr>
              <a:t>window_max</a:t>
            </a:r>
            <a:endParaRPr lang="en-US" sz="1300" dirty="0">
              <a:solidFill>
                <a:schemeClr val="tx2"/>
              </a:solidFill>
              <a:latin typeface="Montserrat" pitchFamily="2" charset="77"/>
            </a:endParaRPr>
          </a:p>
          <a:p>
            <a:pPr marL="615950" lvl="1" indent="0">
              <a:buNone/>
            </a:pPr>
            <a:r>
              <a:rPr lang="en-US" sz="1300" dirty="0">
                <a:solidFill>
                  <a:schemeClr val="tx2"/>
                </a:solidFill>
                <a:latin typeface="Montserrat" pitchFamily="2" charset="77"/>
              </a:rPr>
              <a:t>else:</a:t>
            </a:r>
          </a:p>
          <a:p>
            <a:pPr marL="615950" lvl="1" indent="0">
              <a:buNone/>
            </a:pPr>
            <a:r>
              <a:rPr lang="en-US" sz="1300" dirty="0">
                <a:solidFill>
                  <a:schemeClr val="tx2"/>
                </a:solidFill>
                <a:latin typeface="Montserrat" pitchFamily="2" charset="77"/>
              </a:rPr>
              <a:t>	Q</a:t>
            </a:r>
            <a:r>
              <a:rPr lang="en-US" sz="1300" baseline="-25000" dirty="0">
                <a:solidFill>
                  <a:schemeClr val="tx2"/>
                </a:solidFill>
                <a:latin typeface="Montserrat" pitchFamily="2" charset="77"/>
              </a:rPr>
              <a:t>t</a:t>
            </a:r>
            <a:r>
              <a:rPr lang="en-US" sz="1300" dirty="0">
                <a:solidFill>
                  <a:schemeClr val="tx2"/>
                </a:solidFill>
                <a:latin typeface="Montserrat" pitchFamily="2" charset="77"/>
              </a:rPr>
              <a:t> = (1 - α) * Q</a:t>
            </a:r>
            <a:r>
              <a:rPr lang="en-US" sz="1300" baseline="-25000" dirty="0">
                <a:solidFill>
                  <a:schemeClr val="tx2"/>
                </a:solidFill>
                <a:latin typeface="Montserrat" pitchFamily="2" charset="77"/>
              </a:rPr>
              <a:t>t-1</a:t>
            </a:r>
            <a:r>
              <a:rPr lang="en-US" sz="1300" dirty="0">
                <a:solidFill>
                  <a:schemeClr val="tx2"/>
                </a:solidFill>
                <a:latin typeface="Montserrat" pitchFamily="2" charset="77"/>
              </a:rPr>
              <a:t> + α * </a:t>
            </a:r>
            <a:r>
              <a:rPr lang="en-US" sz="1300" dirty="0" err="1">
                <a:solidFill>
                  <a:schemeClr val="tx2"/>
                </a:solidFill>
                <a:latin typeface="Montserrat" pitchFamily="2" charset="77"/>
              </a:rPr>
              <a:t>window_max</a:t>
            </a:r>
            <a:endParaRPr lang="en-US" sz="1300" dirty="0">
              <a:solidFill>
                <a:schemeClr val="tx2"/>
              </a:solidFill>
              <a:latin typeface="Montserrat" pitchFamily="2" charset="77"/>
            </a:endParaRPr>
          </a:p>
          <a:p>
            <a:pPr marL="615950" lvl="1" indent="0">
              <a:buNone/>
            </a:pPr>
            <a:endParaRPr lang="en-US" sz="1300" dirty="0">
              <a:latin typeface="Montserrat" pitchFamily="2" charset="77"/>
            </a:endParaRPr>
          </a:p>
          <a:p>
            <a:pPr marL="615950" lvl="1" indent="0">
              <a:buNone/>
            </a:pPr>
            <a:r>
              <a:rPr lang="en-US" sz="1300" dirty="0">
                <a:latin typeface="Montserrat" pitchFamily="2" charset="77"/>
              </a:rPr>
              <a:t>where:</a:t>
            </a:r>
          </a:p>
          <a:p>
            <a:pPr marL="615950" lvl="1" indent="0">
              <a:buNone/>
            </a:pPr>
            <a:r>
              <a:rPr lang="en-US" sz="1300" dirty="0">
                <a:latin typeface="Montserrat" pitchFamily="2" charset="77"/>
              </a:rPr>
              <a:t>	   L</a:t>
            </a:r>
            <a:r>
              <a:rPr lang="en-US" sz="1300" baseline="-25000" dirty="0">
                <a:latin typeface="Montserrat" pitchFamily="2" charset="77"/>
              </a:rPr>
              <a:t>t</a:t>
            </a:r>
            <a:r>
              <a:rPr lang="en-US" sz="1300" dirty="0">
                <a:latin typeface="Montserrat" pitchFamily="2" charset="77"/>
              </a:rPr>
              <a:t> = list of latencies in the sliding window (500 recent events)</a:t>
            </a:r>
          </a:p>
          <a:p>
            <a:pPr marL="615950" lvl="1" indent="0">
              <a:buNone/>
            </a:pPr>
            <a:r>
              <a:rPr lang="en-US" sz="1300" dirty="0">
                <a:latin typeface="Montserrat" pitchFamily="2" charset="77"/>
              </a:rPr>
              <a:t>	   </a:t>
            </a:r>
            <a:r>
              <a:rPr lang="el-GR" sz="1300" dirty="0">
                <a:latin typeface="Montserrat" pitchFamily="2" charset="77"/>
              </a:rPr>
              <a:t>α</a:t>
            </a:r>
            <a:r>
              <a:rPr lang="en-US" sz="1300" dirty="0">
                <a:latin typeface="Montserrat" pitchFamily="2" charset="77"/>
              </a:rPr>
              <a:t> = 0.1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11539D-7C2A-C28B-8F05-8315921E5F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4981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D29DE-034D-482F-F9A1-7D5CC35C5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4467" y="330917"/>
            <a:ext cx="7207991" cy="914100"/>
          </a:xfrm>
        </p:spPr>
        <p:txBody>
          <a:bodyPr>
            <a:normAutofit fontScale="90000"/>
          </a:bodyPr>
          <a:lstStyle/>
          <a:p>
            <a:r>
              <a:rPr lang="en-US">
                <a:solidFill>
                  <a:schemeClr val="tx2"/>
                </a:solidFill>
                <a:latin typeface="Montserrat" pitchFamily="2" charset="77"/>
              </a:rPr>
              <a:t>6. Dynamic Per-Event Policy (Per-Event)</a:t>
            </a:r>
            <a:br>
              <a:rPr lang="en-US">
                <a:solidFill>
                  <a:schemeClr val="tx2"/>
                </a:solidFill>
                <a:latin typeface="Montserrat" pitchFamily="2" charset="77"/>
              </a:rPr>
            </a:br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8AA70-4D98-BE42-6F28-F385F29B9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7500" y="1245016"/>
            <a:ext cx="7038900" cy="3620149"/>
          </a:xfrm>
        </p:spPr>
        <p:txBody>
          <a:bodyPr>
            <a:normAutofit fontScale="85000" lnSpcReduction="20000"/>
          </a:bodyPr>
          <a:lstStyle/>
          <a:p>
            <a:r>
              <a:rPr lang="en-US" sz="1400">
                <a:latin typeface="Montserrat" pitchFamily="2" charset="77"/>
              </a:rPr>
              <a:t>Each </a:t>
            </a:r>
            <a:r>
              <a:rPr lang="en-US" sz="1400">
                <a:solidFill>
                  <a:schemeClr val="tx2"/>
                </a:solidFill>
                <a:latin typeface="Montserrat" pitchFamily="2" charset="77"/>
              </a:rPr>
              <a:t>event type has its own dynamic quarantine time</a:t>
            </a:r>
            <a:r>
              <a:rPr lang="en-US" sz="1400">
                <a:latin typeface="Montserrat" pitchFamily="2" charset="77"/>
              </a:rPr>
              <a:t>, computed from recent latencies of that type.</a:t>
            </a:r>
          </a:p>
          <a:p>
            <a:endParaRPr lang="en-US" sz="1400">
              <a:latin typeface="Montserrat" pitchFamily="2" charset="77"/>
            </a:endParaRPr>
          </a:p>
          <a:p>
            <a:r>
              <a:rPr lang="en-US" sz="1400">
                <a:latin typeface="Montserrat" pitchFamily="2" charset="77"/>
              </a:rPr>
              <a:t>Each </a:t>
            </a:r>
            <a:r>
              <a:rPr lang="en-US" sz="1400">
                <a:solidFill>
                  <a:schemeClr val="tx2"/>
                </a:solidFill>
                <a:latin typeface="Montserrat" pitchFamily="2" charset="77"/>
              </a:rPr>
              <a:t>event type has its own</a:t>
            </a:r>
            <a:r>
              <a:rPr lang="en-US" sz="1400">
                <a:latin typeface="Montserrat" pitchFamily="2" charset="77"/>
              </a:rPr>
              <a:t> </a:t>
            </a:r>
            <a:r>
              <a:rPr lang="en-US" sz="1400">
                <a:solidFill>
                  <a:schemeClr val="tx2"/>
                </a:solidFill>
                <a:latin typeface="Montserrat" pitchFamily="2" charset="77"/>
              </a:rPr>
              <a:t>sliding window of 500 recent events</a:t>
            </a:r>
            <a:r>
              <a:rPr lang="en-US" sz="1400">
                <a:latin typeface="Montserrat" pitchFamily="2" charset="77"/>
              </a:rPr>
              <a:t> to adapt to network conditions.</a:t>
            </a:r>
          </a:p>
          <a:p>
            <a:endParaRPr lang="en-US" sz="1400">
              <a:latin typeface="Montserrat" pitchFamily="2" charset="77"/>
            </a:endParaRPr>
          </a:p>
          <a:p>
            <a:r>
              <a:rPr lang="en-US" sz="1400">
                <a:latin typeface="Montserrat" pitchFamily="2" charset="77"/>
              </a:rPr>
              <a:t>Quarantine time per event type is calculated using the </a:t>
            </a:r>
            <a:r>
              <a:rPr lang="en-US" sz="1400">
                <a:solidFill>
                  <a:schemeClr val="tx2"/>
                </a:solidFill>
                <a:latin typeface="Montserrat" pitchFamily="2" charset="77"/>
              </a:rPr>
              <a:t>Dynamic Jump-and-Decay Policy (Jump/Decay) </a:t>
            </a:r>
            <a:r>
              <a:rPr lang="en-US" sz="1400">
                <a:solidFill>
                  <a:schemeClr val="bg1"/>
                </a:solidFill>
                <a:latin typeface="Montserrat" pitchFamily="2" charset="77"/>
              </a:rPr>
              <a:t>formula:</a:t>
            </a:r>
          </a:p>
          <a:p>
            <a:pPr marL="146050" indent="0">
              <a:buNone/>
            </a:pPr>
            <a:endParaRPr lang="en-US" sz="1400">
              <a:latin typeface="Montserrat" pitchFamily="2" charset="77"/>
            </a:endParaRPr>
          </a:p>
          <a:p>
            <a:pPr marL="615950" lvl="1" indent="0">
              <a:buNone/>
            </a:pPr>
            <a:r>
              <a:rPr lang="en-US" sz="1400" err="1">
                <a:solidFill>
                  <a:schemeClr val="tx2"/>
                </a:solidFill>
                <a:latin typeface="Montserrat" pitchFamily="2" charset="77"/>
              </a:rPr>
              <a:t>window_max</a:t>
            </a:r>
            <a:r>
              <a:rPr lang="en-US" sz="1400">
                <a:solidFill>
                  <a:schemeClr val="tx2"/>
                </a:solidFill>
                <a:latin typeface="Montserrat" pitchFamily="2" charset="77"/>
              </a:rPr>
              <a:t> = max(L</a:t>
            </a:r>
            <a:r>
              <a:rPr lang="en-US" sz="1400" baseline="-25000">
                <a:solidFill>
                  <a:schemeClr val="tx2"/>
                </a:solidFill>
                <a:latin typeface="Montserrat" pitchFamily="2" charset="77"/>
              </a:rPr>
              <a:t>t</a:t>
            </a:r>
            <a:r>
              <a:rPr lang="en-US" sz="1400">
                <a:solidFill>
                  <a:schemeClr val="tx2"/>
                </a:solidFill>
                <a:latin typeface="Montserrat" pitchFamily="2" charset="77"/>
              </a:rPr>
              <a:t>)</a:t>
            </a:r>
          </a:p>
          <a:p>
            <a:pPr marL="615950" lvl="1" indent="0">
              <a:buNone/>
            </a:pPr>
            <a:r>
              <a:rPr lang="en-US" sz="1400">
                <a:solidFill>
                  <a:schemeClr val="tx2"/>
                </a:solidFill>
                <a:latin typeface="Montserrat" pitchFamily="2" charset="77"/>
              </a:rPr>
              <a:t>if </a:t>
            </a:r>
            <a:r>
              <a:rPr lang="en-US" sz="1400" err="1">
                <a:solidFill>
                  <a:schemeClr val="tx2"/>
                </a:solidFill>
                <a:latin typeface="Montserrat" pitchFamily="2" charset="77"/>
              </a:rPr>
              <a:t>window_max</a:t>
            </a:r>
            <a:r>
              <a:rPr lang="en-US" sz="1400">
                <a:solidFill>
                  <a:schemeClr val="tx2"/>
                </a:solidFill>
                <a:latin typeface="Montserrat" pitchFamily="2" charset="77"/>
              </a:rPr>
              <a:t> &gt; Q</a:t>
            </a:r>
            <a:r>
              <a:rPr lang="en-US" sz="1400" baseline="-25000">
                <a:solidFill>
                  <a:schemeClr val="tx2"/>
                </a:solidFill>
                <a:latin typeface="Montserrat" pitchFamily="2" charset="77"/>
              </a:rPr>
              <a:t>t-1</a:t>
            </a:r>
            <a:r>
              <a:rPr lang="en-US" sz="1400">
                <a:solidFill>
                  <a:schemeClr val="tx2"/>
                </a:solidFill>
                <a:latin typeface="Montserrat" pitchFamily="2" charset="77"/>
              </a:rPr>
              <a:t>:</a:t>
            </a:r>
          </a:p>
          <a:p>
            <a:pPr marL="615950" lvl="1" indent="0">
              <a:buNone/>
            </a:pPr>
            <a:r>
              <a:rPr lang="en-US" sz="1400">
                <a:solidFill>
                  <a:schemeClr val="tx2"/>
                </a:solidFill>
                <a:latin typeface="Montserrat" pitchFamily="2" charset="77"/>
              </a:rPr>
              <a:t>	Q</a:t>
            </a:r>
            <a:r>
              <a:rPr lang="en-US" sz="1400" baseline="-25000">
                <a:solidFill>
                  <a:schemeClr val="tx2"/>
                </a:solidFill>
                <a:latin typeface="Montserrat" pitchFamily="2" charset="77"/>
              </a:rPr>
              <a:t>t</a:t>
            </a:r>
            <a:r>
              <a:rPr lang="en-US" sz="1400">
                <a:solidFill>
                  <a:schemeClr val="tx2"/>
                </a:solidFill>
                <a:latin typeface="Montserrat" pitchFamily="2" charset="77"/>
              </a:rPr>
              <a:t> = </a:t>
            </a:r>
            <a:r>
              <a:rPr lang="en-US" sz="1400" err="1">
                <a:solidFill>
                  <a:schemeClr val="tx2"/>
                </a:solidFill>
                <a:latin typeface="Montserrat" pitchFamily="2" charset="77"/>
              </a:rPr>
              <a:t>window_max</a:t>
            </a:r>
            <a:endParaRPr lang="en-US" sz="1400">
              <a:solidFill>
                <a:schemeClr val="tx2"/>
              </a:solidFill>
              <a:latin typeface="Montserrat" pitchFamily="2" charset="77"/>
            </a:endParaRPr>
          </a:p>
          <a:p>
            <a:pPr marL="615950" lvl="1" indent="0">
              <a:buNone/>
            </a:pPr>
            <a:r>
              <a:rPr lang="en-US" sz="1400">
                <a:solidFill>
                  <a:schemeClr val="tx2"/>
                </a:solidFill>
                <a:latin typeface="Montserrat" pitchFamily="2" charset="77"/>
              </a:rPr>
              <a:t>else:</a:t>
            </a:r>
          </a:p>
          <a:p>
            <a:pPr marL="615950" lvl="1" indent="0">
              <a:buNone/>
            </a:pPr>
            <a:r>
              <a:rPr lang="en-US" sz="1400">
                <a:solidFill>
                  <a:schemeClr val="tx2"/>
                </a:solidFill>
                <a:latin typeface="Montserrat" pitchFamily="2" charset="77"/>
              </a:rPr>
              <a:t>	Q</a:t>
            </a:r>
            <a:r>
              <a:rPr lang="en-US" sz="1400" baseline="-25000">
                <a:solidFill>
                  <a:schemeClr val="tx2"/>
                </a:solidFill>
                <a:latin typeface="Montserrat" pitchFamily="2" charset="77"/>
              </a:rPr>
              <a:t>t</a:t>
            </a:r>
            <a:r>
              <a:rPr lang="en-US" sz="1400">
                <a:solidFill>
                  <a:schemeClr val="tx2"/>
                </a:solidFill>
                <a:latin typeface="Montserrat" pitchFamily="2" charset="77"/>
              </a:rPr>
              <a:t> = (1 - α) * Q</a:t>
            </a:r>
            <a:r>
              <a:rPr lang="en-US" sz="1400" baseline="-25000">
                <a:solidFill>
                  <a:schemeClr val="tx2"/>
                </a:solidFill>
                <a:latin typeface="Montserrat" pitchFamily="2" charset="77"/>
              </a:rPr>
              <a:t>t-1</a:t>
            </a:r>
            <a:r>
              <a:rPr lang="en-US" sz="1400">
                <a:solidFill>
                  <a:schemeClr val="tx2"/>
                </a:solidFill>
                <a:latin typeface="Montserrat" pitchFamily="2" charset="77"/>
              </a:rPr>
              <a:t> + α * </a:t>
            </a:r>
            <a:r>
              <a:rPr lang="en-US" sz="1400" err="1">
                <a:solidFill>
                  <a:schemeClr val="tx2"/>
                </a:solidFill>
                <a:latin typeface="Montserrat" pitchFamily="2" charset="77"/>
              </a:rPr>
              <a:t>window_max</a:t>
            </a:r>
            <a:endParaRPr lang="en-US" sz="1400">
              <a:solidFill>
                <a:schemeClr val="tx2"/>
              </a:solidFill>
              <a:latin typeface="Montserrat" pitchFamily="2" charset="77"/>
            </a:endParaRPr>
          </a:p>
          <a:p>
            <a:pPr marL="615950" lvl="1" indent="0">
              <a:buNone/>
            </a:pPr>
            <a:endParaRPr lang="en-US" sz="1400">
              <a:latin typeface="Montserrat" pitchFamily="2" charset="77"/>
            </a:endParaRPr>
          </a:p>
          <a:p>
            <a:pPr marL="615950" lvl="1" indent="0">
              <a:buNone/>
            </a:pPr>
            <a:r>
              <a:rPr lang="en-US" sz="1400">
                <a:latin typeface="Montserrat" pitchFamily="2" charset="77"/>
              </a:rPr>
              <a:t>where:</a:t>
            </a:r>
          </a:p>
          <a:p>
            <a:pPr marL="615950" lvl="1" indent="0">
              <a:buNone/>
            </a:pPr>
            <a:r>
              <a:rPr lang="en-US" sz="1400">
                <a:latin typeface="Montserrat" pitchFamily="2" charset="77"/>
              </a:rPr>
              <a:t>	   L</a:t>
            </a:r>
            <a:r>
              <a:rPr lang="en-US" sz="1400" baseline="-25000">
                <a:latin typeface="Montserrat" pitchFamily="2" charset="77"/>
              </a:rPr>
              <a:t>t</a:t>
            </a:r>
            <a:r>
              <a:rPr lang="en-US" sz="1400">
                <a:latin typeface="Montserrat" pitchFamily="2" charset="77"/>
              </a:rPr>
              <a:t> = list of latencies in the sliding window (500 recent events)</a:t>
            </a:r>
          </a:p>
          <a:p>
            <a:pPr marL="615950" lvl="1" indent="0">
              <a:buNone/>
            </a:pPr>
            <a:r>
              <a:rPr lang="en-US" sz="1400">
                <a:latin typeface="Montserrat" pitchFamily="2" charset="77"/>
              </a:rPr>
              <a:t>	   </a:t>
            </a:r>
            <a:r>
              <a:rPr lang="el-GR" sz="1400">
                <a:latin typeface="Montserrat" pitchFamily="2" charset="77"/>
              </a:rPr>
              <a:t>α</a:t>
            </a:r>
            <a:r>
              <a:rPr lang="en-US" sz="1400">
                <a:latin typeface="Montserrat" pitchFamily="2" charset="77"/>
              </a:rPr>
              <a:t> = 0.1</a:t>
            </a:r>
          </a:p>
          <a:p>
            <a:pPr marL="146050" indent="0">
              <a:buNone/>
            </a:pPr>
            <a:endParaRPr lang="en-US" sz="1400">
              <a:latin typeface="Montserrat" pitchFamily="2" charset="77"/>
            </a:endParaRPr>
          </a:p>
          <a:p>
            <a:pPr marL="146050" indent="0">
              <a:buNone/>
            </a:pPr>
            <a:endParaRPr lang="en-US" sz="1400">
              <a:latin typeface="Montserrat" pitchFamily="2" charset="77"/>
            </a:endParaRPr>
          </a:p>
          <a:p>
            <a:pPr marL="146050" indent="0">
              <a:buNone/>
            </a:pPr>
            <a:endParaRPr lang="en-US">
              <a:latin typeface="Montserrat" pitchFamily="2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429ED-F991-E918-55A2-F5FE824581C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3005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53E03-494E-B0FF-0173-5CBC23B9C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500" y="313352"/>
            <a:ext cx="7038900" cy="721541"/>
          </a:xfrm>
        </p:spPr>
        <p:txBody>
          <a:bodyPr/>
          <a:lstStyle/>
          <a:p>
            <a:r>
              <a:rPr lang="en-GB">
                <a:solidFill>
                  <a:schemeClr val="tx2"/>
                </a:solidFill>
              </a:rPr>
              <a:t>Datasets Overview</a:t>
            </a:r>
            <a:endParaRPr lang="en-GR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A926C5-F39D-856F-A709-66FFEE2B4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7500" y="1120750"/>
            <a:ext cx="7038900" cy="1992398"/>
          </a:xfrm>
        </p:spPr>
        <p:txBody>
          <a:bodyPr>
            <a:normAutofit lnSpcReduction="10000"/>
          </a:bodyPr>
          <a:lstStyle/>
          <a:p>
            <a:r>
              <a:rPr lang="en-GB">
                <a:latin typeface="Montserrat" pitchFamily="2" charset="77"/>
              </a:rPr>
              <a:t>To evaluate and test the new quarantine policies we used </a:t>
            </a:r>
            <a:r>
              <a:rPr lang="en-GB">
                <a:solidFill>
                  <a:schemeClr val="tx2"/>
                </a:solidFill>
                <a:latin typeface="Montserrat" pitchFamily="2" charset="77"/>
              </a:rPr>
              <a:t>three different datasets</a:t>
            </a:r>
            <a:r>
              <a:rPr lang="en-GB">
                <a:latin typeface="Montserrat" pitchFamily="2" charset="77"/>
              </a:rPr>
              <a:t>.</a:t>
            </a:r>
          </a:p>
          <a:p>
            <a:pPr marL="146050" indent="0">
              <a:buNone/>
            </a:pPr>
            <a:endParaRPr lang="en-GB">
              <a:latin typeface="Montserrat" pitchFamily="2" charset="77"/>
            </a:endParaRPr>
          </a:p>
          <a:p>
            <a:r>
              <a:rPr lang="en-GB">
                <a:latin typeface="Montserrat" pitchFamily="2" charset="77"/>
              </a:rPr>
              <a:t>Each dataset contains </a:t>
            </a:r>
            <a:r>
              <a:rPr lang="en-GB">
                <a:solidFill>
                  <a:schemeClr val="tx2"/>
                </a:solidFill>
                <a:latin typeface="Montserrat" pitchFamily="2" charset="77"/>
              </a:rPr>
              <a:t>event time </a:t>
            </a:r>
            <a:r>
              <a:rPr lang="en-GB">
                <a:latin typeface="Montserrat" pitchFamily="2" charset="77"/>
              </a:rPr>
              <a:t>and </a:t>
            </a:r>
            <a:r>
              <a:rPr lang="en-GB">
                <a:solidFill>
                  <a:schemeClr val="tx2"/>
                </a:solidFill>
                <a:latin typeface="Montserrat" pitchFamily="2" charset="77"/>
              </a:rPr>
              <a:t>arrival time</a:t>
            </a:r>
            <a:r>
              <a:rPr lang="en-GB">
                <a:latin typeface="Montserrat" pitchFamily="2" charset="77"/>
              </a:rPr>
              <a:t>. </a:t>
            </a:r>
          </a:p>
          <a:p>
            <a:pPr marL="146050" indent="0">
              <a:buNone/>
            </a:pPr>
            <a:endParaRPr lang="en-GB">
              <a:latin typeface="Montserrat" pitchFamily="2" charset="77"/>
            </a:endParaRPr>
          </a:p>
          <a:p>
            <a:r>
              <a:rPr lang="en-GB">
                <a:latin typeface="Montserrat" pitchFamily="2" charset="77"/>
              </a:rPr>
              <a:t>These datasets come from distinct sources with different</a:t>
            </a:r>
          </a:p>
          <a:p>
            <a:pPr lvl="1"/>
            <a:r>
              <a:rPr lang="en-GB">
                <a:solidFill>
                  <a:schemeClr val="tx2"/>
                </a:solidFill>
                <a:latin typeface="Montserrat" pitchFamily="2" charset="77"/>
              </a:rPr>
              <a:t>Distributions</a:t>
            </a:r>
            <a:r>
              <a:rPr lang="en-GB">
                <a:latin typeface="Montserrat" pitchFamily="2" charset="77"/>
              </a:rPr>
              <a:t> </a:t>
            </a:r>
          </a:p>
          <a:p>
            <a:pPr lvl="1"/>
            <a:r>
              <a:rPr lang="en-GB">
                <a:solidFill>
                  <a:schemeClr val="tx2"/>
                </a:solidFill>
                <a:latin typeface="Montserrat" pitchFamily="2" charset="77"/>
              </a:rPr>
              <a:t>Event frequencies</a:t>
            </a:r>
          </a:p>
          <a:p>
            <a:pPr lvl="1"/>
            <a:r>
              <a:rPr lang="en-GB">
                <a:solidFill>
                  <a:schemeClr val="tx2"/>
                </a:solidFill>
                <a:latin typeface="Montserrat" pitchFamily="2" charset="77"/>
              </a:rPr>
              <a:t>Delays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2B21A1-EE57-C299-9AAD-C2FAF71B42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 smtClean="0"/>
              <a:t>20</a:t>
            </a:fld>
            <a:endParaRPr lang="el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DE51CB3-491A-5741-A374-90803436AB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7257904"/>
              </p:ext>
            </p:extLst>
          </p:nvPr>
        </p:nvGraphicFramePr>
        <p:xfrm>
          <a:off x="1421125" y="3180030"/>
          <a:ext cx="6791650" cy="1656080"/>
        </p:xfrm>
        <a:graphic>
          <a:graphicData uri="http://schemas.openxmlformats.org/drawingml/2006/table">
            <a:tbl>
              <a:tblPr firstRow="1" bandRow="1">
                <a:tableStyleId>{1D0A32A6-33CC-43D0-9E1B-FCB90422735E}</a:tableStyleId>
              </a:tblPr>
              <a:tblGrid>
                <a:gridCol w="1291246">
                  <a:extLst>
                    <a:ext uri="{9D8B030D-6E8A-4147-A177-3AD203B41FA5}">
                      <a16:colId xmlns:a16="http://schemas.microsoft.com/office/drawing/2014/main" val="406404224"/>
                    </a:ext>
                  </a:extLst>
                </a:gridCol>
                <a:gridCol w="1367089">
                  <a:extLst>
                    <a:ext uri="{9D8B030D-6E8A-4147-A177-3AD203B41FA5}">
                      <a16:colId xmlns:a16="http://schemas.microsoft.com/office/drawing/2014/main" val="15191096"/>
                    </a:ext>
                  </a:extLst>
                </a:gridCol>
                <a:gridCol w="1211183">
                  <a:extLst>
                    <a:ext uri="{9D8B030D-6E8A-4147-A177-3AD203B41FA5}">
                      <a16:colId xmlns:a16="http://schemas.microsoft.com/office/drawing/2014/main" val="3429989957"/>
                    </a:ext>
                  </a:extLst>
                </a:gridCol>
                <a:gridCol w="1461066">
                  <a:extLst>
                    <a:ext uri="{9D8B030D-6E8A-4147-A177-3AD203B41FA5}">
                      <a16:colId xmlns:a16="http://schemas.microsoft.com/office/drawing/2014/main" val="1717580227"/>
                    </a:ext>
                  </a:extLst>
                </a:gridCol>
                <a:gridCol w="1461066">
                  <a:extLst>
                    <a:ext uri="{9D8B030D-6E8A-4147-A177-3AD203B41FA5}">
                      <a16:colId xmlns:a16="http://schemas.microsoft.com/office/drawing/2014/main" val="2160111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R" sz="1200">
                          <a:solidFill>
                            <a:schemeClr val="accent5"/>
                          </a:solidFill>
                          <a:latin typeface="Montserrat" pitchFamily="2" charset="77"/>
                        </a:rPr>
                        <a:t>Dataset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R" sz="1200">
                          <a:solidFill>
                            <a:schemeClr val="accent5"/>
                          </a:solidFill>
                          <a:latin typeface="Montserrat" pitchFamily="2" charset="77"/>
                        </a:rPr>
                        <a:t>Number of events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R" sz="1100">
                          <a:solidFill>
                            <a:schemeClr val="accent5"/>
                          </a:solidFill>
                          <a:latin typeface="Montserrat" pitchFamily="2" charset="77"/>
                        </a:rPr>
                        <a:t>Types of events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R" sz="1100">
                          <a:solidFill>
                            <a:schemeClr val="accent5"/>
                          </a:solidFill>
                          <a:latin typeface="Montserrat" pitchFamily="2" charset="77"/>
                        </a:rPr>
                        <a:t>Disordered events (%)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R" sz="1100">
                          <a:solidFill>
                            <a:schemeClr val="accent5"/>
                          </a:solidFill>
                          <a:latin typeface="Montserrat" pitchFamily="2" charset="77"/>
                        </a:rPr>
                        <a:t>Mean Disorder Delay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6554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R" sz="1200">
                          <a:solidFill>
                            <a:schemeClr val="accent5"/>
                          </a:solidFill>
                          <a:latin typeface="Montserrat" pitchFamily="2" charset="77"/>
                        </a:rPr>
                        <a:t>Fires </a:t>
                      </a:r>
                      <a:r>
                        <a:rPr lang="en-US" sz="1200" dirty="0">
                          <a:solidFill>
                            <a:schemeClr val="accent5"/>
                          </a:solidFill>
                          <a:effectLst/>
                          <a:latin typeface="Helvetica" pitchFamily="2" charset="0"/>
                        </a:rPr>
                        <a:t>Incidents</a:t>
                      </a:r>
                    </a:p>
                    <a:p>
                      <a:endParaRPr lang="en-GR" sz="1200">
                        <a:solidFill>
                          <a:schemeClr val="accent5"/>
                        </a:solidFill>
                        <a:latin typeface="Montserrat" pitchFamily="2" charset="7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R" sz="1200" b="0" i="0" u="none" strike="noStrike" cap="none">
                          <a:solidFill>
                            <a:schemeClr val="tx2"/>
                          </a:solidFill>
                          <a:effectLst/>
                          <a:latin typeface="Montserrat" pitchFamily="2" charset="77"/>
                          <a:ea typeface="Arial"/>
                          <a:cs typeface="Arial"/>
                          <a:sym typeface="Arial"/>
                        </a:rPr>
                        <a:t>563.683</a:t>
                      </a:r>
                      <a:endParaRPr lang="en-GR" sz="1200">
                        <a:solidFill>
                          <a:schemeClr val="tx2"/>
                        </a:solidFill>
                        <a:latin typeface="Montserrat" pitchFamily="2" charset="7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R" sz="1200">
                          <a:solidFill>
                            <a:schemeClr val="tx2"/>
                          </a:solidFill>
                          <a:latin typeface="Montserrat" pitchFamily="2" charset="77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R" sz="1200">
                          <a:solidFill>
                            <a:schemeClr val="tx2"/>
                          </a:solidFill>
                          <a:latin typeface="Montserrat" pitchFamily="2" charset="77"/>
                        </a:rPr>
                        <a:t>12.84%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R" sz="1200">
                          <a:solidFill>
                            <a:schemeClr val="tx2"/>
                          </a:solidFill>
                          <a:latin typeface="Montserrat" pitchFamily="2" charset="77"/>
                        </a:rPr>
                        <a:t>3.95 min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7590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R" sz="1200">
                          <a:solidFill>
                            <a:schemeClr val="accent5"/>
                          </a:solidFill>
                          <a:latin typeface="Montserrat" pitchFamily="2" charset="77"/>
                        </a:rPr>
                        <a:t>Aviation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R" sz="1200" b="0" i="0" u="none" strike="noStrike" cap="none">
                          <a:solidFill>
                            <a:schemeClr val="tx2"/>
                          </a:solidFill>
                          <a:effectLst/>
                          <a:latin typeface="Montserrat" pitchFamily="2" charset="77"/>
                          <a:ea typeface="Arial"/>
                          <a:cs typeface="Arial"/>
                          <a:sym typeface="Arial"/>
                        </a:rPr>
                        <a:t>1.005.411</a:t>
                      </a:r>
                      <a:endParaRPr lang="en-GR" sz="1200">
                        <a:solidFill>
                          <a:schemeClr val="tx2"/>
                        </a:solidFill>
                        <a:latin typeface="Montserrat" pitchFamily="2" charset="7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R" sz="1200">
                          <a:solidFill>
                            <a:schemeClr val="tx2"/>
                          </a:solidFill>
                          <a:latin typeface="Montserrat" pitchFamily="2" charset="77"/>
                        </a:rPr>
                        <a:t>14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R" sz="1200">
                          <a:solidFill>
                            <a:schemeClr val="tx2"/>
                          </a:solidFill>
                          <a:latin typeface="Montserrat" pitchFamily="2" charset="77"/>
                        </a:rPr>
                        <a:t>23.13%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R" sz="1200">
                          <a:solidFill>
                            <a:schemeClr val="tx2"/>
                          </a:solidFill>
                          <a:latin typeface="Montserrat" pitchFamily="2" charset="77"/>
                        </a:rPr>
                        <a:t>42.39 min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4579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R" sz="1200">
                          <a:solidFill>
                            <a:schemeClr val="accent5"/>
                          </a:solidFill>
                          <a:latin typeface="Montserrat" pitchFamily="2" charset="77"/>
                        </a:rPr>
                        <a:t>Crypto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R" sz="1200">
                          <a:solidFill>
                            <a:schemeClr val="tx2"/>
                          </a:solidFill>
                          <a:latin typeface="Montserrat" pitchFamily="2" charset="77"/>
                        </a:rPr>
                        <a:t>1.756.833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R" sz="1200">
                          <a:solidFill>
                            <a:schemeClr val="tx2"/>
                          </a:solidFill>
                          <a:latin typeface="Montserrat" pitchFamily="2" charset="77"/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R" sz="1200">
                          <a:solidFill>
                            <a:schemeClr val="tx2"/>
                          </a:solidFill>
                          <a:latin typeface="Montserrat" pitchFamily="2" charset="77"/>
                        </a:rPr>
                        <a:t>41.08%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R" sz="1200">
                          <a:solidFill>
                            <a:schemeClr val="tx2"/>
                          </a:solidFill>
                          <a:latin typeface="Montserrat" pitchFamily="2" charset="77"/>
                        </a:rPr>
                        <a:t>39.16 min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0773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71685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2BE22-6694-8037-362F-84BCAA8AC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R">
                <a:solidFill>
                  <a:schemeClr val="tx2"/>
                </a:solidFill>
              </a:rPr>
              <a:t>Fires dataset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63A00-B5DC-B511-97B5-8A6D777793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307850"/>
            <a:ext cx="4779818" cy="2302587"/>
          </a:xfrm>
        </p:spPr>
        <p:txBody>
          <a:bodyPr>
            <a:normAutofit lnSpcReduction="10000"/>
          </a:bodyPr>
          <a:lstStyle/>
          <a:p>
            <a:pPr marL="146050" indent="0">
              <a:buNone/>
            </a:pPr>
            <a:r>
              <a:rPr lang="en-GB" sz="1100">
                <a:latin typeface="Montserrat" pitchFamily="2" charset="77"/>
              </a:rPr>
              <a:t>The dataset contains information about fire department incidents. </a:t>
            </a:r>
          </a:p>
          <a:p>
            <a:pPr marL="146050" indent="0">
              <a:buNone/>
            </a:pPr>
            <a:endParaRPr lang="en-GB" sz="1100">
              <a:latin typeface="Montserrat" pitchFamily="2" charset="77"/>
            </a:endParaRPr>
          </a:p>
          <a:p>
            <a:pPr marL="146050" indent="0">
              <a:buNone/>
            </a:pPr>
            <a:r>
              <a:rPr lang="en-GB" sz="1100">
                <a:latin typeface="Montserrat" pitchFamily="2" charset="77"/>
              </a:rPr>
              <a:t>Each row includes the:</a:t>
            </a:r>
          </a:p>
          <a:p>
            <a:pPr lvl="1"/>
            <a:r>
              <a:rPr lang="en-GB" sz="900" err="1">
                <a:solidFill>
                  <a:schemeClr val="accent5"/>
                </a:solidFill>
                <a:latin typeface="Montserrat" pitchFamily="2" charset="77"/>
              </a:rPr>
              <a:t>Fire_Department_Name</a:t>
            </a:r>
            <a:r>
              <a:rPr lang="en-GB" sz="900">
                <a:latin typeface="Montserrat" pitchFamily="2" charset="77"/>
              </a:rPr>
              <a:t>, identifying which department reported the event, </a:t>
            </a:r>
          </a:p>
          <a:p>
            <a:pPr lvl="1"/>
            <a:r>
              <a:rPr lang="en-GB" sz="900" err="1">
                <a:solidFill>
                  <a:schemeClr val="accent5"/>
                </a:solidFill>
                <a:latin typeface="Montserrat" pitchFamily="2" charset="77"/>
              </a:rPr>
              <a:t>Event_Timestamp</a:t>
            </a:r>
            <a:endParaRPr lang="en-GB" sz="900">
              <a:solidFill>
                <a:schemeClr val="accent5"/>
              </a:solidFill>
              <a:latin typeface="Montserrat" pitchFamily="2" charset="77"/>
            </a:endParaRPr>
          </a:p>
          <a:p>
            <a:pPr lvl="1"/>
            <a:r>
              <a:rPr lang="en-GB" sz="900" err="1">
                <a:solidFill>
                  <a:schemeClr val="accent5"/>
                </a:solidFill>
                <a:latin typeface="Montserrat" pitchFamily="2" charset="77"/>
              </a:rPr>
              <a:t>Arrival_Timestamp</a:t>
            </a:r>
            <a:endParaRPr lang="en-GB" sz="900">
              <a:latin typeface="Montserrat" pitchFamily="2" charset="77"/>
            </a:endParaRPr>
          </a:p>
          <a:p>
            <a:pPr lvl="1"/>
            <a:r>
              <a:rPr lang="en-GB" sz="900">
                <a:latin typeface="Montserrat" pitchFamily="2" charset="77"/>
              </a:rPr>
              <a:t>Additional columns provide context about the incident location, including </a:t>
            </a:r>
            <a:r>
              <a:rPr lang="en-GB" sz="900" err="1">
                <a:solidFill>
                  <a:schemeClr val="accent5"/>
                </a:solidFill>
                <a:latin typeface="Montserrat" pitchFamily="2" charset="77"/>
              </a:rPr>
              <a:t>Incident_Street_Address</a:t>
            </a:r>
            <a:r>
              <a:rPr lang="en-GB" sz="900">
                <a:latin typeface="Montserrat" pitchFamily="2" charset="77"/>
              </a:rPr>
              <a:t>, </a:t>
            </a:r>
            <a:r>
              <a:rPr lang="en-GB" sz="900" err="1">
                <a:solidFill>
                  <a:schemeClr val="accent5"/>
                </a:solidFill>
                <a:latin typeface="Montserrat" pitchFamily="2" charset="77"/>
              </a:rPr>
              <a:t>Incident_City</a:t>
            </a:r>
            <a:r>
              <a:rPr lang="en-GB" sz="900">
                <a:latin typeface="Montserrat" pitchFamily="2" charset="77"/>
              </a:rPr>
              <a:t>, and </a:t>
            </a:r>
            <a:r>
              <a:rPr lang="en-GB" sz="900" err="1">
                <a:solidFill>
                  <a:schemeClr val="accent5"/>
                </a:solidFill>
                <a:latin typeface="Montserrat" pitchFamily="2" charset="77"/>
              </a:rPr>
              <a:t>Incident_Zip_Code</a:t>
            </a:r>
            <a:r>
              <a:rPr lang="en-GB" sz="900">
                <a:latin typeface="Montserrat" pitchFamily="2" charset="77"/>
              </a:rPr>
              <a:t>.</a:t>
            </a:r>
          </a:p>
          <a:p>
            <a:pPr marL="146050" indent="0">
              <a:buNone/>
            </a:pPr>
            <a:endParaRPr lang="en-GB" sz="1100">
              <a:latin typeface="Montserrat" pitchFamily="2" charset="77"/>
            </a:endParaRPr>
          </a:p>
          <a:p>
            <a:pPr marL="146050" indent="0">
              <a:buNone/>
            </a:pPr>
            <a:r>
              <a:rPr lang="en-GB" sz="1100">
                <a:solidFill>
                  <a:schemeClr val="tx2"/>
                </a:solidFill>
                <a:latin typeface="Montserrat" pitchFamily="2" charset="77"/>
              </a:rPr>
              <a:t>Types of events: </a:t>
            </a:r>
            <a:r>
              <a:rPr lang="en-GB" sz="1100">
                <a:latin typeface="Montserrat" pitchFamily="2" charset="77"/>
              </a:rPr>
              <a:t>4 fire departments </a:t>
            </a:r>
            <a:endParaRPr lang="en-GR" sz="1100">
              <a:latin typeface="Montserrat" pitchFamily="2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7B510-8D4C-C295-E8ED-C3781877D5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 smtClean="0"/>
              <a:t>21</a:t>
            </a:fld>
            <a:endParaRPr lang="e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B46053-D99A-0283-3D02-BE830F100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618" y="3610437"/>
            <a:ext cx="3556582" cy="14021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47ABAF6-F0C0-1F7E-DA99-41F75C8464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6950" y="279888"/>
            <a:ext cx="3886201" cy="22918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13560C-8898-19A0-CC9B-9896F31029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6952" y="2685612"/>
            <a:ext cx="3886199" cy="2291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454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09511-6077-518D-0E20-121E5CC36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3823" y="122031"/>
            <a:ext cx="5916351" cy="9141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2"/>
                </a:solidFill>
              </a:rPr>
              <a:t>System arrival delay d</a:t>
            </a:r>
            <a:r>
              <a:rPr lang="en-GR">
                <a:solidFill>
                  <a:schemeClr val="tx2"/>
                </a:solidFill>
              </a:rPr>
              <a:t>istribution - Fires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1A3CBA-A7A2-420B-4E3F-22AA3EB7CF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 smtClean="0"/>
              <a:t>22</a:t>
            </a:fld>
            <a:endParaRPr lang="e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624B85-3FCB-197C-5540-9B1FBC2CF509}"/>
              </a:ext>
            </a:extLst>
          </p:cNvPr>
          <p:cNvSpPr txBox="1"/>
          <p:nvPr/>
        </p:nvSpPr>
        <p:spPr>
          <a:xfrm>
            <a:off x="470134" y="3855084"/>
            <a:ext cx="8203723" cy="1816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17500" indent="-171450">
              <a:lnSpc>
                <a:spcPct val="115000"/>
              </a:lnSpc>
              <a:buClr>
                <a:srgbClr val="FFFFFF"/>
              </a:buClr>
              <a:buSzPts val="1300"/>
              <a:buFont typeface="Arial" panose="020B0604020202020204" pitchFamily="34" charset="0"/>
              <a:buChar char="•"/>
              <a:defRPr/>
            </a:pPr>
            <a:r>
              <a:rPr lang="en-GB" sz="1200" dirty="0">
                <a:solidFill>
                  <a:schemeClr val="bg1"/>
                </a:solidFill>
                <a:latin typeface="Montserrat" pitchFamily="2" charset="77"/>
              </a:rPr>
              <a:t>The chart shows the distribution of response times (latency) between event occurrence and system arrival. </a:t>
            </a:r>
          </a:p>
          <a:p>
            <a:pPr marL="317500" indent="-171450">
              <a:lnSpc>
                <a:spcPct val="115000"/>
              </a:lnSpc>
              <a:buClr>
                <a:srgbClr val="FFFFFF"/>
              </a:buClr>
              <a:buSzPts val="1300"/>
              <a:buFont typeface="Arial" panose="020B0604020202020204" pitchFamily="34" charset="0"/>
              <a:buChar char="•"/>
              <a:defRPr/>
            </a:pPr>
            <a:r>
              <a:rPr lang="en-GB" sz="1200" dirty="0">
                <a:solidFill>
                  <a:schemeClr val="bg1"/>
                </a:solidFill>
                <a:latin typeface="Montserrat" pitchFamily="2" charset="77"/>
              </a:rPr>
              <a:t>Most events cluster between </a:t>
            </a:r>
            <a:r>
              <a:rPr lang="en-GB" sz="1200" dirty="0">
                <a:solidFill>
                  <a:schemeClr val="tx2"/>
                </a:solidFill>
                <a:latin typeface="Montserrat" pitchFamily="2" charset="77"/>
              </a:rPr>
              <a:t>4 and 7 minutes</a:t>
            </a:r>
            <a:r>
              <a:rPr lang="en-GB" sz="1200" dirty="0">
                <a:solidFill>
                  <a:schemeClr val="bg1"/>
                </a:solidFill>
                <a:latin typeface="Montserrat" pitchFamily="2" charset="77"/>
              </a:rPr>
              <a:t>, indicating a typical and stable delay range for the majority of data. </a:t>
            </a:r>
          </a:p>
          <a:p>
            <a:pPr marL="317500" indent="-171450">
              <a:lnSpc>
                <a:spcPct val="115000"/>
              </a:lnSpc>
              <a:buClr>
                <a:srgbClr val="FFFFFF"/>
              </a:buClr>
              <a:buSzPts val="1300"/>
              <a:buFont typeface="Arial" panose="020B0604020202020204" pitchFamily="34" charset="0"/>
              <a:buChar char="•"/>
              <a:defRPr/>
            </a:pPr>
            <a:r>
              <a:rPr lang="en-GB" sz="1200" dirty="0">
                <a:solidFill>
                  <a:schemeClr val="bg1"/>
                </a:solidFill>
                <a:latin typeface="Montserrat" pitchFamily="2" charset="77"/>
              </a:rPr>
              <a:t>Most responses clustered early </a:t>
            </a:r>
            <a:r>
              <a:rPr lang="en-US" sz="1200" dirty="0">
                <a:solidFill>
                  <a:schemeClr val="bg1"/>
                </a:solidFill>
                <a:latin typeface="Montserrat" pitchFamily="2" charset="77"/>
              </a:rPr>
              <a:t>with</a:t>
            </a:r>
            <a:r>
              <a:rPr lang="en-GB" sz="1200" dirty="0">
                <a:solidFill>
                  <a:schemeClr val="bg1"/>
                </a:solidFill>
                <a:latin typeface="Montserrat" pitchFamily="2" charset="77"/>
              </a:rPr>
              <a:t> a long tail of slower ones.</a:t>
            </a:r>
            <a:endParaRPr lang="en-GB" dirty="0">
              <a:solidFill>
                <a:schemeClr val="bg1"/>
              </a:solidFill>
              <a:latin typeface="Montserrat" pitchFamily="2" charset="77"/>
            </a:endParaRPr>
          </a:p>
          <a:p>
            <a:pPr marL="457200" indent="-311150">
              <a:lnSpc>
                <a:spcPct val="115000"/>
              </a:lnSpc>
              <a:buClr>
                <a:srgbClr val="FFFFFF"/>
              </a:buClr>
              <a:buSzPts val="1300"/>
              <a:buFont typeface="Lato"/>
              <a:buChar char="●"/>
              <a:defRPr/>
            </a:pPr>
            <a:endParaRPr lang="en-GB" dirty="0">
              <a:solidFill>
                <a:schemeClr val="bg1"/>
              </a:solidFill>
              <a:latin typeface="Montserrat" pitchFamily="2" charset="77"/>
            </a:endParaRPr>
          </a:p>
          <a:p>
            <a:pPr marL="457200" marR="0" lvl="0" indent="-3111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Lato"/>
              <a:buChar char="●"/>
              <a:tabLst/>
              <a:defRPr/>
            </a:pPr>
            <a:endParaRPr kumimoji="0" lang="en-GB" sz="13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  <a:ea typeface="Lato"/>
              <a:cs typeface="Lato"/>
              <a:sym typeface="Lato"/>
            </a:endParaRPr>
          </a:p>
          <a:p>
            <a:endParaRPr lang="en-GB" sz="1200" dirty="0">
              <a:solidFill>
                <a:schemeClr val="bg1"/>
              </a:solidFill>
              <a:latin typeface="Montserrat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BEA67C-FF64-65AA-6022-3F6745A0B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684" y="761484"/>
            <a:ext cx="5223413" cy="2958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6365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B1395-8CA9-2D23-E976-6A6F238B4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170" y="149445"/>
            <a:ext cx="6399992" cy="611392"/>
          </a:xfrm>
        </p:spPr>
        <p:txBody>
          <a:bodyPr/>
          <a:lstStyle/>
          <a:p>
            <a:r>
              <a:rPr lang="en-US">
                <a:solidFill>
                  <a:schemeClr val="tx2"/>
                </a:solidFill>
              </a:rPr>
              <a:t>System arrival delay </a:t>
            </a:r>
            <a:r>
              <a:rPr lang="en-GR">
                <a:solidFill>
                  <a:schemeClr val="tx2"/>
                </a:solidFill>
              </a:rPr>
              <a:t>by event type - Fires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8622A-C154-0F91-1FE3-48DE3EE13C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 smtClean="0"/>
              <a:t>23</a:t>
            </a:fld>
            <a:endParaRPr lang="el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4643D7-1B77-8C7C-D1E1-669C37DB1EBC}"/>
              </a:ext>
            </a:extLst>
          </p:cNvPr>
          <p:cNvSpPr txBox="1"/>
          <p:nvPr/>
        </p:nvSpPr>
        <p:spPr>
          <a:xfrm>
            <a:off x="411424" y="4094935"/>
            <a:ext cx="8271481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1100">
                <a:solidFill>
                  <a:schemeClr val="bg1"/>
                </a:solidFill>
                <a:latin typeface="Montserrat" pitchFamily="2" charset="77"/>
              </a:rPr>
              <a:t>This chart compares the system arrival delay across different fire departments using the median.</a:t>
            </a:r>
          </a:p>
          <a:p>
            <a:pPr marL="171450" indent="-1714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1100">
                <a:solidFill>
                  <a:schemeClr val="tx2"/>
                </a:solidFill>
                <a:latin typeface="Montserrat" pitchFamily="2" charset="77"/>
              </a:rPr>
              <a:t>Waterbury Fire Department </a:t>
            </a:r>
            <a:r>
              <a:rPr lang="en-GB" sz="1100">
                <a:solidFill>
                  <a:schemeClr val="bg1"/>
                </a:solidFill>
                <a:latin typeface="Montserrat" pitchFamily="2" charset="77"/>
              </a:rPr>
              <a:t>exhibits </a:t>
            </a:r>
            <a:r>
              <a:rPr lang="en-GB" sz="1100">
                <a:solidFill>
                  <a:schemeClr val="tx2"/>
                </a:solidFill>
                <a:latin typeface="Montserrat" pitchFamily="2" charset="77"/>
              </a:rPr>
              <a:t>a higher median system arrival delay</a:t>
            </a:r>
            <a:r>
              <a:rPr lang="en-GB" sz="1100">
                <a:solidFill>
                  <a:schemeClr val="bg1"/>
                </a:solidFill>
                <a:latin typeface="Montserrat" pitchFamily="2" charset="77"/>
              </a:rPr>
              <a:t>, suggesting generally slower arrivals, whereas the others are more closely grouped. </a:t>
            </a:r>
            <a:endParaRPr lang="en-GR" sz="1100">
              <a:solidFill>
                <a:schemeClr val="bg1"/>
              </a:solidFill>
              <a:latin typeface="Montserrat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55A7A2-C29C-32BF-E69E-BBC84587C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228" y="760837"/>
            <a:ext cx="6763871" cy="3142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8917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371F4-8B7C-6301-62C7-63C449979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R">
                <a:solidFill>
                  <a:schemeClr val="tx2"/>
                </a:solidFill>
              </a:rPr>
              <a:t>Aviation dataset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DDBC54-E094-B974-37CD-0DBE9F5AA12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 smtClean="0"/>
              <a:t>24</a:t>
            </a:fld>
            <a:endParaRPr lang="el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30B0B7F-7B63-4620-E5AE-940F38E17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235487"/>
            <a:ext cx="4779818" cy="2648465"/>
          </a:xfrm>
        </p:spPr>
        <p:txBody>
          <a:bodyPr>
            <a:normAutofit fontScale="92500" lnSpcReduction="10000"/>
          </a:bodyPr>
          <a:lstStyle/>
          <a:p>
            <a:pPr marL="146050" indent="0">
              <a:buNone/>
            </a:pPr>
            <a:r>
              <a:rPr lang="en-GB" sz="1100" dirty="0">
                <a:latin typeface="Montserrat" pitchFamily="2" charset="77"/>
              </a:rPr>
              <a:t>The dataset describes commercial flight operations. </a:t>
            </a:r>
          </a:p>
          <a:p>
            <a:pPr marL="146050" indent="0">
              <a:buNone/>
            </a:pPr>
            <a:endParaRPr lang="en-GB" sz="1100" dirty="0">
              <a:latin typeface="Montserrat" pitchFamily="2" charset="77"/>
            </a:endParaRPr>
          </a:p>
          <a:p>
            <a:pPr marL="146050" indent="0">
              <a:buNone/>
            </a:pPr>
            <a:r>
              <a:rPr lang="en-GB" sz="1100" dirty="0">
                <a:latin typeface="Montserrat" pitchFamily="2" charset="77"/>
              </a:rPr>
              <a:t>Each row includes:</a:t>
            </a:r>
          </a:p>
          <a:p>
            <a:pPr lvl="1"/>
            <a:r>
              <a:rPr lang="en-GB" sz="900" dirty="0">
                <a:solidFill>
                  <a:schemeClr val="accent5"/>
                </a:solidFill>
                <a:latin typeface="Montserrat" pitchFamily="2" charset="77"/>
              </a:rPr>
              <a:t>CARRIER_NAME </a:t>
            </a:r>
            <a:r>
              <a:rPr lang="en-GB" sz="900" dirty="0">
                <a:latin typeface="Montserrat" pitchFamily="2" charset="77"/>
              </a:rPr>
              <a:t>identifying the airline </a:t>
            </a:r>
          </a:p>
          <a:p>
            <a:pPr lvl="1"/>
            <a:r>
              <a:rPr lang="en-GB" sz="900" dirty="0">
                <a:solidFill>
                  <a:schemeClr val="accent5"/>
                </a:solidFill>
                <a:latin typeface="Montserrat" pitchFamily="2" charset="77"/>
              </a:rPr>
              <a:t>OP_CARRIER_FL_NUM </a:t>
            </a:r>
            <a:r>
              <a:rPr lang="en-GB" sz="900" dirty="0">
                <a:latin typeface="Montserrat" pitchFamily="2" charset="77"/>
              </a:rPr>
              <a:t>representing the flight number.</a:t>
            </a:r>
          </a:p>
          <a:p>
            <a:pPr lvl="1"/>
            <a:r>
              <a:rPr lang="en-GB" sz="900" dirty="0" err="1">
                <a:solidFill>
                  <a:schemeClr val="accent5"/>
                </a:solidFill>
                <a:latin typeface="Montserrat" pitchFamily="2" charset="77"/>
              </a:rPr>
              <a:t>Event_Timestamp</a:t>
            </a:r>
            <a:r>
              <a:rPr lang="en-GB" sz="900" dirty="0">
                <a:solidFill>
                  <a:schemeClr val="accent5"/>
                </a:solidFill>
                <a:latin typeface="Montserrat" pitchFamily="2" charset="77"/>
              </a:rPr>
              <a:t> </a:t>
            </a:r>
          </a:p>
          <a:p>
            <a:pPr lvl="1"/>
            <a:r>
              <a:rPr lang="en-GB" sz="900" dirty="0" err="1">
                <a:solidFill>
                  <a:schemeClr val="accent5"/>
                </a:solidFill>
                <a:latin typeface="Montserrat" pitchFamily="2" charset="77"/>
              </a:rPr>
              <a:t>Arrival_Timestamp</a:t>
            </a:r>
            <a:r>
              <a:rPr lang="en-GB" sz="900" dirty="0">
                <a:solidFill>
                  <a:schemeClr val="accent5"/>
                </a:solidFill>
                <a:latin typeface="Montserrat" pitchFamily="2" charset="77"/>
              </a:rPr>
              <a:t> </a:t>
            </a:r>
          </a:p>
          <a:p>
            <a:pPr lvl="1"/>
            <a:r>
              <a:rPr lang="en-GB" sz="900" dirty="0">
                <a:solidFill>
                  <a:schemeClr val="accent5"/>
                </a:solidFill>
                <a:latin typeface="Montserrat" pitchFamily="2" charset="77"/>
              </a:rPr>
              <a:t>ORIGIN</a:t>
            </a:r>
            <a:r>
              <a:rPr lang="en-GB" sz="900" dirty="0">
                <a:latin typeface="Montserrat" pitchFamily="2" charset="77"/>
              </a:rPr>
              <a:t> and </a:t>
            </a:r>
            <a:r>
              <a:rPr lang="en-GB" sz="900" dirty="0">
                <a:solidFill>
                  <a:schemeClr val="accent5"/>
                </a:solidFill>
                <a:latin typeface="Montserrat" pitchFamily="2" charset="77"/>
              </a:rPr>
              <a:t>DEST</a:t>
            </a:r>
            <a:r>
              <a:rPr lang="en-GB" sz="900" dirty="0">
                <a:latin typeface="Montserrat" pitchFamily="2" charset="77"/>
              </a:rPr>
              <a:t> airport codes. </a:t>
            </a:r>
          </a:p>
          <a:p>
            <a:pPr lvl="1"/>
            <a:r>
              <a:rPr lang="en-GB" sz="900" dirty="0">
                <a:latin typeface="Montserrat" pitchFamily="2" charset="77"/>
              </a:rPr>
              <a:t>Operational timing is detailed using scheduled and actual arrival times (</a:t>
            </a:r>
            <a:r>
              <a:rPr lang="en-GB" sz="900" dirty="0">
                <a:solidFill>
                  <a:schemeClr val="accent5"/>
                </a:solidFill>
                <a:latin typeface="Montserrat" pitchFamily="2" charset="77"/>
              </a:rPr>
              <a:t>CRS_ARR_TIME, ARR_TIME</a:t>
            </a:r>
            <a:r>
              <a:rPr lang="en-GB" sz="900" dirty="0">
                <a:latin typeface="Montserrat" pitchFamily="2" charset="77"/>
              </a:rPr>
              <a:t>) and delay metrics (</a:t>
            </a:r>
            <a:r>
              <a:rPr lang="en-GB" sz="900" dirty="0">
                <a:solidFill>
                  <a:schemeClr val="accent5"/>
                </a:solidFill>
                <a:latin typeface="Montserrat" pitchFamily="2" charset="77"/>
              </a:rPr>
              <a:t>DEP_DELAY, ARR_DELAY</a:t>
            </a:r>
            <a:r>
              <a:rPr lang="en-GB" sz="900" dirty="0">
                <a:latin typeface="Montserrat" pitchFamily="2" charset="77"/>
              </a:rPr>
              <a:t>), while </a:t>
            </a:r>
            <a:r>
              <a:rPr lang="en-GB" sz="900" dirty="0">
                <a:solidFill>
                  <a:schemeClr val="accent5"/>
                </a:solidFill>
                <a:latin typeface="Montserrat" pitchFamily="2" charset="77"/>
              </a:rPr>
              <a:t>CANCELLED</a:t>
            </a:r>
            <a:r>
              <a:rPr lang="en-GB" sz="900" dirty="0">
                <a:latin typeface="Montserrat" pitchFamily="2" charset="77"/>
              </a:rPr>
              <a:t> indicates whether a flight was cancelled. </a:t>
            </a:r>
          </a:p>
          <a:p>
            <a:pPr lvl="1"/>
            <a:r>
              <a:rPr lang="en-GB" sz="900" dirty="0">
                <a:latin typeface="Montserrat" pitchFamily="2" charset="77"/>
              </a:rPr>
              <a:t>Additional performance data includes planned and actual durations (</a:t>
            </a:r>
            <a:r>
              <a:rPr lang="en-GB" sz="900" dirty="0">
                <a:solidFill>
                  <a:schemeClr val="accent5"/>
                </a:solidFill>
                <a:latin typeface="Montserrat" pitchFamily="2" charset="77"/>
              </a:rPr>
              <a:t>CRS_ELAPSED_TIME, ACTUAL_ELAPSED_TIME, AIR_TIME</a:t>
            </a:r>
            <a:r>
              <a:rPr lang="en-GB" sz="900" dirty="0">
                <a:latin typeface="Montserrat" pitchFamily="2" charset="77"/>
              </a:rPr>
              <a:t>) and the total flight </a:t>
            </a:r>
            <a:r>
              <a:rPr lang="en-GB" sz="900" dirty="0">
                <a:solidFill>
                  <a:schemeClr val="accent5"/>
                </a:solidFill>
                <a:latin typeface="Montserrat" pitchFamily="2" charset="77"/>
              </a:rPr>
              <a:t>DISTANCE</a:t>
            </a:r>
            <a:r>
              <a:rPr lang="en-GB" sz="900" dirty="0">
                <a:latin typeface="Montserrat" pitchFamily="2" charset="77"/>
              </a:rPr>
              <a:t>.</a:t>
            </a:r>
          </a:p>
          <a:p>
            <a:pPr marL="146050" indent="0">
              <a:buNone/>
            </a:pPr>
            <a:endParaRPr lang="en-GB" sz="1100" dirty="0">
              <a:latin typeface="Montserrat" pitchFamily="2" charset="77"/>
            </a:endParaRPr>
          </a:p>
          <a:p>
            <a:pPr marL="146050" indent="0">
              <a:buNone/>
            </a:pPr>
            <a:r>
              <a:rPr lang="en-GB" sz="1100" dirty="0">
                <a:solidFill>
                  <a:schemeClr val="tx2"/>
                </a:solidFill>
                <a:latin typeface="Montserrat" pitchFamily="2" charset="77"/>
              </a:rPr>
              <a:t>Types of events: </a:t>
            </a:r>
            <a:r>
              <a:rPr lang="en-GB" sz="1100" dirty="0">
                <a:solidFill>
                  <a:schemeClr val="bg1"/>
                </a:solidFill>
                <a:latin typeface="Montserrat" pitchFamily="2" charset="77"/>
              </a:rPr>
              <a:t>14 airline carriers</a:t>
            </a:r>
            <a:endParaRPr lang="en-GR" sz="1100">
              <a:solidFill>
                <a:schemeClr val="bg1"/>
              </a:solidFill>
              <a:latin typeface="Montserrat" pitchFamily="2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4A35AF-ADE1-B8F0-1C75-5EE27D543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897" y="3785804"/>
            <a:ext cx="3406024" cy="12488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93B77D2-8179-849B-AF93-67753F6FD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261" y="277218"/>
            <a:ext cx="3946547" cy="22825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5A3E875-00BC-88A4-BEFD-6EC96A06B9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9818" y="2692078"/>
            <a:ext cx="3942096" cy="228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027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A5B42-49A0-4DC1-B2DD-3CEAB4F4C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938" y="107564"/>
            <a:ext cx="7038900" cy="639312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System arrival delay d</a:t>
            </a:r>
            <a:r>
              <a:rPr lang="en-GR">
                <a:solidFill>
                  <a:schemeClr val="tx2"/>
                </a:solidFill>
              </a:rPr>
              <a:t>istribution - Aviation</a:t>
            </a:r>
            <a:endParaRPr lang="en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743530-3CA8-B545-CC3B-DC7B6D0AC8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 smtClean="0"/>
              <a:t>25</a:t>
            </a:fld>
            <a:endParaRPr lang="e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DD2F2A-4224-CA7E-48C0-66E0A5833162}"/>
              </a:ext>
            </a:extLst>
          </p:cNvPr>
          <p:cNvSpPr txBox="1"/>
          <p:nvPr/>
        </p:nvSpPr>
        <p:spPr>
          <a:xfrm>
            <a:off x="122842" y="4029020"/>
            <a:ext cx="88983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Montserrat" pitchFamily="2" charset="77"/>
              </a:rPr>
              <a:t>The most system arrival delays concentrated </a:t>
            </a:r>
            <a:r>
              <a:rPr lang="en-GB" sz="1200" dirty="0">
                <a:solidFill>
                  <a:schemeClr val="tx2"/>
                </a:solidFill>
                <a:latin typeface="Montserrat" pitchFamily="2" charset="77"/>
              </a:rPr>
              <a:t>under 30 minutes</a:t>
            </a:r>
            <a:r>
              <a:rPr lang="en-GB" sz="1200" dirty="0">
                <a:solidFill>
                  <a:schemeClr val="bg1"/>
                </a:solidFill>
                <a:latin typeface="Montserrat" pitchFamily="2" charset="77"/>
              </a:rPr>
              <a:t>.</a:t>
            </a:r>
          </a:p>
          <a:p>
            <a:pPr marL="171450" indent="-1714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/>
                </a:solidFill>
                <a:latin typeface="Montserrat" pitchFamily="2" charset="77"/>
              </a:rPr>
              <a:t>The mean </a:t>
            </a:r>
            <a:r>
              <a:rPr lang="en-GB" sz="1200" dirty="0">
                <a:solidFill>
                  <a:schemeClr val="bg1"/>
                </a:solidFill>
                <a:latin typeface="Montserrat" pitchFamily="2" charset="77"/>
              </a:rPr>
              <a:t>(38.71 min) is much higher than the median (17.00 min), showing the impact of long delays.</a:t>
            </a:r>
          </a:p>
          <a:p>
            <a:pPr marL="171450" indent="-1714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/>
                </a:solidFill>
                <a:latin typeface="Montserrat" pitchFamily="2" charset="77"/>
              </a:rPr>
              <a:t>95% of responses occur within 148 minutes</a:t>
            </a:r>
            <a:r>
              <a:rPr lang="en-GB" sz="1200" dirty="0">
                <a:solidFill>
                  <a:schemeClr val="bg1"/>
                </a:solidFill>
                <a:latin typeface="Montserrat" pitchFamily="2" charset="77"/>
              </a:rPr>
              <a:t>, but the </a:t>
            </a:r>
            <a:r>
              <a:rPr lang="en-GB" sz="1200" dirty="0">
                <a:solidFill>
                  <a:schemeClr val="tx2"/>
                </a:solidFill>
                <a:latin typeface="Montserrat" pitchFamily="2" charset="77"/>
              </a:rPr>
              <a:t>high standard deviation </a:t>
            </a:r>
            <a:r>
              <a:rPr lang="en-GB" sz="1200" dirty="0">
                <a:solidFill>
                  <a:schemeClr val="bg1"/>
                </a:solidFill>
                <a:latin typeface="Montserrat" pitchFamily="2" charset="77"/>
              </a:rPr>
              <a:t>(61.47 min) indicates wide variability.</a:t>
            </a:r>
            <a:endParaRPr lang="en-GR" sz="1200">
              <a:solidFill>
                <a:schemeClr val="bg1"/>
              </a:solidFill>
              <a:latin typeface="Montserrat" pitchFamily="2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0B2AEE-82A4-936C-7C66-14EA9E0A1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488" y="685492"/>
            <a:ext cx="6367063" cy="3146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5160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D29CD1-9D03-BF77-E7F0-9EF5D5A70F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 smtClean="0"/>
              <a:t>26</a:t>
            </a:fld>
            <a:endParaRPr lang="el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D9A7F5-3F13-4956-0361-753459B23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169" y="44635"/>
            <a:ext cx="6399992" cy="61139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2"/>
                </a:solidFill>
              </a:rPr>
              <a:t>System arrival delay </a:t>
            </a:r>
            <a:r>
              <a:rPr lang="en-GR">
                <a:solidFill>
                  <a:schemeClr val="tx2"/>
                </a:solidFill>
              </a:rPr>
              <a:t>by event type - Aviation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FD8C24-03EA-56D3-4BF2-5F4861FE18E7}"/>
              </a:ext>
            </a:extLst>
          </p:cNvPr>
          <p:cNvSpPr txBox="1"/>
          <p:nvPr/>
        </p:nvSpPr>
        <p:spPr>
          <a:xfrm>
            <a:off x="266586" y="4214492"/>
            <a:ext cx="856115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chemeClr val="bg1"/>
                </a:solidFill>
                <a:latin typeface="Montserrat" pitchFamily="2" charset="77"/>
              </a:rPr>
              <a:t>The chart shows clear differences in </a:t>
            </a:r>
            <a:r>
              <a:rPr lang="en-GB" sz="1100" dirty="0">
                <a:solidFill>
                  <a:schemeClr val="tx2"/>
                </a:solidFill>
                <a:latin typeface="Montserrat" pitchFamily="2" charset="77"/>
              </a:rPr>
              <a:t>median</a:t>
            </a:r>
            <a:r>
              <a:rPr lang="en-GB" sz="1100" dirty="0">
                <a:solidFill>
                  <a:schemeClr val="bg1"/>
                </a:solidFill>
                <a:latin typeface="Montserrat" pitchFamily="2" charset="77"/>
              </a:rPr>
              <a:t> </a:t>
            </a:r>
            <a:r>
              <a:rPr lang="en-GB" sz="1100" dirty="0">
                <a:solidFill>
                  <a:schemeClr val="tx2"/>
                </a:solidFill>
                <a:latin typeface="Montserrat" pitchFamily="2" charset="77"/>
              </a:rPr>
              <a:t>system arrival delay</a:t>
            </a:r>
            <a:r>
              <a:rPr lang="en-GB" sz="1100" dirty="0">
                <a:solidFill>
                  <a:schemeClr val="bg1"/>
                </a:solidFill>
                <a:latin typeface="Montserrat" pitchFamily="2" charset="77"/>
              </a:rPr>
              <a:t> by carrier. </a:t>
            </a:r>
          </a:p>
          <a:p>
            <a:pPr marL="171450" indent="-1714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chemeClr val="bg1"/>
                </a:solidFill>
                <a:latin typeface="Montserrat" pitchFamily="2" charset="77"/>
              </a:rPr>
              <a:t>A few carriers have slightly </a:t>
            </a:r>
            <a:r>
              <a:rPr lang="en-GB" sz="1100" dirty="0">
                <a:solidFill>
                  <a:schemeClr val="tx2"/>
                </a:solidFill>
                <a:latin typeface="Montserrat" pitchFamily="2" charset="77"/>
              </a:rPr>
              <a:t>faster median system arrival delay</a:t>
            </a:r>
            <a:r>
              <a:rPr lang="en-GB" sz="1100" dirty="0">
                <a:solidFill>
                  <a:schemeClr val="bg1"/>
                </a:solidFill>
                <a:latin typeface="Montserrat" pitchFamily="2" charset="77"/>
              </a:rPr>
              <a:t>, while others are slower but still comparable.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36A4C9B-00D3-C7E2-1D59-D3AE12A5E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384" y="863913"/>
            <a:ext cx="7151231" cy="3142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1308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EA9FE-B64F-1721-D49A-6C487D2DF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R">
                <a:solidFill>
                  <a:schemeClr val="tx2"/>
                </a:solidFill>
              </a:rPr>
              <a:t>Crypto dataset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CC6DAE-0424-5742-81FE-F9888FBE424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 smtClean="0"/>
              <a:t>27</a:t>
            </a:fld>
            <a:endParaRPr lang="el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9470818-D3D6-4F7F-17BB-F1B60CA9FF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252007"/>
            <a:ext cx="4779818" cy="2583644"/>
          </a:xfrm>
        </p:spPr>
        <p:txBody>
          <a:bodyPr>
            <a:normAutofit fontScale="92500" lnSpcReduction="10000"/>
          </a:bodyPr>
          <a:lstStyle/>
          <a:p>
            <a:pPr marL="146050" indent="0">
              <a:buNone/>
            </a:pPr>
            <a:r>
              <a:rPr lang="en-GB" sz="1100" dirty="0">
                <a:latin typeface="Montserrat" pitchFamily="2" charset="77"/>
              </a:rPr>
              <a:t>The dataset captures cryptocurrency transaction events. </a:t>
            </a:r>
          </a:p>
          <a:p>
            <a:pPr marL="146050" indent="0">
              <a:buNone/>
            </a:pPr>
            <a:endParaRPr lang="en-GB" sz="1100" dirty="0">
              <a:latin typeface="Montserrat" pitchFamily="2" charset="77"/>
            </a:endParaRPr>
          </a:p>
          <a:p>
            <a:pPr marL="146050" indent="0">
              <a:buNone/>
            </a:pPr>
            <a:r>
              <a:rPr lang="en-GB" sz="1100" dirty="0">
                <a:latin typeface="Montserrat" pitchFamily="2" charset="77"/>
              </a:rPr>
              <a:t>Each row includes:</a:t>
            </a:r>
          </a:p>
          <a:p>
            <a:pPr lvl="1"/>
            <a:r>
              <a:rPr lang="en-GB" sz="900" dirty="0" err="1">
                <a:solidFill>
                  <a:schemeClr val="accent5"/>
                </a:solidFill>
                <a:latin typeface="Montserrat" pitchFamily="2" charset="77"/>
              </a:rPr>
              <a:t>Event_type</a:t>
            </a:r>
            <a:r>
              <a:rPr lang="en-GB" sz="900" dirty="0">
                <a:latin typeface="Montserrat" pitchFamily="2" charset="77"/>
              </a:rPr>
              <a:t> </a:t>
            </a:r>
          </a:p>
          <a:p>
            <a:pPr lvl="1"/>
            <a:r>
              <a:rPr lang="en-GB" sz="900" dirty="0" err="1">
                <a:solidFill>
                  <a:schemeClr val="accent5"/>
                </a:solidFill>
                <a:latin typeface="Montserrat" pitchFamily="2" charset="77"/>
              </a:rPr>
              <a:t>Event_Timestamp</a:t>
            </a:r>
            <a:r>
              <a:rPr lang="en-GB" sz="900" dirty="0">
                <a:solidFill>
                  <a:schemeClr val="accent5"/>
                </a:solidFill>
                <a:latin typeface="Montserrat" pitchFamily="2" charset="77"/>
              </a:rPr>
              <a:t> </a:t>
            </a:r>
          </a:p>
          <a:p>
            <a:pPr lvl="1"/>
            <a:r>
              <a:rPr lang="en-GB" sz="900" dirty="0" err="1">
                <a:solidFill>
                  <a:schemeClr val="accent5"/>
                </a:solidFill>
                <a:latin typeface="Montserrat" pitchFamily="2" charset="77"/>
              </a:rPr>
              <a:t>Arrival_Timestamp</a:t>
            </a:r>
            <a:r>
              <a:rPr lang="en-GB" sz="900" dirty="0">
                <a:solidFill>
                  <a:schemeClr val="accent5"/>
                </a:solidFill>
                <a:latin typeface="Montserrat" pitchFamily="2" charset="77"/>
              </a:rPr>
              <a:t> </a:t>
            </a:r>
          </a:p>
          <a:p>
            <a:pPr lvl="1"/>
            <a:r>
              <a:rPr lang="en-GB" sz="900" dirty="0">
                <a:latin typeface="Montserrat" pitchFamily="2" charset="77"/>
              </a:rPr>
              <a:t>Transaction characteristics are described by </a:t>
            </a:r>
            <a:r>
              <a:rPr lang="en-GB" sz="900" dirty="0" err="1">
                <a:solidFill>
                  <a:schemeClr val="accent5"/>
                </a:solidFill>
                <a:latin typeface="Montserrat" pitchFamily="2" charset="77"/>
              </a:rPr>
              <a:t>TxSize</a:t>
            </a:r>
            <a:r>
              <a:rPr lang="en-GB" sz="900" dirty="0">
                <a:latin typeface="Montserrat" pitchFamily="2" charset="77"/>
              </a:rPr>
              <a:t>, </a:t>
            </a:r>
            <a:r>
              <a:rPr lang="en-GB" sz="900" dirty="0" err="1">
                <a:solidFill>
                  <a:schemeClr val="accent5"/>
                </a:solidFill>
                <a:latin typeface="Montserrat" pitchFamily="2" charset="77"/>
              </a:rPr>
              <a:t>TxFee</a:t>
            </a:r>
            <a:r>
              <a:rPr lang="en-GB" sz="900" dirty="0">
                <a:latin typeface="Montserrat" pitchFamily="2" charset="77"/>
              </a:rPr>
              <a:t>, </a:t>
            </a:r>
            <a:r>
              <a:rPr lang="en-GB" sz="900" dirty="0" err="1">
                <a:solidFill>
                  <a:schemeClr val="accent5"/>
                </a:solidFill>
                <a:latin typeface="Montserrat" pitchFamily="2" charset="77"/>
              </a:rPr>
              <a:t>TxIn</a:t>
            </a:r>
            <a:r>
              <a:rPr lang="en-GB" sz="900" dirty="0">
                <a:latin typeface="Montserrat" pitchFamily="2" charset="77"/>
              </a:rPr>
              <a:t>, and </a:t>
            </a:r>
            <a:r>
              <a:rPr lang="en-GB" sz="900" dirty="0" err="1">
                <a:solidFill>
                  <a:schemeClr val="accent5"/>
                </a:solidFill>
                <a:latin typeface="Montserrat" pitchFamily="2" charset="77"/>
              </a:rPr>
              <a:t>TxOut</a:t>
            </a:r>
            <a:r>
              <a:rPr lang="en-GB" sz="900" dirty="0">
                <a:latin typeface="Montserrat" pitchFamily="2" charset="77"/>
              </a:rPr>
              <a:t>, representing size, fee, and input/output counts. </a:t>
            </a:r>
          </a:p>
          <a:p>
            <a:pPr lvl="1"/>
            <a:r>
              <a:rPr lang="en-GB" sz="900" dirty="0">
                <a:latin typeface="Montserrat" pitchFamily="2" charset="77"/>
              </a:rPr>
              <a:t>Blockchain progress is reflected through </a:t>
            </a:r>
            <a:r>
              <a:rPr lang="en-GB" sz="900" dirty="0" err="1">
                <a:solidFill>
                  <a:schemeClr val="accent5"/>
                </a:solidFill>
                <a:latin typeface="Montserrat" pitchFamily="2" charset="77"/>
              </a:rPr>
              <a:t>ExitBlock</a:t>
            </a:r>
            <a:r>
              <a:rPr lang="en-GB" sz="900" dirty="0">
                <a:latin typeface="Montserrat" pitchFamily="2" charset="77"/>
              </a:rPr>
              <a:t>, </a:t>
            </a:r>
            <a:r>
              <a:rPr lang="en-GB" sz="900" dirty="0" err="1">
                <a:solidFill>
                  <a:schemeClr val="accent5"/>
                </a:solidFill>
                <a:latin typeface="Montserrat" pitchFamily="2" charset="77"/>
              </a:rPr>
              <a:t>BlocksToConfirm</a:t>
            </a:r>
            <a:r>
              <a:rPr lang="en-GB" sz="900" dirty="0">
                <a:latin typeface="Montserrat" pitchFamily="2" charset="77"/>
              </a:rPr>
              <a:t>, and </a:t>
            </a:r>
            <a:r>
              <a:rPr lang="en-GB" sz="900" dirty="0" err="1">
                <a:solidFill>
                  <a:schemeClr val="accent5"/>
                </a:solidFill>
                <a:latin typeface="Montserrat" pitchFamily="2" charset="77"/>
              </a:rPr>
              <a:t>SecSinceLB</a:t>
            </a:r>
            <a:r>
              <a:rPr lang="en-GB" sz="900" dirty="0">
                <a:latin typeface="Montserrat" pitchFamily="2" charset="77"/>
              </a:rPr>
              <a:t>, indicating confirmation-related metrics. </a:t>
            </a:r>
          </a:p>
          <a:p>
            <a:pPr lvl="1"/>
            <a:r>
              <a:rPr lang="en-GB" sz="900" dirty="0">
                <a:latin typeface="Montserrat" pitchFamily="2" charset="77"/>
              </a:rPr>
              <a:t>Additional timing and ordering information is provided by </a:t>
            </a:r>
            <a:r>
              <a:rPr lang="en-GB" sz="900" dirty="0">
                <a:solidFill>
                  <a:schemeClr val="accent5"/>
                </a:solidFill>
                <a:latin typeface="Montserrat" pitchFamily="2" charset="77"/>
              </a:rPr>
              <a:t>Offset</a:t>
            </a:r>
            <a:r>
              <a:rPr lang="en-GB" sz="900" dirty="0">
                <a:latin typeface="Montserrat" pitchFamily="2" charset="77"/>
              </a:rPr>
              <a:t> and </a:t>
            </a:r>
            <a:r>
              <a:rPr lang="en-GB" sz="900" dirty="0" err="1">
                <a:solidFill>
                  <a:schemeClr val="accent5"/>
                </a:solidFill>
                <a:latin typeface="Montserrat" pitchFamily="2" charset="77"/>
              </a:rPr>
              <a:t>CountOnEntryTime</a:t>
            </a:r>
            <a:r>
              <a:rPr lang="en-GB" sz="900" dirty="0">
                <a:latin typeface="Montserrat" pitchFamily="2" charset="77"/>
              </a:rPr>
              <a:t>,</a:t>
            </a:r>
          </a:p>
          <a:p>
            <a:pPr lvl="1"/>
            <a:r>
              <a:rPr lang="en-GB" sz="900" dirty="0">
                <a:solidFill>
                  <a:schemeClr val="accent5"/>
                </a:solidFill>
                <a:latin typeface="Montserrat" pitchFamily="2" charset="77"/>
              </a:rPr>
              <a:t>Exchange</a:t>
            </a:r>
            <a:r>
              <a:rPr lang="en-GB" sz="900" dirty="0">
                <a:latin typeface="Montserrat" pitchFamily="2" charset="77"/>
              </a:rPr>
              <a:t> identifies the platform through which the transaction was observed.</a:t>
            </a:r>
          </a:p>
          <a:p>
            <a:pPr marL="146050" indent="0">
              <a:buNone/>
            </a:pPr>
            <a:endParaRPr lang="en-GB" sz="1100" dirty="0">
              <a:latin typeface="Montserrat" pitchFamily="2" charset="77"/>
            </a:endParaRPr>
          </a:p>
          <a:p>
            <a:pPr marL="146050" indent="0">
              <a:buNone/>
            </a:pPr>
            <a:r>
              <a:rPr lang="en-GB" sz="1100" dirty="0">
                <a:solidFill>
                  <a:schemeClr val="tx2"/>
                </a:solidFill>
                <a:latin typeface="Montserrat" pitchFamily="2" charset="77"/>
              </a:rPr>
              <a:t>Types of events: </a:t>
            </a:r>
            <a:r>
              <a:rPr lang="en-GB" sz="1100" dirty="0">
                <a:solidFill>
                  <a:schemeClr val="bg1"/>
                </a:solidFill>
                <a:latin typeface="Montserrat" pitchFamily="2" charset="77"/>
              </a:rPr>
              <a:t>8 crypto assets</a:t>
            </a:r>
            <a:endParaRPr lang="en-GR" sz="1100">
              <a:solidFill>
                <a:schemeClr val="bg1"/>
              </a:solidFill>
              <a:latin typeface="Montserrat" pitchFamily="2" charset="77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D0A3AA-B59A-6528-E053-6BE62B741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26" y="3729962"/>
            <a:ext cx="3708207" cy="13047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C7C379D-12B8-F5B1-0F5D-7B2478760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6950" y="251052"/>
            <a:ext cx="3897924" cy="23206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2BF7A2-7F6F-3784-708C-8D368959EE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6950" y="2717188"/>
            <a:ext cx="3903180" cy="231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653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672CD-E8D8-CD08-8C42-A9DCECFCFC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 smtClean="0"/>
              <a:t>28</a:t>
            </a:fld>
            <a:endParaRPr lang="el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93731E8-71C6-CA36-48FA-725E52EEB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3823" y="122031"/>
            <a:ext cx="5916351" cy="9141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2"/>
                </a:solidFill>
              </a:rPr>
              <a:t>System arrival delay d</a:t>
            </a:r>
            <a:r>
              <a:rPr lang="en-GR">
                <a:solidFill>
                  <a:schemeClr val="tx2"/>
                </a:solidFill>
              </a:rPr>
              <a:t>istribution - Crypto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A9C6F9-2A03-2980-925B-EF01AF699DE8}"/>
              </a:ext>
            </a:extLst>
          </p:cNvPr>
          <p:cNvSpPr txBox="1"/>
          <p:nvPr/>
        </p:nvSpPr>
        <p:spPr>
          <a:xfrm>
            <a:off x="335769" y="4374676"/>
            <a:ext cx="8472458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1050" dirty="0">
                <a:solidFill>
                  <a:schemeClr val="bg1"/>
                </a:solidFill>
                <a:latin typeface="Montserrat" pitchFamily="2" charset="77"/>
              </a:rPr>
              <a:t>The most </a:t>
            </a:r>
            <a:r>
              <a:rPr lang="en-GB" sz="1050" dirty="0">
                <a:solidFill>
                  <a:schemeClr val="tx2"/>
                </a:solidFill>
                <a:latin typeface="Montserrat" pitchFamily="2" charset="77"/>
              </a:rPr>
              <a:t>system arrival delays happening quickly </a:t>
            </a:r>
            <a:r>
              <a:rPr lang="en-GB" sz="1050" dirty="0">
                <a:solidFill>
                  <a:schemeClr val="bg1"/>
                </a:solidFill>
                <a:latin typeface="Montserrat" pitchFamily="2" charset="77"/>
              </a:rPr>
              <a:t>with a long tail of delays.</a:t>
            </a:r>
          </a:p>
          <a:p>
            <a:pPr marL="171450" indent="-1714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1050" dirty="0">
                <a:solidFill>
                  <a:schemeClr val="tx2"/>
                </a:solidFill>
                <a:latin typeface="Montserrat" pitchFamily="2" charset="77"/>
              </a:rPr>
              <a:t>The mean </a:t>
            </a:r>
            <a:r>
              <a:rPr lang="en-GB" sz="1050" dirty="0">
                <a:solidFill>
                  <a:schemeClr val="bg1"/>
                </a:solidFill>
                <a:latin typeface="Montserrat" pitchFamily="2" charset="77"/>
              </a:rPr>
              <a:t>(48.55 min) is much higher than </a:t>
            </a:r>
            <a:r>
              <a:rPr lang="en-GB" sz="1050" dirty="0">
                <a:solidFill>
                  <a:schemeClr val="tx2"/>
                </a:solidFill>
                <a:latin typeface="Montserrat" pitchFamily="2" charset="77"/>
              </a:rPr>
              <a:t>the median </a:t>
            </a:r>
            <a:r>
              <a:rPr lang="en-GB" sz="1050" dirty="0">
                <a:solidFill>
                  <a:schemeClr val="bg1"/>
                </a:solidFill>
                <a:latin typeface="Montserrat" pitchFamily="2" charset="77"/>
              </a:rPr>
              <a:t>(10.55 min), showing that long delays inflate the average.</a:t>
            </a:r>
          </a:p>
          <a:p>
            <a:pPr marL="171450" indent="-1714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1050" dirty="0">
                <a:solidFill>
                  <a:schemeClr val="tx2"/>
                </a:solidFill>
                <a:latin typeface="Montserrat" pitchFamily="2" charset="77"/>
              </a:rPr>
              <a:t>A very high standard deviation </a:t>
            </a:r>
            <a:r>
              <a:rPr lang="en-GB" sz="1050" dirty="0">
                <a:solidFill>
                  <a:schemeClr val="bg1"/>
                </a:solidFill>
                <a:latin typeface="Montserrat" pitchFamily="2" charset="77"/>
              </a:rPr>
              <a:t>(156.44 min) shows extreme variability and the presence of significant outliers.</a:t>
            </a:r>
            <a:endParaRPr lang="en-GR" sz="1050">
              <a:solidFill>
                <a:schemeClr val="bg1"/>
              </a:solidFill>
              <a:latin typeface="Montserrat" pitchFamily="2" charset="7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C53EEC5-2D78-B1FF-205D-8A8A1E310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550" y="651113"/>
            <a:ext cx="7321649" cy="3618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3752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FC5A2-F37A-390B-6834-34870620AF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 smtClean="0"/>
              <a:t>29</a:t>
            </a:fld>
            <a:endParaRPr lang="el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3AED7E5-D146-4BE5-5DB5-909C9F269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169" y="44635"/>
            <a:ext cx="6399992" cy="61139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2"/>
                </a:solidFill>
              </a:rPr>
              <a:t>System arrival delay </a:t>
            </a:r>
            <a:r>
              <a:rPr lang="en-GR">
                <a:solidFill>
                  <a:schemeClr val="tx2"/>
                </a:solidFill>
              </a:rPr>
              <a:t>by event type - Crypto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8B5910-6030-2F62-3561-6FD11B09423F}"/>
              </a:ext>
            </a:extLst>
          </p:cNvPr>
          <p:cNvSpPr txBox="1"/>
          <p:nvPr/>
        </p:nvSpPr>
        <p:spPr>
          <a:xfrm>
            <a:off x="479885" y="4376284"/>
            <a:ext cx="81842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1200" b="0" i="0" u="none" strike="noStrike" dirty="0">
                <a:solidFill>
                  <a:schemeClr val="bg1"/>
                </a:solidFill>
                <a:effectLst/>
                <a:latin typeface="Montserrat" pitchFamily="2" charset="77"/>
              </a:rPr>
              <a:t>The chart shows that </a:t>
            </a:r>
            <a:r>
              <a:rPr lang="en-GB" sz="1200" b="0" i="0" u="none" strike="noStrike" dirty="0">
                <a:solidFill>
                  <a:schemeClr val="tx2"/>
                </a:solidFill>
                <a:effectLst/>
                <a:latin typeface="Montserrat" pitchFamily="2" charset="77"/>
              </a:rPr>
              <a:t>median system arrival delays </a:t>
            </a:r>
            <a:r>
              <a:rPr lang="en-GB" sz="1200" b="0" i="0" u="none" strike="noStrike" dirty="0">
                <a:solidFill>
                  <a:schemeClr val="bg1"/>
                </a:solidFill>
                <a:effectLst/>
                <a:latin typeface="Montserrat" pitchFamily="2" charset="77"/>
              </a:rPr>
              <a:t>are very similar across all crypto types, with only minor differences between assets. </a:t>
            </a:r>
            <a:endParaRPr lang="en-GB" sz="1200" dirty="0">
              <a:solidFill>
                <a:schemeClr val="bg1"/>
              </a:solidFill>
              <a:latin typeface="Montserrat" pitchFamily="2" charset="7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34D4E35-39E4-1696-6BF6-411F5E9B0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626" y="656027"/>
            <a:ext cx="6303078" cy="357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0967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6425C-98D8-EB41-B3F0-9059109D9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R">
                <a:solidFill>
                  <a:schemeClr val="tx2"/>
                </a:solidFill>
              </a:rPr>
              <a:t>Experiments Overview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D599B5-06FB-9AF3-3EE6-3D3BFD964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936" y="1064751"/>
            <a:ext cx="7038900" cy="3748966"/>
          </a:xfrm>
        </p:spPr>
        <p:txBody>
          <a:bodyPr>
            <a:normAutofit fontScale="92500" lnSpcReduction="10000"/>
          </a:bodyPr>
          <a:lstStyle/>
          <a:p>
            <a:pPr marL="146050" indent="0">
              <a:buNone/>
            </a:pPr>
            <a:r>
              <a:rPr lang="en-GB" dirty="0">
                <a:latin typeface="Montserrat" pitchFamily="2" charset="77"/>
              </a:rPr>
              <a:t>For each dataset, three experiments were conducted to evaluate query performance under increasing complexity. Each experiment used a different query pattern:</a:t>
            </a:r>
          </a:p>
          <a:p>
            <a:pPr marL="146050" indent="0">
              <a:buNone/>
            </a:pPr>
            <a:endParaRPr lang="en-GB" dirty="0">
              <a:latin typeface="Montserrat" pitchFamily="2" charset="77"/>
            </a:endParaRPr>
          </a:p>
          <a:p>
            <a:pPr marL="146050" indent="0">
              <a:buNone/>
            </a:pPr>
            <a:r>
              <a:rPr lang="en-GB" dirty="0">
                <a:solidFill>
                  <a:schemeClr val="tx2"/>
                </a:solidFill>
                <a:latin typeface="Montserrat" pitchFamily="2" charset="77"/>
              </a:rPr>
              <a:t>Experiment 1 – Simple Query</a:t>
            </a:r>
          </a:p>
          <a:p>
            <a:pPr marL="603250" lvl="1" indent="0">
              <a:buNone/>
            </a:pPr>
            <a:r>
              <a:rPr lang="en-GB" dirty="0">
                <a:latin typeface="Montserrat" pitchFamily="2" charset="77"/>
              </a:rPr>
              <a:t>- Retrieves events and their timestamps only</a:t>
            </a:r>
          </a:p>
          <a:p>
            <a:pPr marL="603250" lvl="1" indent="0">
              <a:buNone/>
            </a:pPr>
            <a:r>
              <a:rPr lang="en-GB" dirty="0">
                <a:latin typeface="Montserrat" pitchFamily="2" charset="77"/>
              </a:rPr>
              <a:t>- No partitions or filters applied</a:t>
            </a:r>
          </a:p>
          <a:p>
            <a:pPr marL="603250" lvl="1" indent="0">
              <a:buNone/>
            </a:pPr>
            <a:r>
              <a:rPr lang="en-GB" dirty="0">
                <a:latin typeface="Montserrat" pitchFamily="2" charset="77"/>
              </a:rPr>
              <a:t>- Serves as the baseline performance</a:t>
            </a:r>
          </a:p>
          <a:p>
            <a:pPr marL="146050" indent="0">
              <a:buNone/>
            </a:pPr>
            <a:endParaRPr lang="en-GB" dirty="0">
              <a:latin typeface="Montserrat" pitchFamily="2" charset="77"/>
            </a:endParaRPr>
          </a:p>
          <a:p>
            <a:pPr marL="146050" indent="0">
              <a:buNone/>
            </a:pPr>
            <a:r>
              <a:rPr lang="en-GB" dirty="0">
                <a:solidFill>
                  <a:schemeClr val="tx2"/>
                </a:solidFill>
                <a:latin typeface="Montserrat" pitchFamily="2" charset="77"/>
              </a:rPr>
              <a:t>Experiment 2 – Partitioned Query</a:t>
            </a:r>
          </a:p>
          <a:p>
            <a:pPr marL="603250" lvl="1" indent="0">
              <a:buNone/>
            </a:pPr>
            <a:r>
              <a:rPr lang="en-GB" dirty="0">
                <a:latin typeface="Montserrat" pitchFamily="2" charset="77"/>
              </a:rPr>
              <a:t>- Uses PARTITION BY to group events</a:t>
            </a:r>
          </a:p>
          <a:p>
            <a:pPr marL="603250" lvl="1" indent="0">
              <a:buNone/>
            </a:pPr>
            <a:r>
              <a:rPr lang="en-GB" dirty="0">
                <a:latin typeface="Montserrat" pitchFamily="2" charset="77"/>
              </a:rPr>
              <a:t>- Introduces moderate query complexity</a:t>
            </a:r>
          </a:p>
          <a:p>
            <a:pPr marL="603250" lvl="1" indent="0">
              <a:buNone/>
            </a:pPr>
            <a:r>
              <a:rPr lang="en-GB" dirty="0">
                <a:latin typeface="Montserrat" pitchFamily="2" charset="77"/>
              </a:rPr>
              <a:t>- Measures impact of partitioning on response time</a:t>
            </a:r>
          </a:p>
          <a:p>
            <a:endParaRPr lang="en-GB" dirty="0">
              <a:latin typeface="Montserrat" pitchFamily="2" charset="77"/>
            </a:endParaRPr>
          </a:p>
          <a:p>
            <a:pPr marL="146050" indent="0">
              <a:buNone/>
            </a:pPr>
            <a:r>
              <a:rPr lang="en-GB" dirty="0">
                <a:solidFill>
                  <a:schemeClr val="tx2"/>
                </a:solidFill>
                <a:latin typeface="Montserrat" pitchFamily="2" charset="77"/>
              </a:rPr>
              <a:t>Experiment 3 – Partitioned &amp; Filtered Query</a:t>
            </a:r>
          </a:p>
          <a:p>
            <a:pPr marL="603250" lvl="1" indent="0">
              <a:buNone/>
            </a:pPr>
            <a:r>
              <a:rPr lang="en-GB" dirty="0">
                <a:latin typeface="Montserrat" pitchFamily="2" charset="77"/>
              </a:rPr>
              <a:t>- Combines PARTITION BY with filtering conditions</a:t>
            </a:r>
          </a:p>
          <a:p>
            <a:pPr marL="603250" lvl="1" indent="0">
              <a:buNone/>
            </a:pPr>
            <a:r>
              <a:rPr lang="en-GB" dirty="0">
                <a:latin typeface="Montserrat" pitchFamily="2" charset="77"/>
              </a:rPr>
              <a:t>- Represents the most complex query</a:t>
            </a:r>
          </a:p>
          <a:p>
            <a:pPr marL="603250" lvl="1" indent="0">
              <a:buNone/>
            </a:pPr>
            <a:r>
              <a:rPr lang="en-GB" dirty="0">
                <a:latin typeface="Montserrat" pitchFamily="2" charset="77"/>
              </a:rPr>
              <a:t>- Evaluates performance under realistic analytical workloads</a:t>
            </a:r>
          </a:p>
          <a:p>
            <a:pPr marL="146050" indent="0">
              <a:buNone/>
            </a:pPr>
            <a:endParaRPr lang="en-GB" dirty="0">
              <a:latin typeface="Montserrat" pitchFamily="2" charset="77"/>
            </a:endParaRPr>
          </a:p>
          <a:p>
            <a:pPr marL="146050" indent="0">
              <a:buNone/>
            </a:pPr>
            <a:r>
              <a:rPr lang="en-GB" dirty="0">
                <a:latin typeface="Montserrat" pitchFamily="2" charset="77"/>
              </a:rPr>
              <a:t>This progression allows comparison of performance impact as query complexity increases. </a:t>
            </a:r>
            <a:endParaRPr lang="en-GR">
              <a:latin typeface="Montserrat" pitchFamily="2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A323E-86FD-3963-924C-1E579E8C79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 smtClean="0"/>
              <a:t>30</a:t>
            </a:fld>
            <a:endParaRPr lang="el"/>
          </a:p>
        </p:txBody>
      </p:sp>
    </p:spTree>
    <p:extLst>
      <p:ext uri="{BB962C8B-B14F-4D97-AF65-F5344CB8AC3E}">
        <p14:creationId xmlns:p14="http://schemas.microsoft.com/office/powerpoint/2010/main" val="8818122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EC3BA-F2F3-3295-BEA4-F2FD58F75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FD805-501B-E836-544F-489FEA6F1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500" y="268108"/>
            <a:ext cx="7038900" cy="569510"/>
          </a:xfrm>
        </p:spPr>
        <p:txBody>
          <a:bodyPr/>
          <a:lstStyle/>
          <a:p>
            <a:r>
              <a:rPr lang="en-GR">
                <a:solidFill>
                  <a:schemeClr val="tx2"/>
                </a:solidFill>
              </a:rPr>
              <a:t>Crypto dataset – </a:t>
            </a:r>
            <a:r>
              <a:rPr lang="en-US" dirty="0">
                <a:solidFill>
                  <a:schemeClr val="tx2"/>
                </a:solidFill>
              </a:rPr>
              <a:t>Median Complexity </a:t>
            </a:r>
            <a:endParaRPr lang="en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85A80-24A3-DCFB-92EF-3DC25AC4BE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 smtClean="0"/>
              <a:t>31</a:t>
            </a:fld>
            <a:endParaRPr lang="e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7C701C-2640-6F7C-080A-D8ACA4EEB5AC}"/>
              </a:ext>
            </a:extLst>
          </p:cNvPr>
          <p:cNvSpPr txBox="1"/>
          <p:nvPr/>
        </p:nvSpPr>
        <p:spPr>
          <a:xfrm>
            <a:off x="1297500" y="932611"/>
            <a:ext cx="7174958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GB" b="0" i="0" u="none" strike="noStrike" dirty="0">
                <a:solidFill>
                  <a:srgbClr val="82C7A5"/>
                </a:solidFill>
                <a:effectLst/>
                <a:latin typeface="Montserrat" pitchFamily="2" charset="77"/>
              </a:rPr>
              <a:t>Query:</a:t>
            </a:r>
            <a:endParaRPr lang="en-GB" b="0" i="0" dirty="0">
              <a:solidFill>
                <a:srgbClr val="000000"/>
              </a:solidFill>
              <a:effectLst/>
              <a:latin typeface="Montserrat" pitchFamily="2" charset="77"/>
            </a:endParaRPr>
          </a:p>
          <a:p>
            <a:pPr algn="l">
              <a:buNone/>
            </a:pPr>
            <a:endParaRPr lang="en-GB" b="0" i="0" dirty="0">
              <a:solidFill>
                <a:srgbClr val="000000"/>
              </a:solidFill>
              <a:effectLst/>
              <a:latin typeface="Montserrat" pitchFamily="2" charset="77"/>
            </a:endParaRPr>
          </a:p>
          <a:p>
            <a:pPr algn="l">
              <a:buNone/>
            </a:pPr>
            <a:r>
              <a:rPr lang="en-GB" b="0" i="0" dirty="0">
                <a:solidFill>
                  <a:schemeClr val="bg1"/>
                </a:solidFill>
                <a:effectLst/>
                <a:latin typeface="Montserrat" pitchFamily="2" charset="77"/>
              </a:rPr>
              <a:t>SELECT * FROM S</a:t>
            </a:r>
          </a:p>
          <a:p>
            <a:pPr algn="l">
              <a:buNone/>
            </a:pPr>
            <a:r>
              <a:rPr lang="en-GB" b="0" i="0" dirty="0">
                <a:solidFill>
                  <a:schemeClr val="bg1"/>
                </a:solidFill>
                <a:effectLst/>
                <a:latin typeface="Montserrat" pitchFamily="2" charset="77"/>
              </a:rPr>
              <a:t>WHERE (BNB as </a:t>
            </a:r>
            <a:r>
              <a:rPr lang="en-GB" b="0" i="0" dirty="0" err="1">
                <a:solidFill>
                  <a:schemeClr val="bg1"/>
                </a:solidFill>
                <a:effectLst/>
                <a:latin typeface="Montserrat" pitchFamily="2" charset="77"/>
              </a:rPr>
              <a:t>bnb</a:t>
            </a:r>
            <a:r>
              <a:rPr lang="en-GB" b="0" i="0" dirty="0">
                <a:solidFill>
                  <a:schemeClr val="bg1"/>
                </a:solidFill>
                <a:effectLst/>
                <a:latin typeface="Montserrat" pitchFamily="2" charset="77"/>
              </a:rPr>
              <a:t>; DOGE as doge; NEAR as near)</a:t>
            </a:r>
          </a:p>
          <a:p>
            <a:pPr algn="l">
              <a:buNone/>
            </a:pPr>
            <a:r>
              <a:rPr lang="en-GB" b="0" i="0" dirty="0">
                <a:solidFill>
                  <a:schemeClr val="bg1"/>
                </a:solidFill>
                <a:effectLst/>
                <a:latin typeface="Montserrat" pitchFamily="2" charset="77"/>
              </a:rPr>
              <a:t>PARTITION BY [Exchange]</a:t>
            </a:r>
          </a:p>
          <a:p>
            <a:pPr algn="l">
              <a:buNone/>
            </a:pPr>
            <a:r>
              <a:rPr lang="en-GB" b="0" i="0" dirty="0">
                <a:solidFill>
                  <a:schemeClr val="bg1"/>
                </a:solidFill>
                <a:effectLst/>
                <a:latin typeface="Montserrat" pitchFamily="2" charset="77"/>
              </a:rPr>
              <a:t>WITHIN 10 [</a:t>
            </a:r>
            <a:r>
              <a:rPr lang="en-GB" b="0" i="0" dirty="0" err="1">
                <a:solidFill>
                  <a:schemeClr val="bg1"/>
                </a:solidFill>
                <a:effectLst/>
                <a:latin typeface="Montserrat" pitchFamily="2" charset="77"/>
              </a:rPr>
              <a:t>Event_Timestamp</a:t>
            </a:r>
            <a:r>
              <a:rPr lang="en-GB" b="0" i="0" dirty="0">
                <a:solidFill>
                  <a:schemeClr val="bg1"/>
                </a:solidFill>
                <a:effectLst/>
                <a:latin typeface="Montserrat" pitchFamily="2" charset="77"/>
              </a:rPr>
              <a:t>]</a:t>
            </a:r>
          </a:p>
          <a:p>
            <a:pPr algn="l">
              <a:buNone/>
            </a:pPr>
            <a:r>
              <a:rPr lang="en-GB" b="0" i="0" dirty="0">
                <a:solidFill>
                  <a:schemeClr val="bg1"/>
                </a:solidFill>
                <a:effectLst/>
                <a:latin typeface="Montserrat" pitchFamily="2" charset="77"/>
              </a:rPr>
              <a:t>CONSUME BY ANY</a:t>
            </a:r>
          </a:p>
          <a:p>
            <a:pPr algn="l">
              <a:buNone/>
            </a:pPr>
            <a:endParaRPr lang="en-GB" dirty="0">
              <a:latin typeface="Montserrat" pitchFamily="2" charset="77"/>
            </a:endParaRPr>
          </a:p>
          <a:p>
            <a:pPr algn="l">
              <a:buNone/>
            </a:pPr>
            <a:endParaRPr lang="en-GB" b="0" i="0" dirty="0">
              <a:solidFill>
                <a:srgbClr val="000000"/>
              </a:solidFill>
              <a:effectLst/>
              <a:latin typeface="Montserrat" pitchFamily="2" charset="77"/>
            </a:endParaRPr>
          </a:p>
          <a:p>
            <a:pPr algn="l">
              <a:buNone/>
            </a:pPr>
            <a:r>
              <a:rPr lang="en-US" dirty="0">
                <a:solidFill>
                  <a:schemeClr val="bg1"/>
                </a:solidFill>
                <a:latin typeface="Montserrat" pitchFamily="2" charset="77"/>
              </a:rPr>
              <a:t>Identify patterns for </a:t>
            </a:r>
            <a:r>
              <a:rPr lang="en-US" dirty="0">
                <a:solidFill>
                  <a:schemeClr val="tx2"/>
                </a:solidFill>
                <a:latin typeface="Montserrat" pitchFamily="2" charset="77"/>
              </a:rPr>
              <a:t>BNB, DOGE, and NEAR </a:t>
            </a:r>
            <a:r>
              <a:rPr lang="en-US" dirty="0">
                <a:solidFill>
                  <a:schemeClr val="bg1"/>
                </a:solidFill>
                <a:latin typeface="Montserrat" pitchFamily="2" charset="77"/>
              </a:rPr>
              <a:t>by </a:t>
            </a:r>
            <a:r>
              <a:rPr lang="en-US" dirty="0">
                <a:solidFill>
                  <a:schemeClr val="tx2"/>
                </a:solidFill>
                <a:latin typeface="Montserrat" pitchFamily="2" charset="77"/>
              </a:rPr>
              <a:t>grouping exchanges within</a:t>
            </a:r>
            <a:r>
              <a:rPr lang="en-US" dirty="0">
                <a:solidFill>
                  <a:schemeClr val="bg1"/>
                </a:solidFill>
                <a:latin typeface="Montserrat" pitchFamily="2" charset="77"/>
              </a:rPr>
              <a:t> a </a:t>
            </a:r>
            <a:r>
              <a:rPr lang="en-US" dirty="0">
                <a:solidFill>
                  <a:schemeClr val="tx2"/>
                </a:solidFill>
                <a:latin typeface="Montserrat" pitchFamily="2" charset="77"/>
              </a:rPr>
              <a:t>10-unit window</a:t>
            </a:r>
            <a:endParaRPr lang="en-GB" b="0" i="0" dirty="0">
              <a:solidFill>
                <a:schemeClr val="tx2"/>
              </a:solidFill>
              <a:effectLst/>
              <a:latin typeface="Montserrat" pitchFamily="2" charset="77"/>
            </a:endParaRPr>
          </a:p>
          <a:p>
            <a:pPr algn="l">
              <a:buNone/>
            </a:pPr>
            <a:endParaRPr lang="en-GB" b="0" i="0" dirty="0">
              <a:solidFill>
                <a:srgbClr val="000000"/>
              </a:solidFill>
              <a:effectLst/>
              <a:latin typeface="Montserrat" pitchFamily="2" charset="77"/>
            </a:endParaRPr>
          </a:p>
          <a:p>
            <a:pPr algn="l" rtl="0">
              <a:buNone/>
            </a:pPr>
            <a:r>
              <a:rPr lang="en-GB" b="0" i="0" u="none" strike="noStrike" dirty="0">
                <a:solidFill>
                  <a:srgbClr val="82C7A5"/>
                </a:solidFill>
                <a:effectLst/>
                <a:latin typeface="Montserrat" pitchFamily="2" charset="77"/>
              </a:rPr>
              <a:t>Quarantine times to test (sec):</a:t>
            </a:r>
            <a:r>
              <a:rPr lang="en-GB" b="0" i="0" u="none" strike="noStrike" dirty="0">
                <a:solidFill>
                  <a:srgbClr val="FFFFFF"/>
                </a:solidFill>
                <a:effectLst/>
                <a:latin typeface="Montserrat" pitchFamily="2" charset="77"/>
              </a:rPr>
              <a:t> </a:t>
            </a:r>
            <a:br>
              <a:rPr lang="en-GB" b="0" i="0" u="none" strike="noStrike" dirty="0">
                <a:solidFill>
                  <a:srgbClr val="000000"/>
                </a:solidFill>
                <a:effectLst/>
                <a:latin typeface="Montserrat" pitchFamily="2" charset="77"/>
              </a:rPr>
            </a:br>
            <a:br>
              <a:rPr lang="en-GB" b="0" i="0" u="none" strike="noStrike" dirty="0">
                <a:solidFill>
                  <a:srgbClr val="000000"/>
                </a:solidFill>
                <a:effectLst/>
                <a:latin typeface="Montserrat" pitchFamily="2" charset="77"/>
              </a:rPr>
            </a:br>
            <a:r>
              <a:rPr lang="en-GB" b="0" i="0" u="none" strike="noStrike" dirty="0">
                <a:solidFill>
                  <a:srgbClr val="FFFFFF"/>
                </a:solidFill>
                <a:effectLst/>
                <a:latin typeface="Montserrat" pitchFamily="2" charset="77"/>
              </a:rPr>
              <a:t>1, 2, 4, 8, 16, 32, 64, 128, 256, 512, 1.024, 2.048, 4.096, 8.192, 16.384</a:t>
            </a:r>
            <a:endParaRPr lang="en-GB" b="0" i="0" dirty="0">
              <a:solidFill>
                <a:srgbClr val="000000"/>
              </a:solidFill>
              <a:effectLst/>
              <a:latin typeface="Montserrat" pitchFamily="2" charset="77"/>
            </a:endParaRPr>
          </a:p>
          <a:p>
            <a:pPr>
              <a:buNone/>
            </a:pPr>
            <a:br>
              <a:rPr lang="en-GB" sz="1600" dirty="0"/>
            </a:br>
            <a:br>
              <a:rPr lang="en-GB" sz="1600" dirty="0"/>
            </a:br>
            <a:endParaRPr lang="en-GR" sz="1600"/>
          </a:p>
        </p:txBody>
      </p:sp>
    </p:spTree>
    <p:extLst>
      <p:ext uri="{BB962C8B-B14F-4D97-AF65-F5344CB8AC3E}">
        <p14:creationId xmlns:p14="http://schemas.microsoft.com/office/powerpoint/2010/main" val="38516914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5153A-950C-9330-56B4-7C5B7D92D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>
                <a:solidFill>
                  <a:schemeClr val="tx2"/>
                </a:solidFill>
              </a:rPr>
              <a:t>Comparison of New Dynamic Quarantine Policies</a:t>
            </a:r>
            <a:endParaRPr lang="en-GR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3320C4-BEA2-95BB-1ECE-1917B292DB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7500" y="1567549"/>
            <a:ext cx="7174958" cy="3095667"/>
          </a:xfrm>
        </p:spPr>
        <p:txBody>
          <a:bodyPr>
            <a:normAutofit/>
          </a:bodyPr>
          <a:lstStyle/>
          <a:p>
            <a:pPr marL="146050" indent="0">
              <a:buNone/>
            </a:pPr>
            <a:r>
              <a:rPr lang="en-GB" sz="1400" dirty="0">
                <a:latin typeface="Montserrat" pitchFamily="2" charset="77"/>
              </a:rPr>
              <a:t>The following graphs compare </a:t>
            </a:r>
            <a:r>
              <a:rPr lang="en-GB" sz="1400" dirty="0">
                <a:solidFill>
                  <a:schemeClr val="tx2"/>
                </a:solidFill>
                <a:latin typeface="Montserrat" pitchFamily="2" charset="77"/>
              </a:rPr>
              <a:t>the six new dynamic quarantine policies</a:t>
            </a:r>
            <a:r>
              <a:rPr lang="en-GB" sz="1400" dirty="0">
                <a:latin typeface="Montserrat" pitchFamily="2" charset="77"/>
              </a:rPr>
              <a:t>: AVG, p99-EMA, MAX-EMA, MAX, Jump-and-Decay, and Per-Event.</a:t>
            </a:r>
          </a:p>
          <a:p>
            <a:pPr marL="146050" indent="0">
              <a:buNone/>
            </a:pPr>
            <a:endParaRPr lang="en-GB" sz="1400" dirty="0">
              <a:latin typeface="Montserrat" pitchFamily="2" charset="77"/>
            </a:endParaRPr>
          </a:p>
          <a:p>
            <a:pPr marL="146050" indent="0">
              <a:buNone/>
            </a:pPr>
            <a:r>
              <a:rPr lang="en-GB" sz="1400" dirty="0">
                <a:latin typeface="Montserrat" pitchFamily="2" charset="77"/>
              </a:rPr>
              <a:t>Each policy is evaluated across five metrics, in the following order:</a:t>
            </a:r>
            <a:br>
              <a:rPr lang="en-GB" sz="1400" dirty="0">
                <a:latin typeface="Montserrat" pitchFamily="2" charset="77"/>
              </a:rPr>
            </a:br>
            <a:endParaRPr lang="en-GB" sz="1400" dirty="0">
              <a:latin typeface="Montserrat" pitchFamily="2" charset="77"/>
            </a:endParaRPr>
          </a:p>
          <a:p>
            <a:pPr lvl="1"/>
            <a:r>
              <a:rPr lang="en-GB" sz="1400" dirty="0">
                <a:solidFill>
                  <a:schemeClr val="tx2"/>
                </a:solidFill>
                <a:latin typeface="Montserrat" pitchFamily="2" charset="77"/>
              </a:rPr>
              <a:t>Drop rate</a:t>
            </a:r>
          </a:p>
          <a:p>
            <a:pPr lvl="1"/>
            <a:r>
              <a:rPr lang="en-GB" sz="1400" dirty="0">
                <a:solidFill>
                  <a:schemeClr val="tx2"/>
                </a:solidFill>
                <a:latin typeface="Montserrat" pitchFamily="2" charset="77"/>
              </a:rPr>
              <a:t>Number of detected complex events</a:t>
            </a:r>
          </a:p>
          <a:p>
            <a:pPr lvl="1"/>
            <a:r>
              <a:rPr lang="en-GB" sz="1400" dirty="0">
                <a:solidFill>
                  <a:schemeClr val="tx2"/>
                </a:solidFill>
                <a:latin typeface="Montserrat" pitchFamily="2" charset="77"/>
              </a:rPr>
              <a:t>Execution time</a:t>
            </a:r>
          </a:p>
          <a:p>
            <a:pPr lvl="1"/>
            <a:r>
              <a:rPr lang="en-GB" sz="1400" dirty="0">
                <a:solidFill>
                  <a:schemeClr val="tx2"/>
                </a:solidFill>
                <a:latin typeface="Montserrat" pitchFamily="2" charset="77"/>
              </a:rPr>
              <a:t>Detection delay</a:t>
            </a:r>
          </a:p>
          <a:p>
            <a:pPr lvl="1"/>
            <a:r>
              <a:rPr lang="en-GR" sz="1400">
                <a:solidFill>
                  <a:schemeClr val="tx2"/>
                </a:solidFill>
                <a:latin typeface="Montserrat" pitchFamily="2" charset="77"/>
              </a:rPr>
              <a:t>Comparison with ideal results</a:t>
            </a:r>
            <a:endParaRPr lang="en-GB" sz="1400" dirty="0">
              <a:solidFill>
                <a:schemeClr val="tx2"/>
              </a:solidFill>
              <a:latin typeface="Montserrat" pitchFamily="2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00BB90-405C-A5D8-B4E7-B0B538C72B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 smtClean="0"/>
              <a:t>32</a:t>
            </a:fld>
            <a:endParaRPr lang="el"/>
          </a:p>
        </p:txBody>
      </p:sp>
    </p:spTree>
    <p:extLst>
      <p:ext uri="{BB962C8B-B14F-4D97-AF65-F5344CB8AC3E}">
        <p14:creationId xmlns:p14="http://schemas.microsoft.com/office/powerpoint/2010/main" val="27254406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693DC-F2B5-D395-E828-5ABD89A2A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B0BF32-D0DA-A2CE-8487-3C94929CBD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 smtClean="0"/>
              <a:t>33</a:t>
            </a:fld>
            <a:endParaRPr lang="el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8744B99-CDDA-26CA-B686-AFF7A003B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349" y="24506"/>
            <a:ext cx="5103301" cy="457050"/>
          </a:xfrm>
        </p:spPr>
        <p:txBody>
          <a:bodyPr>
            <a:normAutofit fontScale="90000"/>
          </a:bodyPr>
          <a:lstStyle/>
          <a:p>
            <a:r>
              <a:rPr lang="en-GB" sz="2200" dirty="0">
                <a:solidFill>
                  <a:schemeClr val="tx2"/>
                </a:solidFill>
              </a:rPr>
              <a:t>Dynamic Policies Comparison - Drops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endParaRPr lang="en-G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D8CA17-393D-D571-CB55-B9328F7875E5}"/>
              </a:ext>
            </a:extLst>
          </p:cNvPr>
          <p:cNvSpPr txBox="1"/>
          <p:nvPr/>
        </p:nvSpPr>
        <p:spPr>
          <a:xfrm>
            <a:off x="470320" y="4063220"/>
            <a:ext cx="82764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This graph compares how different solutions handle dropped events as quarantine time increases. </a:t>
            </a:r>
            <a:br>
              <a:rPr lang="en-GB" sz="900" dirty="0">
                <a:solidFill>
                  <a:schemeClr val="bg1"/>
                </a:solidFill>
                <a:latin typeface="Montserrat" pitchFamily="2" charset="77"/>
              </a:rPr>
            </a:br>
            <a:endParaRPr lang="en-GB" sz="900" dirty="0">
              <a:solidFill>
                <a:schemeClr val="bg1"/>
              </a:solidFill>
              <a:latin typeface="Montserrat" pitchFamily="2" charset="77"/>
            </a:endParaRPr>
          </a:p>
          <a:p>
            <a:pPr marL="171450" indent="-1714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The 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Per-Event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 policy 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consistently outperforms all others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, maintaining a 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minimal drop 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count that starts at 1,024 events and reduces to the lowest value of 456.</a:t>
            </a:r>
          </a:p>
          <a:p>
            <a:pPr marL="171450" indent="-1714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All other policies 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show 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higher drop rates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 that remain relatively stable, only beginning 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to decreas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e significantly 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when quarantine times exceed 512 seconds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A51EF57-DABD-F480-3748-AFCAEC190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746" y="481556"/>
            <a:ext cx="6615439" cy="3511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8752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6E16A-0379-E70C-E41E-BAF830EDD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E774D-07CB-80B2-DE69-0E80800CAE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 smtClean="0"/>
              <a:t>34</a:t>
            </a:fld>
            <a:endParaRPr lang="el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0CE68D6-7F7B-4AC9-B061-4550E5E9D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6243" y="65664"/>
            <a:ext cx="5711511" cy="527188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tx2"/>
                </a:solidFill>
              </a:rPr>
              <a:t>Dynamic Policies Comparison - Results</a:t>
            </a:r>
            <a:endParaRPr lang="en-GR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74B701-2D18-0F0A-1499-357D9184E3B5}"/>
              </a:ext>
            </a:extLst>
          </p:cNvPr>
          <p:cNvSpPr txBox="1"/>
          <p:nvPr/>
        </p:nvSpPr>
        <p:spPr>
          <a:xfrm>
            <a:off x="466287" y="4000718"/>
            <a:ext cx="82114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This graph compares how many complex events each solution detects as quarantine time increases. </a:t>
            </a:r>
            <a:br>
              <a:rPr lang="en-GB" sz="900" dirty="0">
                <a:solidFill>
                  <a:schemeClr val="bg1"/>
                </a:solidFill>
                <a:latin typeface="Montserrat" pitchFamily="2" charset="77"/>
              </a:rPr>
            </a:br>
            <a:endParaRPr lang="en-GB" sz="900" dirty="0">
              <a:solidFill>
                <a:schemeClr val="bg1"/>
              </a:solidFill>
              <a:latin typeface="Montserrat" pitchFamily="2" charset="77"/>
            </a:endParaRPr>
          </a:p>
          <a:p>
            <a:pPr marL="171450" indent="-1714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Per-Even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t consistently 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finds the most events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, starting at 16,308 and rising slightly to 16,326. </a:t>
            </a:r>
          </a:p>
          <a:p>
            <a:pPr marL="171450" indent="-1714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The 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other quarantines 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stay 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stable early on 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and 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begin to improve after 512 seconds 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but 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never surpass Per-Event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. </a:t>
            </a:r>
          </a:p>
          <a:p>
            <a:pPr>
              <a:buClr>
                <a:schemeClr val="bg1"/>
              </a:buClr>
            </a:pPr>
            <a:endParaRPr lang="en-GB" sz="900" dirty="0">
              <a:solidFill>
                <a:schemeClr val="bg1"/>
              </a:solidFill>
              <a:latin typeface="Montserrat" pitchFamily="2" charset="77"/>
            </a:endParaRPr>
          </a:p>
          <a:p>
            <a:pPr>
              <a:buClr>
                <a:schemeClr val="bg1"/>
              </a:buClr>
            </a:pP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The graph shows 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that Per-Event is the most effective across all solutions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, while AVG benefits the most from longer quarantine.</a:t>
            </a:r>
            <a:endParaRPr lang="en-GR" sz="900">
              <a:solidFill>
                <a:schemeClr val="bg1"/>
              </a:solidFill>
              <a:latin typeface="Montserrat" pitchFamily="2" charset="77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644B0F-AD71-18B7-C61C-A064E1DF91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087" y="592852"/>
            <a:ext cx="6215826" cy="3296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2651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020A3-34C6-7412-7BB7-D9A41E5A2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758E3-239E-0157-3588-8FFCF02EF2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 smtClean="0"/>
              <a:t>35</a:t>
            </a:fld>
            <a:endParaRPr lang="el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3BEDC3F-68BF-8AF0-95C4-05CDAA3D8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182139"/>
            <a:ext cx="6858002" cy="703145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tx2"/>
                </a:solidFill>
              </a:rPr>
              <a:t>Dynamic Policies Comparison – Execution Time</a:t>
            </a:r>
            <a:endParaRPr lang="en-GR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1F334A-BB0C-8FC2-40B1-8B783FFC4FBE}"/>
              </a:ext>
            </a:extLst>
          </p:cNvPr>
          <p:cNvSpPr txBox="1"/>
          <p:nvPr/>
        </p:nvSpPr>
        <p:spPr>
          <a:xfrm>
            <a:off x="455979" y="4195043"/>
            <a:ext cx="783871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bg1"/>
              </a:buClr>
            </a:pPr>
            <a:r>
              <a:rPr lang="en-GB" sz="1000" dirty="0">
                <a:solidFill>
                  <a:schemeClr val="bg1"/>
                </a:solidFill>
                <a:latin typeface="Montserrat" pitchFamily="2" charset="77"/>
              </a:rPr>
              <a:t>This graph compares how execution time affects each quarantine policy.</a:t>
            </a:r>
          </a:p>
          <a:p>
            <a:pPr>
              <a:buClr>
                <a:schemeClr val="bg1"/>
              </a:buClr>
            </a:pPr>
            <a:endParaRPr lang="en-GB" sz="1000" dirty="0">
              <a:solidFill>
                <a:schemeClr val="bg1"/>
              </a:solidFill>
              <a:latin typeface="Montserrat" pitchFamily="2" charset="77"/>
            </a:endParaRPr>
          </a:p>
          <a:p>
            <a:pPr marL="171450" indent="-1714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bg1"/>
                </a:solidFill>
                <a:latin typeface="Montserrat" pitchFamily="2" charset="77"/>
              </a:rPr>
              <a:t>The </a:t>
            </a:r>
            <a:r>
              <a:rPr lang="en-GB" sz="1000" dirty="0">
                <a:solidFill>
                  <a:schemeClr val="tx2"/>
                </a:solidFill>
                <a:latin typeface="Montserrat" pitchFamily="2" charset="77"/>
              </a:rPr>
              <a:t>p99-EMA policy has the worst execution time</a:t>
            </a:r>
            <a:r>
              <a:rPr lang="en-GB" sz="1000" dirty="0">
                <a:solidFill>
                  <a:schemeClr val="bg1"/>
                </a:solidFill>
                <a:latin typeface="Montserrat" pitchFamily="2" charset="77"/>
              </a:rPr>
              <a:t>, taking over 40 seconds to run because it must constantly recalculate percentiles. </a:t>
            </a:r>
          </a:p>
          <a:p>
            <a:pPr marL="171450" indent="-1714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2"/>
                </a:solidFill>
                <a:latin typeface="Montserrat" pitchFamily="2" charset="77"/>
              </a:rPr>
              <a:t>Per-Event policy is highly optimized</a:t>
            </a:r>
            <a:r>
              <a:rPr lang="en-GB" sz="1000" dirty="0">
                <a:solidFill>
                  <a:schemeClr val="bg1"/>
                </a:solidFill>
                <a:latin typeface="Montserrat" pitchFamily="2" charset="77"/>
              </a:rPr>
              <a:t>, running in just ~14 seconds. </a:t>
            </a:r>
            <a:endParaRPr lang="en-GR" sz="1000">
              <a:solidFill>
                <a:schemeClr val="bg1"/>
              </a:solidFill>
              <a:latin typeface="Montserrat" pitchFamily="2" charset="77"/>
            </a:endParaRPr>
          </a:p>
        </p:txBody>
      </p:sp>
      <p:pic>
        <p:nvPicPr>
          <p:cNvPr id="7" name="Picture 6" descr="A graph of a number of times&#10;&#10;AI-generated content may be incorrect.">
            <a:extLst>
              <a:ext uri="{FF2B5EF4-FFF2-40B4-BE49-F238E27FC236}">
                <a16:creationId xmlns:a16="http://schemas.microsoft.com/office/drawing/2014/main" id="{D381B151-F8F0-CABC-8868-862D63840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731" y="757281"/>
            <a:ext cx="6061211" cy="3214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7161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572B3-0038-AB9F-6868-A8481BA70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8D8C92-A09F-69A6-40C1-BA6C4ED7EC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 smtClean="0"/>
              <a:t>36</a:t>
            </a:fld>
            <a:endParaRPr lang="el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5D7CB11-C66E-8929-FA84-6BC4B7445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977" y="163465"/>
            <a:ext cx="7524688" cy="562471"/>
          </a:xfrm>
        </p:spPr>
        <p:txBody>
          <a:bodyPr>
            <a:noAutofit/>
          </a:bodyPr>
          <a:lstStyle/>
          <a:p>
            <a:r>
              <a:rPr lang="en-GB" sz="2000" dirty="0">
                <a:solidFill>
                  <a:schemeClr val="tx2"/>
                </a:solidFill>
              </a:rPr>
              <a:t>Dynamic Policies Comparison – Median Detection Delay</a:t>
            </a:r>
            <a:endParaRPr lang="en-GR" sz="2000">
              <a:solidFill>
                <a:schemeClr val="tx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A8835D-632A-A406-B122-089F4D33A76C}"/>
              </a:ext>
            </a:extLst>
          </p:cNvPr>
          <p:cNvSpPr txBox="1"/>
          <p:nvPr/>
        </p:nvSpPr>
        <p:spPr>
          <a:xfrm>
            <a:off x="489334" y="3851850"/>
            <a:ext cx="8165331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This chart compares how median detection delay changes with quarantine time across the different implementations. </a:t>
            </a:r>
            <a:br>
              <a:rPr lang="en-GB" sz="900" dirty="0">
                <a:solidFill>
                  <a:schemeClr val="bg1"/>
                </a:solidFill>
                <a:latin typeface="Montserrat" pitchFamily="2" charset="77"/>
              </a:rPr>
            </a:br>
            <a:endParaRPr lang="en-GB" sz="900" dirty="0">
              <a:solidFill>
                <a:schemeClr val="bg1"/>
              </a:solidFill>
              <a:latin typeface="Montserrat" pitchFamily="2" charset="77"/>
            </a:endParaRPr>
          </a:p>
          <a:p>
            <a:pPr marL="171450" indent="-1714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Per-Event has the highest and most stable detection delay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, slightly increasing at the longest quarantine time. </a:t>
            </a:r>
          </a:p>
          <a:p>
            <a:pPr marL="171450" indent="-1714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The 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other methods stay low for small quarantine times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, but their delays also 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increase significantly after 1024 seconds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. </a:t>
            </a:r>
          </a:p>
          <a:p>
            <a:pPr>
              <a:buClr>
                <a:schemeClr val="bg1"/>
              </a:buClr>
            </a:pPr>
            <a:endParaRPr lang="en-GB" sz="900" dirty="0">
              <a:solidFill>
                <a:schemeClr val="bg1"/>
              </a:solidFill>
              <a:latin typeface="Montserrat" pitchFamily="2" charset="77"/>
            </a:endParaRPr>
          </a:p>
          <a:p>
            <a:pPr>
              <a:buClr>
                <a:schemeClr val="bg1"/>
              </a:buClr>
            </a:pP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The chart shows that while AVG is fastest at first, 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Per-Event and others become more consistent over time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, with 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longer quarantine leading to higher detection delays but with more results and less drops.</a:t>
            </a:r>
            <a:endParaRPr lang="en-GR" sz="900">
              <a:solidFill>
                <a:schemeClr val="tx2"/>
              </a:solidFill>
              <a:latin typeface="Montserrat" pitchFamily="2" charset="77"/>
            </a:endParaRPr>
          </a:p>
        </p:txBody>
      </p:sp>
      <p:pic>
        <p:nvPicPr>
          <p:cNvPr id="6" name="Picture 5" descr="A graph with colored lines and dots&#10;&#10;AI-generated content may be incorrect.">
            <a:extLst>
              <a:ext uri="{FF2B5EF4-FFF2-40B4-BE49-F238E27FC236}">
                <a16:creationId xmlns:a16="http://schemas.microsoft.com/office/drawing/2014/main" id="{070C0175-DD69-D2A5-EC43-1304992EA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630" y="725936"/>
            <a:ext cx="5894737" cy="312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749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0116F-7AD7-1EE5-6D6A-25E766211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2CEBE7-31A9-C2D5-031E-63DDC1CA24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 smtClean="0"/>
              <a:t>37</a:t>
            </a:fld>
            <a:endParaRPr lang="el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6C58B75-D484-9941-AF1C-7B4846D94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3776" y="177426"/>
            <a:ext cx="6383055" cy="562471"/>
          </a:xfrm>
        </p:spPr>
        <p:txBody>
          <a:bodyPr>
            <a:noAutofit/>
          </a:bodyPr>
          <a:lstStyle/>
          <a:p>
            <a:r>
              <a:rPr lang="en-GB" sz="2000" dirty="0">
                <a:solidFill>
                  <a:schemeClr val="tx2"/>
                </a:solidFill>
              </a:rPr>
              <a:t>Dynamic Policies Comparison With Ideal Results</a:t>
            </a:r>
            <a:endParaRPr lang="en-GR" sz="2000">
              <a:solidFill>
                <a:schemeClr val="tx2"/>
              </a:solidFill>
            </a:endParaRPr>
          </a:p>
        </p:txBody>
      </p:sp>
      <p:pic>
        <p:nvPicPr>
          <p:cNvPr id="3" name="Picture 2" descr="A graph with colored lines&#10;&#10;AI-generated content may be incorrect.">
            <a:extLst>
              <a:ext uri="{FF2B5EF4-FFF2-40B4-BE49-F238E27FC236}">
                <a16:creationId xmlns:a16="http://schemas.microsoft.com/office/drawing/2014/main" id="{229A8579-F964-A0DB-3804-8970413B6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396" y="739897"/>
            <a:ext cx="6083203" cy="30131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124786C-D74A-C3CB-3D2B-EF519E21DA14}"/>
              </a:ext>
            </a:extLst>
          </p:cNvPr>
          <p:cNvSpPr txBox="1"/>
          <p:nvPr/>
        </p:nvSpPr>
        <p:spPr>
          <a:xfrm>
            <a:off x="258263" y="3844354"/>
            <a:ext cx="862746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dirty="0">
                <a:solidFill>
                  <a:schemeClr val="bg1"/>
                </a:solidFill>
                <a:latin typeface="Montserrat" pitchFamily="2" charset="77"/>
              </a:rPr>
              <a:t>This chart compares how each quarantine policy approaches the ideal results </a:t>
            </a:r>
            <a:r>
              <a:rPr lang="en-US" sz="1000" dirty="0">
                <a:solidFill>
                  <a:schemeClr val="tx2"/>
                </a:solidFill>
                <a:latin typeface="Montserrat" pitchFamily="2" charset="77"/>
              </a:rPr>
              <a:t>if the steam was ordered with no late events</a:t>
            </a:r>
            <a:r>
              <a:rPr lang="en-GB" sz="1000" dirty="0">
                <a:solidFill>
                  <a:schemeClr val="bg1"/>
                </a:solidFill>
                <a:latin typeface="Montserrat" pitchFamily="2" charset="77"/>
              </a:rPr>
              <a:t> as the quarantine time increases. </a:t>
            </a:r>
            <a:br>
              <a:rPr lang="en-GB" sz="1000" dirty="0">
                <a:solidFill>
                  <a:schemeClr val="bg1"/>
                </a:solidFill>
                <a:latin typeface="Montserrat" pitchFamily="2" charset="77"/>
              </a:rPr>
            </a:br>
            <a:endParaRPr lang="en-GB" sz="1000" dirty="0">
              <a:solidFill>
                <a:schemeClr val="bg1"/>
              </a:solidFill>
              <a:latin typeface="Montserrat" pitchFamily="2" charset="77"/>
            </a:endParaRPr>
          </a:p>
          <a:p>
            <a:pPr marL="171450" indent="-1714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bg1"/>
                </a:solidFill>
                <a:latin typeface="Montserrat" pitchFamily="2" charset="77"/>
              </a:rPr>
              <a:t>The </a:t>
            </a:r>
            <a:r>
              <a:rPr lang="en-GB" sz="1000" dirty="0">
                <a:solidFill>
                  <a:schemeClr val="tx2"/>
                </a:solidFill>
                <a:latin typeface="Montserrat" pitchFamily="2" charset="77"/>
              </a:rPr>
              <a:t>Individual Per‑Event policy consistently stays near 100%, </a:t>
            </a:r>
            <a:r>
              <a:rPr lang="en-GB" sz="1000" dirty="0">
                <a:solidFill>
                  <a:schemeClr val="bg1"/>
                </a:solidFill>
                <a:latin typeface="Montserrat" pitchFamily="2" charset="77"/>
              </a:rPr>
              <a:t>showing almost </a:t>
            </a:r>
            <a:r>
              <a:rPr lang="en-GB" sz="1000" dirty="0">
                <a:solidFill>
                  <a:schemeClr val="tx2"/>
                </a:solidFill>
                <a:latin typeface="Montserrat" pitchFamily="2" charset="77"/>
              </a:rPr>
              <a:t>perfect accuracy </a:t>
            </a:r>
            <a:r>
              <a:rPr lang="en-GB" sz="1000" dirty="0">
                <a:solidFill>
                  <a:schemeClr val="bg1"/>
                </a:solidFill>
                <a:latin typeface="Montserrat" pitchFamily="2" charset="77"/>
              </a:rPr>
              <a:t>across all time scales. </a:t>
            </a:r>
          </a:p>
          <a:p>
            <a:pPr marL="171450" indent="-1714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bg1"/>
                </a:solidFill>
                <a:latin typeface="Montserrat" pitchFamily="2" charset="77"/>
              </a:rPr>
              <a:t>The </a:t>
            </a:r>
            <a:r>
              <a:rPr lang="en-GB" sz="1000" dirty="0">
                <a:solidFill>
                  <a:schemeClr val="tx2"/>
                </a:solidFill>
                <a:latin typeface="Montserrat" pitchFamily="2" charset="77"/>
              </a:rPr>
              <a:t>other policies start lower and gradually improve</a:t>
            </a:r>
            <a:r>
              <a:rPr lang="en-GB" sz="1000" dirty="0">
                <a:solidFill>
                  <a:schemeClr val="bg1"/>
                </a:solidFill>
                <a:latin typeface="Montserrat" pitchFamily="2" charset="77"/>
              </a:rPr>
              <a:t>, with some converging only at larger quarantine times. </a:t>
            </a:r>
          </a:p>
          <a:p>
            <a:pPr marL="171450" indent="-1714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GB" sz="1000" dirty="0">
              <a:solidFill>
                <a:schemeClr val="bg1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450473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D65CE-7554-2D08-9184-DC3641123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>
                <a:solidFill>
                  <a:schemeClr val="tx2"/>
                </a:solidFill>
              </a:rPr>
              <a:t>Top Dynamic Policies vs. Baseline Policies</a:t>
            </a:r>
            <a:endParaRPr lang="en-GR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25963D-255D-5178-35E7-C4D61A2B93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46050" indent="0">
              <a:buNone/>
            </a:pPr>
            <a:r>
              <a:rPr lang="en-GB" sz="1400" dirty="0">
                <a:latin typeface="Montserrat" pitchFamily="2" charset="77"/>
              </a:rPr>
              <a:t>The remaining graphs compare </a:t>
            </a:r>
            <a:r>
              <a:rPr lang="en-GB" sz="1400" dirty="0">
                <a:solidFill>
                  <a:schemeClr val="tx2"/>
                </a:solidFill>
                <a:latin typeface="Montserrat" pitchFamily="2" charset="77"/>
              </a:rPr>
              <a:t>the top three performing dynamic policies </a:t>
            </a:r>
            <a:r>
              <a:rPr lang="en-GB" sz="1400" dirty="0">
                <a:latin typeface="Montserrat" pitchFamily="2" charset="77"/>
              </a:rPr>
              <a:t>(MAX, Jump-and-Decay, Per-Event) against </a:t>
            </a:r>
            <a:r>
              <a:rPr lang="en-GB" sz="1400" dirty="0">
                <a:solidFill>
                  <a:schemeClr val="tx2"/>
                </a:solidFill>
                <a:latin typeface="Montserrat" pitchFamily="2" charset="77"/>
              </a:rPr>
              <a:t>Direct</a:t>
            </a:r>
            <a:r>
              <a:rPr lang="en-GB" sz="1400" dirty="0">
                <a:latin typeface="Montserrat" pitchFamily="2" charset="77"/>
              </a:rPr>
              <a:t> and </a:t>
            </a:r>
            <a:r>
              <a:rPr lang="en-GB" sz="1400" dirty="0">
                <a:solidFill>
                  <a:schemeClr val="tx2"/>
                </a:solidFill>
                <a:latin typeface="Montserrat" pitchFamily="2" charset="77"/>
              </a:rPr>
              <a:t>Fixed-Time</a:t>
            </a:r>
            <a:r>
              <a:rPr lang="en-GB" sz="1400" dirty="0">
                <a:latin typeface="Montserrat" pitchFamily="2" charset="77"/>
              </a:rPr>
              <a:t> quarantine policies .</a:t>
            </a:r>
          </a:p>
          <a:p>
            <a:pPr marL="146050" indent="0">
              <a:buNone/>
            </a:pPr>
            <a:endParaRPr lang="en-GB" sz="1400" dirty="0">
              <a:latin typeface="Montserrat" pitchFamily="2" charset="77"/>
            </a:endParaRPr>
          </a:p>
          <a:p>
            <a:pPr marL="146050" indent="0">
              <a:buNone/>
            </a:pPr>
            <a:r>
              <a:rPr lang="en-GB" sz="1400" dirty="0">
                <a:latin typeface="Montserrat" pitchFamily="2" charset="77"/>
              </a:rPr>
              <a:t>The comparison follows the same evaluation order:</a:t>
            </a:r>
          </a:p>
          <a:p>
            <a:pPr lvl="1"/>
            <a:r>
              <a:rPr lang="en-GB" sz="1400" dirty="0">
                <a:solidFill>
                  <a:schemeClr val="tx2"/>
                </a:solidFill>
                <a:latin typeface="Montserrat" pitchFamily="2" charset="77"/>
              </a:rPr>
              <a:t>Drop rate</a:t>
            </a:r>
          </a:p>
          <a:p>
            <a:pPr lvl="1"/>
            <a:r>
              <a:rPr lang="en-GB" sz="1400" dirty="0">
                <a:solidFill>
                  <a:schemeClr val="tx2"/>
                </a:solidFill>
                <a:latin typeface="Montserrat" pitchFamily="2" charset="77"/>
              </a:rPr>
              <a:t>Number of detected complex events</a:t>
            </a:r>
          </a:p>
          <a:p>
            <a:pPr lvl="1"/>
            <a:r>
              <a:rPr lang="en-GB" sz="1400" dirty="0">
                <a:solidFill>
                  <a:schemeClr val="tx2"/>
                </a:solidFill>
                <a:latin typeface="Montserrat" pitchFamily="2" charset="77"/>
              </a:rPr>
              <a:t>Execution time</a:t>
            </a:r>
          </a:p>
          <a:p>
            <a:pPr lvl="1"/>
            <a:r>
              <a:rPr lang="en-GB" sz="1400" dirty="0">
                <a:solidFill>
                  <a:schemeClr val="tx2"/>
                </a:solidFill>
                <a:latin typeface="Montserrat" pitchFamily="2" charset="77"/>
              </a:rPr>
              <a:t>Detection delay</a:t>
            </a:r>
          </a:p>
          <a:p>
            <a:pPr lvl="1"/>
            <a:r>
              <a:rPr lang="en-GR" sz="1400">
                <a:solidFill>
                  <a:schemeClr val="tx2"/>
                </a:solidFill>
                <a:latin typeface="Montserrat" pitchFamily="2" charset="77"/>
              </a:rPr>
              <a:t>Comparison with ideal results</a:t>
            </a:r>
            <a:r>
              <a:rPr lang="en-US" sz="1400" dirty="0">
                <a:solidFill>
                  <a:schemeClr val="tx2"/>
                </a:solidFill>
                <a:latin typeface="Montserrat" pitchFamily="2" charset="77"/>
              </a:rPr>
              <a:t>  </a:t>
            </a:r>
          </a:p>
          <a:p>
            <a:pPr lvl="1"/>
            <a:r>
              <a:rPr lang="en-US" sz="1400" dirty="0">
                <a:solidFill>
                  <a:schemeClr val="tx2"/>
                </a:solidFill>
                <a:latin typeface="Montserrat" pitchFamily="2" charset="77"/>
              </a:rPr>
              <a:t>Quarantine Size in MB</a:t>
            </a:r>
          </a:p>
          <a:p>
            <a:pPr lvl="1"/>
            <a:endParaRPr lang="en-GR" sz="1400">
              <a:solidFill>
                <a:schemeClr val="tx2"/>
              </a:solidFill>
              <a:latin typeface="Montserrat" pitchFamily="2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D17348-6AAA-E272-25A2-BC209317BC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 smtClean="0"/>
              <a:t>38</a:t>
            </a:fld>
            <a:endParaRPr lang="el"/>
          </a:p>
        </p:txBody>
      </p:sp>
    </p:spTree>
    <p:extLst>
      <p:ext uri="{BB962C8B-B14F-4D97-AF65-F5344CB8AC3E}">
        <p14:creationId xmlns:p14="http://schemas.microsoft.com/office/powerpoint/2010/main" val="32001776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A2F7F-FBC0-DF1D-617E-A75A15EEB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9D348-EE29-3984-8AAB-BB522EBC9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810" y="247407"/>
            <a:ext cx="7596504" cy="527570"/>
          </a:xfrm>
        </p:spPr>
        <p:txBody>
          <a:bodyPr>
            <a:normAutofit fontScale="90000"/>
          </a:bodyPr>
          <a:lstStyle/>
          <a:p>
            <a:r>
              <a:rPr lang="en-GB" sz="2000" dirty="0">
                <a:solidFill>
                  <a:schemeClr val="tx2"/>
                </a:solidFill>
              </a:rPr>
              <a:t>Comparison of Dropped Events by Quarantine Policy (Log Scale)</a:t>
            </a:r>
            <a:endParaRPr lang="en-GR" sz="20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3C49E9-E6DE-7C1F-A7C6-59DC9600DB0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 smtClean="0"/>
              <a:t>39</a:t>
            </a:fld>
            <a:endParaRPr lang="e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D2EEEE-E106-A5C5-FCB7-7A6330133284}"/>
              </a:ext>
            </a:extLst>
          </p:cNvPr>
          <p:cNvSpPr txBox="1"/>
          <p:nvPr/>
        </p:nvSpPr>
        <p:spPr>
          <a:xfrm>
            <a:off x="909810" y="3856488"/>
            <a:ext cx="7772400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This chart shows how different policies perform in reducing dropped events in the crypto dataset as quarantine time increases. </a:t>
            </a:r>
            <a:br>
              <a:rPr lang="en-GB" sz="900" dirty="0">
                <a:solidFill>
                  <a:schemeClr val="bg1"/>
                </a:solidFill>
                <a:latin typeface="Montserrat" pitchFamily="2" charset="77"/>
              </a:rPr>
            </a:br>
            <a:endParaRPr lang="en-GB" sz="900" dirty="0">
              <a:solidFill>
                <a:schemeClr val="bg1"/>
              </a:solidFill>
              <a:latin typeface="Montserrat" pitchFamily="2" charset="77"/>
            </a:endParaRPr>
          </a:p>
          <a:p>
            <a:pPr marL="171450" indent="-1714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Direct performs worst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, consistently 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dropping over 1.7 million events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. </a:t>
            </a:r>
          </a:p>
          <a:p>
            <a:pPr marL="171450" indent="-1714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Per-Event is the most efficient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, 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starting at just 1025 dropped events 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and improving to 457 at the longest quarantine time. </a:t>
            </a:r>
          </a:p>
          <a:p>
            <a:pPr marL="171450" indent="-1714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Fixed-Time, Jump/Decay, and MAX all show steady improvement,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 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starting higher 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and 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converging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 toward 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lower values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 as quarantine time grows. </a:t>
            </a:r>
          </a:p>
          <a:p>
            <a:pPr marL="171450" indent="-1714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GB" sz="900" dirty="0">
              <a:solidFill>
                <a:schemeClr val="bg1"/>
              </a:solidFill>
              <a:latin typeface="Montserrat" pitchFamily="2" charset="77"/>
            </a:endParaRPr>
          </a:p>
          <a:p>
            <a:pPr>
              <a:buClr>
                <a:schemeClr val="bg1"/>
              </a:buClr>
            </a:pP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Overall, the chart highlights 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that longer quarantine times help all methods reduce dropped events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, but 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Per-Event stands out as the most effective throughout.</a:t>
            </a:r>
            <a:endParaRPr lang="en-GR" sz="900">
              <a:solidFill>
                <a:schemeClr val="tx2"/>
              </a:solidFill>
              <a:latin typeface="Montserrat" pitchFamily="2" charset="77"/>
            </a:endParaRPr>
          </a:p>
        </p:txBody>
      </p:sp>
      <p:pic>
        <p:nvPicPr>
          <p:cNvPr id="9" name="Picture 8" descr="A graph with a line graph and a line graph&#10;&#10;AI-generated content may be incorrect.">
            <a:extLst>
              <a:ext uri="{FF2B5EF4-FFF2-40B4-BE49-F238E27FC236}">
                <a16:creationId xmlns:a16="http://schemas.microsoft.com/office/drawing/2014/main" id="{07CCB565-F7AA-CD1E-B37F-E156736EF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5038" y="774977"/>
            <a:ext cx="6017955" cy="298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8918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1C24A-B6B9-AA20-F84A-A33F1E252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03DE4-8F6F-92EA-50F9-D7E8D27DF6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 smtClean="0"/>
              <a:t>40</a:t>
            </a:fld>
            <a:endParaRPr lang="el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D4179A4-B171-4EE3-B908-27AAE77D5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1615" y="167524"/>
            <a:ext cx="7440843" cy="509551"/>
          </a:xfrm>
        </p:spPr>
        <p:txBody>
          <a:bodyPr>
            <a:normAutofit/>
          </a:bodyPr>
          <a:lstStyle/>
          <a:p>
            <a:r>
              <a:rPr lang="en-GB" sz="1800" dirty="0">
                <a:solidFill>
                  <a:schemeClr val="tx2"/>
                </a:solidFill>
              </a:rPr>
              <a:t>Comparison of the number of results by Quarantine Policy</a:t>
            </a:r>
            <a:endParaRPr lang="en-GR" sz="180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EDBA13-8AC1-2D44-67A8-E26E05A172C6}"/>
              </a:ext>
            </a:extLst>
          </p:cNvPr>
          <p:cNvSpPr txBox="1"/>
          <p:nvPr/>
        </p:nvSpPr>
        <p:spPr>
          <a:xfrm>
            <a:off x="533980" y="3943171"/>
            <a:ext cx="807603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This graph shows how different quarantine policies perform in terms of the number of results as quarantine time increases. </a:t>
            </a:r>
            <a:br>
              <a:rPr lang="en-GB" sz="900" dirty="0">
                <a:solidFill>
                  <a:schemeClr val="bg1"/>
                </a:solidFill>
                <a:latin typeface="Montserrat" pitchFamily="2" charset="77"/>
              </a:rPr>
            </a:br>
            <a:endParaRPr lang="en-GB" sz="900" dirty="0">
              <a:solidFill>
                <a:schemeClr val="bg1"/>
              </a:solidFill>
              <a:latin typeface="Montserrat" pitchFamily="2" charset="77"/>
            </a:endParaRPr>
          </a:p>
          <a:p>
            <a:pPr marL="171450" indent="-1714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Direct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 stays at a 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low result count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, showing 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no benefit from longer quarantine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. </a:t>
            </a:r>
          </a:p>
          <a:p>
            <a:pPr marL="171450" indent="-1714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Fixed-Time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 starts around 7000 results and 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steadily improves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. </a:t>
            </a:r>
          </a:p>
          <a:p>
            <a:pPr marL="171450" indent="-1714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Jump/Decay and MAX begin higher 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and gradually 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converge with Fixed-Time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. </a:t>
            </a:r>
          </a:p>
          <a:p>
            <a:pPr marL="171450" indent="-1714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Per-Event consistently delivers the best performance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, starting at 16,308 and slightly increasing to 16,326 at the longest quarantine time. </a:t>
            </a:r>
          </a:p>
          <a:p>
            <a:pPr>
              <a:buClr>
                <a:schemeClr val="bg1"/>
              </a:buClr>
            </a:pPr>
            <a:endParaRPr lang="en-GB" sz="900" dirty="0">
              <a:solidFill>
                <a:schemeClr val="bg1"/>
              </a:solidFill>
              <a:latin typeface="Montserrat" pitchFamily="2" charset="77"/>
            </a:endParaRPr>
          </a:p>
          <a:p>
            <a:pPr>
              <a:buClr>
                <a:schemeClr val="bg1"/>
              </a:buClr>
            </a:pP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Overall, 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Per-Event is the most effective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, while 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other policies benefit from longer quarantine 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but 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never surpass 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it.</a:t>
            </a:r>
            <a:endParaRPr lang="en-GR" sz="900">
              <a:solidFill>
                <a:schemeClr val="bg1"/>
              </a:solidFill>
              <a:latin typeface="Montserrat" pitchFamily="2" charset="77"/>
            </a:endParaRPr>
          </a:p>
        </p:txBody>
      </p:sp>
      <p:pic>
        <p:nvPicPr>
          <p:cNvPr id="7" name="Picture 6" descr="A graph with a line and a line&#10;&#10;AI-generated content may be incorrect.">
            <a:extLst>
              <a:ext uri="{FF2B5EF4-FFF2-40B4-BE49-F238E27FC236}">
                <a16:creationId xmlns:a16="http://schemas.microsoft.com/office/drawing/2014/main" id="{5185DC2B-1D3A-504B-3BA7-2C1CA5788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801" y="677075"/>
            <a:ext cx="6410397" cy="317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4596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44E53-1B81-A798-26F6-98EBCFD1F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FA630E-6112-1B09-42C1-97CF786CE3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 smtClean="0"/>
              <a:t>41</a:t>
            </a:fld>
            <a:endParaRPr lang="el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2769061-64C3-FEAA-0412-74BE150E6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3540" y="193695"/>
            <a:ext cx="6604033" cy="588082"/>
          </a:xfrm>
        </p:spPr>
        <p:txBody>
          <a:bodyPr>
            <a:normAutofit fontScale="90000"/>
          </a:bodyPr>
          <a:lstStyle/>
          <a:p>
            <a:r>
              <a:rPr lang="en-GB" sz="2000" dirty="0">
                <a:solidFill>
                  <a:schemeClr val="tx2"/>
                </a:solidFill>
              </a:rPr>
              <a:t>Comparison of Execution time by Quarantine Policy</a:t>
            </a:r>
            <a:br>
              <a:rPr lang="en-GB" dirty="0"/>
            </a:br>
            <a:endParaRPr lang="en-G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6B0E14-D9A2-A25B-F8CC-CF46E137FB7B}"/>
              </a:ext>
            </a:extLst>
          </p:cNvPr>
          <p:cNvSpPr txBox="1"/>
          <p:nvPr/>
        </p:nvSpPr>
        <p:spPr>
          <a:xfrm>
            <a:off x="328068" y="4160171"/>
            <a:ext cx="815660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This graph shows how different policies perform in terms of execution time as quarantine time increases.</a:t>
            </a:r>
          </a:p>
          <a:p>
            <a:endParaRPr lang="en-GB" sz="900" dirty="0">
              <a:solidFill>
                <a:schemeClr val="bg1"/>
              </a:solidFill>
              <a:latin typeface="Montserrat" pitchFamily="2" charset="77"/>
            </a:endParaRPr>
          </a:p>
          <a:p>
            <a:pPr marL="171450" indent="-1714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R" sz="900">
                <a:solidFill>
                  <a:schemeClr val="tx2"/>
                </a:solidFill>
                <a:latin typeface="Montserrat" pitchFamily="2" charset="77"/>
              </a:rPr>
              <a:t>All policies have nearly identical execution times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</a:rPr>
              <a:t>, </a:t>
            </a:r>
            <a:r>
              <a:rPr lang="en-GR" sz="900">
                <a:solidFill>
                  <a:schemeClr val="bg1"/>
                </a:solidFill>
                <a:latin typeface="Montserrat" pitchFamily="2" charset="77"/>
              </a:rPr>
              <a:t>showing that the </a:t>
            </a:r>
            <a:r>
              <a:rPr lang="en-GR" sz="900">
                <a:solidFill>
                  <a:schemeClr val="tx2"/>
                </a:solidFill>
                <a:latin typeface="Montserrat" pitchFamily="2" charset="77"/>
              </a:rPr>
              <a:t>additional logic of the Per-Event </a:t>
            </a:r>
            <a:r>
              <a:rPr lang="en-GR" sz="900">
                <a:solidFill>
                  <a:schemeClr val="bg1"/>
                </a:solidFill>
                <a:latin typeface="Montserrat" pitchFamily="2" charset="77"/>
              </a:rPr>
              <a:t>policy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</a:rPr>
              <a:t> has</a:t>
            </a:r>
            <a:r>
              <a:rPr lang="en-US" sz="900" dirty="0">
                <a:solidFill>
                  <a:schemeClr val="tx2"/>
                </a:solidFill>
                <a:latin typeface="Montserrat" pitchFamily="2" charset="77"/>
              </a:rPr>
              <a:t> little impact on execution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</a:rPr>
              <a:t> </a:t>
            </a:r>
            <a:r>
              <a:rPr lang="en-US" sz="900" dirty="0">
                <a:solidFill>
                  <a:schemeClr val="tx2"/>
                </a:solidFill>
                <a:latin typeface="Montserrat" pitchFamily="2" charset="77"/>
              </a:rPr>
              <a:t>time</a:t>
            </a:r>
            <a:r>
              <a:rPr lang="en-GR" sz="900">
                <a:solidFill>
                  <a:schemeClr val="bg1"/>
                </a:solidFill>
                <a:latin typeface="Montserrat" pitchFamily="2" charset="77"/>
              </a:rPr>
              <a:t>.</a:t>
            </a:r>
          </a:p>
          <a:p>
            <a:pPr marL="171450" indent="-1714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R" sz="900">
                <a:solidFill>
                  <a:schemeClr val="bg1"/>
                </a:solidFill>
                <a:latin typeface="Montserrat" pitchFamily="2" charset="77"/>
              </a:rPr>
              <a:t>Despite the similar runtime, </a:t>
            </a:r>
            <a:r>
              <a:rPr lang="en-GR" sz="900">
                <a:solidFill>
                  <a:schemeClr val="tx2"/>
                </a:solidFill>
                <a:latin typeface="Montserrat" pitchFamily="2" charset="77"/>
              </a:rPr>
              <a:t>Per-Event achieves significantly fewer dropped events </a:t>
            </a:r>
            <a:r>
              <a:rPr lang="en-GR" sz="900">
                <a:solidFill>
                  <a:schemeClr val="bg1"/>
                </a:solidFill>
                <a:latin typeface="Montserrat" pitchFamily="2" charset="77"/>
              </a:rPr>
              <a:t>making it the </a:t>
            </a:r>
            <a:r>
              <a:rPr lang="en-GR" sz="900">
                <a:solidFill>
                  <a:schemeClr val="tx2"/>
                </a:solidFill>
                <a:latin typeface="Montserrat" pitchFamily="2" charset="77"/>
              </a:rPr>
              <a:t>most efficient solution </a:t>
            </a:r>
            <a:r>
              <a:rPr lang="en-GR" sz="900">
                <a:solidFill>
                  <a:schemeClr val="bg1"/>
                </a:solidFill>
                <a:latin typeface="Montserrat" pitchFamily="2" charset="77"/>
              </a:rPr>
              <a:t>overall</a:t>
            </a:r>
            <a:r>
              <a:rPr lang="en-US" sz="900" dirty="0">
                <a:solidFill>
                  <a:schemeClr val="bg1"/>
                </a:solidFill>
                <a:latin typeface="Montserrat" pitchFamily="2" charset="77"/>
              </a:rPr>
              <a:t>.</a:t>
            </a:r>
            <a:endParaRPr lang="en-GR" sz="900">
              <a:solidFill>
                <a:schemeClr val="bg1"/>
              </a:solidFill>
              <a:latin typeface="Montserrat" pitchFamily="2" charset="77"/>
            </a:endParaRPr>
          </a:p>
        </p:txBody>
      </p:sp>
      <p:pic>
        <p:nvPicPr>
          <p:cNvPr id="7" name="Picture 6" descr="A graph of a number of times&#10;&#10;AI-generated content may be incorrect.">
            <a:extLst>
              <a:ext uri="{FF2B5EF4-FFF2-40B4-BE49-F238E27FC236}">
                <a16:creationId xmlns:a16="http://schemas.microsoft.com/office/drawing/2014/main" id="{9C174633-DCBA-78DF-3402-FE9B87237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573" y="781777"/>
            <a:ext cx="6603066" cy="3274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7968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5B680-DCAE-F5E4-CE2A-FFDD4ADC9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8BCB6-27C9-CE79-0C98-A579DA66A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598" y="156425"/>
            <a:ext cx="7768910" cy="461651"/>
          </a:xfrm>
        </p:spPr>
        <p:txBody>
          <a:bodyPr>
            <a:normAutofit/>
          </a:bodyPr>
          <a:lstStyle/>
          <a:p>
            <a:r>
              <a:rPr lang="en-GB" sz="1800" dirty="0">
                <a:solidFill>
                  <a:schemeClr val="tx2"/>
                </a:solidFill>
              </a:rPr>
              <a:t>Comparison of Median Detection Delay by Quarantine Policy</a:t>
            </a:r>
            <a:endParaRPr lang="en-GR" sz="1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FBCA9-C99E-3BBE-F9AD-1E20F99579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 smtClean="0"/>
              <a:t>42</a:t>
            </a:fld>
            <a:endParaRPr lang="e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E39389-8A21-3EFB-E1E6-A21BF5F3B189}"/>
              </a:ext>
            </a:extLst>
          </p:cNvPr>
          <p:cNvSpPr txBox="1"/>
          <p:nvPr/>
        </p:nvSpPr>
        <p:spPr>
          <a:xfrm>
            <a:off x="514793" y="3925246"/>
            <a:ext cx="795766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bg1"/>
              </a:buClr>
            </a:pP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This graph compares how detection delay evolves as quarantine time grows. </a:t>
            </a:r>
          </a:p>
          <a:p>
            <a:pPr>
              <a:buClr>
                <a:schemeClr val="bg1"/>
              </a:buClr>
            </a:pPr>
            <a:endParaRPr lang="en-GB" sz="900" dirty="0">
              <a:solidFill>
                <a:schemeClr val="bg1"/>
              </a:solidFill>
              <a:latin typeface="Montserrat" pitchFamily="2" charset="77"/>
            </a:endParaRPr>
          </a:p>
          <a:p>
            <a:pPr marL="171450" indent="-1714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Direct 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has a very 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low median detection delay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, because 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it releases events 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immediately, 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without using quarantine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. </a:t>
            </a:r>
          </a:p>
          <a:p>
            <a:pPr marL="171450" indent="-1714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The 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Per‑Event policy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 maintains the 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highest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 and 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most stable delay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.</a:t>
            </a:r>
          </a:p>
          <a:p>
            <a:pPr marL="171450" indent="-1714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The 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other policies start lower 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and only 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increase significantly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 when the 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quarantine window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 becomes 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very large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.</a:t>
            </a:r>
            <a:br>
              <a:rPr lang="en-GB" sz="900" dirty="0">
                <a:solidFill>
                  <a:schemeClr val="bg1"/>
                </a:solidFill>
                <a:latin typeface="Montserrat" pitchFamily="2" charset="77"/>
              </a:rPr>
            </a:br>
            <a:endParaRPr lang="en-GB" sz="900" dirty="0">
              <a:solidFill>
                <a:schemeClr val="bg1"/>
              </a:solidFill>
              <a:latin typeface="Montserrat" pitchFamily="2" charset="77"/>
            </a:endParaRPr>
          </a:p>
          <a:p>
            <a:pPr>
              <a:buClr>
                <a:schemeClr val="bg1"/>
              </a:buClr>
            </a:pP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The chart 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highlights a trade-off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: 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Direct is fastest but yields fewer results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, while 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Per-Event and other quarantines offer more results 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at the 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cost of longer delays.</a:t>
            </a:r>
            <a:endParaRPr lang="en-GR" sz="900">
              <a:solidFill>
                <a:schemeClr val="tx2"/>
              </a:solidFill>
              <a:latin typeface="Montserrat" pitchFamily="2" charset="77"/>
            </a:endParaRPr>
          </a:p>
        </p:txBody>
      </p:sp>
      <p:pic>
        <p:nvPicPr>
          <p:cNvPr id="9" name="Picture 8" descr="A graph with a line&#10;&#10;AI-generated content may be incorrect.">
            <a:extLst>
              <a:ext uri="{FF2B5EF4-FFF2-40B4-BE49-F238E27FC236}">
                <a16:creationId xmlns:a16="http://schemas.microsoft.com/office/drawing/2014/main" id="{B667C568-95E5-EA50-8064-4399F5DC4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190" y="668955"/>
            <a:ext cx="6463620" cy="320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9531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A3CA2-2806-2FF1-B831-980A75B34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C386BD-4095-B8E7-F4E7-D7CD446B2D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 smtClean="0"/>
              <a:t>43</a:t>
            </a:fld>
            <a:endParaRPr lang="el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DFA0359-6A7C-CACB-C95A-5C3A43B68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228" y="184406"/>
            <a:ext cx="7545544" cy="562471"/>
          </a:xfrm>
        </p:spPr>
        <p:txBody>
          <a:bodyPr>
            <a:noAutofit/>
          </a:bodyPr>
          <a:lstStyle/>
          <a:p>
            <a:r>
              <a:rPr lang="en-GB" sz="1800" dirty="0">
                <a:solidFill>
                  <a:schemeClr val="tx2"/>
                </a:solidFill>
              </a:rPr>
              <a:t>Comparison of Ideal Results Percentage per Quarantine Policy</a:t>
            </a:r>
            <a:endParaRPr lang="en-GR" sz="1800">
              <a:solidFill>
                <a:schemeClr val="tx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D9B178-8911-0C1A-47C3-76644E87567B}"/>
              </a:ext>
            </a:extLst>
          </p:cNvPr>
          <p:cNvSpPr txBox="1"/>
          <p:nvPr/>
        </p:nvSpPr>
        <p:spPr>
          <a:xfrm>
            <a:off x="258266" y="3950411"/>
            <a:ext cx="862746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This chart compares how each quarantine policy approaches the ideal results </a:t>
            </a:r>
            <a:r>
              <a:rPr lang="en-US" sz="900" dirty="0">
                <a:solidFill>
                  <a:schemeClr val="tx2"/>
                </a:solidFill>
                <a:latin typeface="Montserrat" pitchFamily="2" charset="77"/>
              </a:rPr>
              <a:t>if the steam was ordered with no late events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 as the quarantine time increases. </a:t>
            </a:r>
          </a:p>
          <a:p>
            <a:endParaRPr lang="en-GB" sz="900" dirty="0">
              <a:solidFill>
                <a:schemeClr val="bg1"/>
              </a:solidFill>
              <a:latin typeface="Montserrat" pitchFamily="2" charset="77"/>
            </a:endParaRPr>
          </a:p>
          <a:p>
            <a:pPr marL="171450" indent="-1714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Direct remains near 0% of ideal results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, showing that without holding events in quarantine, it cannot approach the accuracy of the other policies.</a:t>
            </a:r>
          </a:p>
          <a:p>
            <a:pPr marL="171450" indent="-1714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The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 Per‑Event 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policy stays 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near perfect accuracy 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across all 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quarantine time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.</a:t>
            </a:r>
          </a:p>
          <a:p>
            <a:pPr marL="171450" indent="-1714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The 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other policies 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begin at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 lower performance levels 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and 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only approach ideal results when the quarantine window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 becomes sufficiently 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large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.</a:t>
            </a:r>
          </a:p>
          <a:p>
            <a:pPr marL="171450" indent="-1714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GB" sz="1000" dirty="0">
              <a:solidFill>
                <a:schemeClr val="bg1"/>
              </a:solidFill>
              <a:latin typeface="Montserrat" pitchFamily="2" charset="77"/>
            </a:endParaRPr>
          </a:p>
        </p:txBody>
      </p:sp>
      <p:pic>
        <p:nvPicPr>
          <p:cNvPr id="6" name="Picture 5" descr="A graph with a line and a line&#10;&#10;AI-generated content may be incorrect.">
            <a:extLst>
              <a:ext uri="{FF2B5EF4-FFF2-40B4-BE49-F238E27FC236}">
                <a16:creationId xmlns:a16="http://schemas.microsoft.com/office/drawing/2014/main" id="{3918DCDD-D24C-C73B-CED8-6033E65E3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169" y="661178"/>
            <a:ext cx="6449662" cy="3198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1178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81F60-D8ED-3C9A-E93B-BB61305D0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185C14-CE95-5A0F-9426-041D9CEC30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 smtClean="0"/>
              <a:t>44</a:t>
            </a:fld>
            <a:endParaRPr lang="el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B6A1DC1-7F6C-D3E6-13BE-8478ED6DC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39" y="184406"/>
            <a:ext cx="6896122" cy="562471"/>
          </a:xfrm>
        </p:spPr>
        <p:txBody>
          <a:bodyPr>
            <a:no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Comparison of Quarantine Size in MB across All Policies</a:t>
            </a:r>
            <a:endParaRPr lang="en-GR" sz="1800">
              <a:solidFill>
                <a:schemeClr val="tx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756B3B-86E6-566D-D23F-EAE14C40E473}"/>
              </a:ext>
            </a:extLst>
          </p:cNvPr>
          <p:cNvSpPr txBox="1"/>
          <p:nvPr/>
        </p:nvSpPr>
        <p:spPr>
          <a:xfrm>
            <a:off x="496311" y="4136083"/>
            <a:ext cx="8151373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This graph shows how quarantine memory usage  changes with longer quarantine windows in MB. </a:t>
            </a:r>
          </a:p>
          <a:p>
            <a:endParaRPr lang="en-GB" sz="900" dirty="0">
              <a:solidFill>
                <a:schemeClr val="bg1"/>
              </a:solidFill>
              <a:latin typeface="Montserrat" pitchFamily="2" charset="77"/>
            </a:endParaRPr>
          </a:p>
          <a:p>
            <a:pPr marL="171450" indent="-1714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Direct 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 has 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no quarantine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, so it 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always holds zero events 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regardless of the window size. </a:t>
            </a:r>
            <a:endParaRPr lang="en-GB" sz="900" dirty="0">
              <a:solidFill>
                <a:schemeClr val="tx2"/>
              </a:solidFill>
              <a:latin typeface="Montserrat" pitchFamily="2" charset="77"/>
            </a:endParaRPr>
          </a:p>
          <a:p>
            <a:pPr marL="171450" indent="-1714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The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 Per‑Event 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policy consistently 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has stable quarantine size across all quarantine times, holding 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a consistently 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large buffer in MB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. </a:t>
            </a:r>
          </a:p>
          <a:p>
            <a:pPr marL="171450" indent="-1714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The 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other policies 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gradually </a:t>
            </a:r>
            <a:r>
              <a:rPr lang="en-GB" sz="900" dirty="0">
                <a:solidFill>
                  <a:schemeClr val="tx2"/>
                </a:solidFill>
                <a:latin typeface="Montserrat" pitchFamily="2" charset="77"/>
              </a:rPr>
              <a:t>consume more memory</a:t>
            </a:r>
            <a:r>
              <a:rPr lang="en-GB" sz="900" dirty="0">
                <a:solidFill>
                  <a:schemeClr val="bg1"/>
                </a:solidFill>
                <a:latin typeface="Montserrat" pitchFamily="2" charset="77"/>
              </a:rPr>
              <a:t>, with some rising at high quarantine times.</a:t>
            </a:r>
            <a:endParaRPr lang="en-GB" sz="900" dirty="0">
              <a:solidFill>
                <a:schemeClr val="tx2"/>
              </a:solidFill>
              <a:latin typeface="Montserrat" pitchFamily="2" charset="77"/>
            </a:endParaRPr>
          </a:p>
        </p:txBody>
      </p:sp>
      <p:pic>
        <p:nvPicPr>
          <p:cNvPr id="6" name="Picture 5" descr="A graph of a graph of a number of people&#10;&#10;AI-generated content may be incorrect.">
            <a:extLst>
              <a:ext uri="{FF2B5EF4-FFF2-40B4-BE49-F238E27FC236}">
                <a16:creationId xmlns:a16="http://schemas.microsoft.com/office/drawing/2014/main" id="{73B43300-8543-43CA-98AF-77E468EDA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941" y="615002"/>
            <a:ext cx="6826111" cy="338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5111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2A02A-6743-79AE-1921-0E23F69C6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2261" y="400730"/>
            <a:ext cx="7038900" cy="914100"/>
          </a:xfrm>
        </p:spPr>
        <p:txBody>
          <a:bodyPr/>
          <a:lstStyle/>
          <a:p>
            <a:r>
              <a:rPr lang="en-GB" dirty="0">
                <a:solidFill>
                  <a:schemeClr val="tx2"/>
                </a:solidFill>
              </a:rPr>
              <a:t>Overall Conclusion</a:t>
            </a:r>
            <a:endParaRPr lang="en-GR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397C2F-3943-2609-5765-BF6E9BA78F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7023" y="1193607"/>
            <a:ext cx="7289377" cy="3469610"/>
          </a:xfrm>
        </p:spPr>
        <p:txBody>
          <a:bodyPr>
            <a:normAutofit/>
          </a:bodyPr>
          <a:lstStyle/>
          <a:p>
            <a:pPr marL="146050" indent="0">
              <a:buNone/>
            </a:pPr>
            <a:r>
              <a:rPr lang="en-GB" dirty="0">
                <a:latin typeface="Montserrat" pitchFamily="2" charset="77"/>
              </a:rPr>
              <a:t>Across all datasets and all experiments, the results point to a clear and consistent conclusion: </a:t>
            </a:r>
          </a:p>
          <a:p>
            <a:pPr marL="146050" indent="0">
              <a:buNone/>
            </a:pPr>
            <a:endParaRPr lang="en-GB" dirty="0">
              <a:latin typeface="Montserrat" pitchFamily="2" charset="77"/>
            </a:endParaRPr>
          </a:p>
          <a:p>
            <a:r>
              <a:rPr lang="en-GB" dirty="0">
                <a:solidFill>
                  <a:schemeClr val="tx2"/>
                </a:solidFill>
                <a:latin typeface="Montserrat" pitchFamily="2" charset="77"/>
              </a:rPr>
              <a:t>Dynamic quarantine policies</a:t>
            </a:r>
            <a:r>
              <a:rPr lang="en-GB" dirty="0">
                <a:latin typeface="Montserrat" pitchFamily="2" charset="77"/>
              </a:rPr>
              <a:t>, especially the Per‑Event, offer the best balance between </a:t>
            </a:r>
            <a:r>
              <a:rPr lang="en-GB" dirty="0">
                <a:solidFill>
                  <a:schemeClr val="tx2"/>
                </a:solidFill>
                <a:latin typeface="Montserrat" pitchFamily="2" charset="77"/>
              </a:rPr>
              <a:t>correctness</a:t>
            </a:r>
            <a:r>
              <a:rPr lang="en-GB" dirty="0">
                <a:latin typeface="Montserrat" pitchFamily="2" charset="77"/>
              </a:rPr>
              <a:t>, </a:t>
            </a:r>
            <a:r>
              <a:rPr lang="en-GB" dirty="0">
                <a:solidFill>
                  <a:schemeClr val="tx2"/>
                </a:solidFill>
                <a:latin typeface="Montserrat" pitchFamily="2" charset="77"/>
              </a:rPr>
              <a:t>efficiency</a:t>
            </a:r>
            <a:r>
              <a:rPr lang="en-GB" dirty="0">
                <a:latin typeface="Montserrat" pitchFamily="2" charset="77"/>
              </a:rPr>
              <a:t>, and </a:t>
            </a:r>
            <a:r>
              <a:rPr lang="en-GB" dirty="0">
                <a:solidFill>
                  <a:schemeClr val="tx2"/>
                </a:solidFill>
                <a:latin typeface="Montserrat" pitchFamily="2" charset="77"/>
              </a:rPr>
              <a:t>stability</a:t>
            </a:r>
            <a:r>
              <a:rPr lang="en-GB" dirty="0">
                <a:latin typeface="Montserrat" pitchFamily="2" charset="77"/>
              </a:rPr>
              <a:t>. </a:t>
            </a:r>
          </a:p>
          <a:p>
            <a:pPr marL="146050" indent="0">
              <a:buNone/>
            </a:pPr>
            <a:endParaRPr lang="en-GB" dirty="0">
              <a:latin typeface="Montserrat" pitchFamily="2" charset="77"/>
            </a:endParaRPr>
          </a:p>
          <a:p>
            <a:r>
              <a:rPr lang="en-GB" dirty="0">
                <a:latin typeface="Montserrat" pitchFamily="2" charset="77"/>
              </a:rPr>
              <a:t>While simpler approaches like </a:t>
            </a:r>
            <a:r>
              <a:rPr lang="en-GB" dirty="0">
                <a:solidFill>
                  <a:schemeClr val="tx2"/>
                </a:solidFill>
                <a:latin typeface="Montserrat" pitchFamily="2" charset="77"/>
              </a:rPr>
              <a:t>Direct</a:t>
            </a:r>
            <a:r>
              <a:rPr lang="en-GB" dirty="0">
                <a:latin typeface="Montserrat" pitchFamily="2" charset="77"/>
              </a:rPr>
              <a:t> and </a:t>
            </a:r>
            <a:r>
              <a:rPr lang="en-GB" dirty="0">
                <a:solidFill>
                  <a:schemeClr val="tx2"/>
                </a:solidFill>
                <a:latin typeface="Montserrat" pitchFamily="2" charset="77"/>
              </a:rPr>
              <a:t>Fixed‑Time lose large amounts of data</a:t>
            </a:r>
            <a:r>
              <a:rPr lang="en-GB" dirty="0">
                <a:latin typeface="Montserrat" pitchFamily="2" charset="77"/>
              </a:rPr>
              <a:t>, the </a:t>
            </a:r>
            <a:r>
              <a:rPr lang="en-GB" dirty="0">
                <a:solidFill>
                  <a:schemeClr val="tx2"/>
                </a:solidFill>
                <a:latin typeface="Montserrat" pitchFamily="2" charset="77"/>
              </a:rPr>
              <a:t>dynamic policies adapt naturally </a:t>
            </a:r>
            <a:r>
              <a:rPr lang="en-GB" dirty="0">
                <a:latin typeface="Montserrat" pitchFamily="2" charset="77"/>
              </a:rPr>
              <a:t>to the </a:t>
            </a:r>
            <a:r>
              <a:rPr lang="en-GB" dirty="0">
                <a:solidFill>
                  <a:schemeClr val="tx2"/>
                </a:solidFill>
                <a:latin typeface="Montserrat" pitchFamily="2" charset="77"/>
              </a:rPr>
              <a:t>disorder characteristics </a:t>
            </a:r>
            <a:r>
              <a:rPr lang="en-GB" dirty="0">
                <a:latin typeface="Montserrat" pitchFamily="2" charset="77"/>
              </a:rPr>
              <a:t>of each dataset. </a:t>
            </a:r>
          </a:p>
          <a:p>
            <a:pPr marL="146050" indent="0">
              <a:buNone/>
            </a:pPr>
            <a:endParaRPr lang="en-GB" dirty="0">
              <a:latin typeface="Montserrat" pitchFamily="2" charset="77"/>
            </a:endParaRPr>
          </a:p>
          <a:p>
            <a:r>
              <a:rPr lang="en-GB" dirty="0">
                <a:solidFill>
                  <a:schemeClr val="tx2"/>
                </a:solidFill>
                <a:latin typeface="Montserrat" pitchFamily="2" charset="77"/>
              </a:rPr>
              <a:t>Per‑Event </a:t>
            </a:r>
            <a:r>
              <a:rPr lang="en-GB" dirty="0">
                <a:latin typeface="Montserrat" pitchFamily="2" charset="77"/>
              </a:rPr>
              <a:t>stands out as the most robust strategy.  It </a:t>
            </a:r>
            <a:r>
              <a:rPr lang="en-GB" dirty="0">
                <a:solidFill>
                  <a:schemeClr val="tx2"/>
                </a:solidFill>
                <a:latin typeface="Montserrat" pitchFamily="2" charset="77"/>
              </a:rPr>
              <a:t>minimizes dropped events</a:t>
            </a:r>
            <a:r>
              <a:rPr lang="en-GB" dirty="0">
                <a:latin typeface="Montserrat" pitchFamily="2" charset="77"/>
              </a:rPr>
              <a:t>, </a:t>
            </a:r>
            <a:r>
              <a:rPr lang="en-GB" dirty="0">
                <a:solidFill>
                  <a:schemeClr val="tx2"/>
                </a:solidFill>
                <a:latin typeface="Montserrat" pitchFamily="2" charset="77"/>
              </a:rPr>
              <a:t>maintains maximum complex events </a:t>
            </a:r>
            <a:r>
              <a:rPr lang="en-GB" dirty="0">
                <a:latin typeface="Montserrat" pitchFamily="2" charset="77"/>
              </a:rPr>
              <a:t>even at very small quarantine windows and does not </a:t>
            </a:r>
            <a:r>
              <a:rPr lang="en-GB" dirty="0">
                <a:solidFill>
                  <a:schemeClr val="tx2"/>
                </a:solidFill>
                <a:latin typeface="Montserrat" pitchFamily="2" charset="77"/>
              </a:rPr>
              <a:t>add any computational overhead</a:t>
            </a:r>
            <a:r>
              <a:rPr lang="en-GB" dirty="0">
                <a:latin typeface="Montserrat" pitchFamily="2" charset="77"/>
              </a:rPr>
              <a:t>. </a:t>
            </a:r>
          </a:p>
          <a:p>
            <a:pPr marL="146050" indent="0">
              <a:buNone/>
            </a:pPr>
            <a:endParaRPr lang="en-GB" dirty="0">
              <a:latin typeface="Montserrat" pitchFamily="2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7FB94-6209-785E-A307-A1236D153F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 smtClean="0"/>
              <a:t>45</a:t>
            </a:fld>
            <a:endParaRPr lang="el"/>
          </a:p>
        </p:txBody>
      </p:sp>
    </p:spTree>
    <p:extLst>
      <p:ext uri="{BB962C8B-B14F-4D97-AF65-F5344CB8AC3E}">
        <p14:creationId xmlns:p14="http://schemas.microsoft.com/office/powerpoint/2010/main" val="11302263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D3815-DD01-96EA-18D8-170B41A5D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844" y="1961423"/>
            <a:ext cx="6924311" cy="2135926"/>
          </a:xfrm>
        </p:spPr>
        <p:txBody>
          <a:bodyPr>
            <a:normAutofit/>
          </a:bodyPr>
          <a:lstStyle/>
          <a:p>
            <a:pPr algn="ctr"/>
            <a:r>
              <a:rPr lang="en-GB" sz="2800" dirty="0">
                <a:solidFill>
                  <a:schemeClr val="tx2"/>
                </a:solidFill>
              </a:rPr>
              <a:t>Thank you for your attention!</a:t>
            </a:r>
            <a:br>
              <a:rPr lang="en-GB" sz="2800" dirty="0">
                <a:solidFill>
                  <a:schemeClr val="tx2"/>
                </a:solidFill>
              </a:rPr>
            </a:br>
            <a:br>
              <a:rPr lang="en-GB" sz="2800" dirty="0">
                <a:solidFill>
                  <a:schemeClr val="tx2"/>
                </a:solidFill>
              </a:rPr>
            </a:br>
            <a:r>
              <a:rPr lang="en-GB" sz="2800" dirty="0">
                <a:solidFill>
                  <a:schemeClr val="tx2"/>
                </a:solidFill>
              </a:rPr>
              <a:t>Any questions?</a:t>
            </a:r>
            <a:endParaRPr lang="en-GR" sz="280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E19D29-1C74-D047-7F3E-FBC68A102B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 smtClean="0"/>
              <a:t>46</a:t>
            </a:fld>
            <a:endParaRPr lang="e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0AB423-7F4F-0A88-0169-A1D4ABA37D29}"/>
              </a:ext>
            </a:extLst>
          </p:cNvPr>
          <p:cNvSpPr txBox="1"/>
          <p:nvPr/>
        </p:nvSpPr>
        <p:spPr>
          <a:xfrm>
            <a:off x="205915" y="4318153"/>
            <a:ext cx="67114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tx2"/>
                </a:solidFill>
              </a:rPr>
              <a:t>We also learn </a:t>
            </a:r>
            <a:r>
              <a:rPr lang="en-GB" sz="1400">
                <a:solidFill>
                  <a:schemeClr val="tx2"/>
                </a:solidFill>
              </a:rPr>
              <a:t>something valuable:</a:t>
            </a:r>
            <a:endParaRPr lang="en-GB" sz="1400" dirty="0">
              <a:solidFill>
                <a:schemeClr val="tx2"/>
              </a:solidFill>
            </a:endParaRPr>
          </a:p>
          <a:p>
            <a:r>
              <a:rPr lang="en-GB" dirty="0">
                <a:solidFill>
                  <a:schemeClr val="tx2"/>
                </a:solidFill>
              </a:rPr>
              <a:t>	</a:t>
            </a:r>
            <a:r>
              <a:rPr lang="en-GB" dirty="0">
                <a:solidFill>
                  <a:schemeClr val="accent5"/>
                </a:solidFill>
              </a:rPr>
              <a:t>“If you have time to complain, you have time to do something about it”</a:t>
            </a:r>
            <a:endParaRPr lang="en-GB" sz="14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4719479"/>
      </p:ext>
    </p:extLst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Έγγραφο" ma:contentTypeID="0x01010083163356957C2141895499EDA9360DD1" ma:contentTypeVersion="11" ma:contentTypeDescription="Δημιουργία νέου εγγράφου" ma:contentTypeScope="" ma:versionID="b9f1505258ad01e524f0db7766f4cc35">
  <xsd:schema xmlns:xsd="http://www.w3.org/2001/XMLSchema" xmlns:xs="http://www.w3.org/2001/XMLSchema" xmlns:p="http://schemas.microsoft.com/office/2006/metadata/properties" xmlns:ns2="3b657480-85f4-4ea8-a4dc-eef6a136fd8c" xmlns:ns3="d34e7935-3011-4453-98a6-25b5d0bae8b8" targetNamespace="http://schemas.microsoft.com/office/2006/metadata/properties" ma:root="true" ma:fieldsID="c7f433ccefaa297e2b5a62206a783bc8" ns2:_="" ns3:_="">
    <xsd:import namespace="3b657480-85f4-4ea8-a4dc-eef6a136fd8c"/>
    <xsd:import namespace="d34e7935-3011-4453-98a6-25b5d0bae8b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657480-85f4-4ea8-a4dc-eef6a136fd8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Ετικέτες εικόνας" ma:readOnly="false" ma:fieldId="{5cf76f15-5ced-4ddc-b409-7134ff3c332f}" ma:taxonomyMulti="true" ma:sspId="7382a41c-1373-45a1-8eed-f1cd16dc76d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4e7935-3011-4453-98a6-25b5d0bae8b8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3777f3e8-c37e-4142-a2ce-035ab6c779c3}" ma:internalName="TaxCatchAll" ma:showField="CatchAllData" ma:web="d34e7935-3011-4453-98a6-25b5d0bae8b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Τύπος περιεχομένου"/>
        <xsd:element ref="dc:title" minOccurs="0" maxOccurs="1" ma:index="4" ma:displayName="Τίτλο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34e7935-3011-4453-98a6-25b5d0bae8b8" xsi:nil="true"/>
    <lcf76f155ced4ddcb4097134ff3c332f xmlns="3b657480-85f4-4ea8-a4dc-eef6a136fd8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14EB83A-9939-4DCD-9285-C194DDB65269}">
  <ds:schemaRefs>
    <ds:schemaRef ds:uri="3b657480-85f4-4ea8-a4dc-eef6a136fd8c"/>
    <ds:schemaRef ds:uri="d34e7935-3011-4453-98a6-25b5d0bae8b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6D4E870-A1CF-4274-9371-BA7ACC8557D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33434B7-B53D-4D35-BDA3-31864DA1B5C8}">
  <ds:schemaRefs>
    <ds:schemaRef ds:uri="http://schemas.microsoft.com/office/2006/documentManagement/types"/>
    <ds:schemaRef ds:uri="http://purl.org/dc/elements/1.1/"/>
    <ds:schemaRef ds:uri="3b657480-85f4-4ea8-a4dc-eef6a136fd8c"/>
    <ds:schemaRef ds:uri="http://www.w3.org/XML/1998/namespace"/>
    <ds:schemaRef ds:uri="http://schemas.microsoft.com/office/infopath/2007/PartnerControls"/>
    <ds:schemaRef ds:uri="d34e7935-3011-4453-98a6-25b5d0bae8b8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6057</TotalTime>
  <Words>4042</Words>
  <Application>Microsoft Macintosh PowerPoint</Application>
  <PresentationFormat>On-screen Show (16:9)</PresentationFormat>
  <Paragraphs>545</Paragraphs>
  <Slides>46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Lato</vt:lpstr>
      <vt:lpstr>Montserrat</vt:lpstr>
      <vt:lpstr>Arial</vt:lpstr>
      <vt:lpstr>Helvetica</vt:lpstr>
      <vt:lpstr>Focus</vt:lpstr>
      <vt:lpstr>PowerPoint Presentation</vt:lpstr>
      <vt:lpstr>General Explanation of Core </vt:lpstr>
      <vt:lpstr>Event</vt:lpstr>
      <vt:lpstr>Complex Event</vt:lpstr>
      <vt:lpstr>Complex Event Query Language (CEQL)</vt:lpstr>
      <vt:lpstr>Event Time vs. Arrival Time</vt:lpstr>
      <vt:lpstr>Detection Delay</vt:lpstr>
      <vt:lpstr>Quarantine Policies of CORE </vt:lpstr>
      <vt:lpstr>DIRECT policy</vt:lpstr>
      <vt:lpstr>Fixed Time Policy </vt:lpstr>
      <vt:lpstr>New Fixed Time Policy </vt:lpstr>
      <vt:lpstr>PowerPoint Presentation</vt:lpstr>
      <vt:lpstr>Dynamic quarantine policies</vt:lpstr>
      <vt:lpstr>1. Dynamic Average Policy (AVG, Mean)</vt:lpstr>
      <vt:lpstr>2. Dynamic p99-EMA Policy (p99-EMA)</vt:lpstr>
      <vt:lpstr>3. Dynamic MAX-EMA Policy (MAX-EMA)</vt:lpstr>
      <vt:lpstr>4. Dynamic MAX Policy (MAX)</vt:lpstr>
      <vt:lpstr>5. Dynamic Jump-and-Decay Policy (Jump/Decay)</vt:lpstr>
      <vt:lpstr>6. Dynamic Per-Event Policy (Per-Event) </vt:lpstr>
      <vt:lpstr>Datasets Overview</vt:lpstr>
      <vt:lpstr>Fires dataset</vt:lpstr>
      <vt:lpstr>System arrival delay distribution - Fires</vt:lpstr>
      <vt:lpstr>System arrival delay by event type - Fires</vt:lpstr>
      <vt:lpstr>Aviation dataset </vt:lpstr>
      <vt:lpstr>System arrival delay distribution - Aviation</vt:lpstr>
      <vt:lpstr>System arrival delay by event type - Aviation</vt:lpstr>
      <vt:lpstr>Crypto dataset </vt:lpstr>
      <vt:lpstr>System arrival delay distribution - Crypto</vt:lpstr>
      <vt:lpstr>System arrival delay by event type - Crypto</vt:lpstr>
      <vt:lpstr>Experiments Overview </vt:lpstr>
      <vt:lpstr>Crypto dataset – Median Complexity </vt:lpstr>
      <vt:lpstr>Comparison of New Dynamic Quarantine Policies</vt:lpstr>
      <vt:lpstr>Dynamic Policies Comparison - Drops   </vt:lpstr>
      <vt:lpstr>Dynamic Policies Comparison - Results</vt:lpstr>
      <vt:lpstr>Dynamic Policies Comparison – Execution Time</vt:lpstr>
      <vt:lpstr>Dynamic Policies Comparison – Median Detection Delay</vt:lpstr>
      <vt:lpstr>Dynamic Policies Comparison With Ideal Results</vt:lpstr>
      <vt:lpstr>Top Dynamic Policies vs. Baseline Policies</vt:lpstr>
      <vt:lpstr>Comparison of Dropped Events by Quarantine Policy (Log Scale)</vt:lpstr>
      <vt:lpstr>Comparison of the number of results by Quarantine Policy</vt:lpstr>
      <vt:lpstr>Comparison of Execution time by Quarantine Policy </vt:lpstr>
      <vt:lpstr>Comparison of Median Detection Delay by Quarantine Policy</vt:lpstr>
      <vt:lpstr>Comparison of Ideal Results Percentage per Quarantine Policy</vt:lpstr>
      <vt:lpstr>Comparison of Quarantine Size in MB across All Policies</vt:lpstr>
      <vt:lpstr>Overall Conclusion</vt:lpstr>
      <vt:lpstr>Thank you for your attention!  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Konstantinos Koutsidis</cp:lastModifiedBy>
  <cp:revision>15</cp:revision>
  <dcterms:modified xsi:type="dcterms:W3CDTF">2026-06-30T15:03:40Z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0x01010083163356957C2141895499EDA9360DD1</vt:lpwstr>
  </property>
  <property fmtid="{D5CDD505-2E9C-101B-9397-08002B2CF9AE}" pid="3" name="MediaServiceImageTags">
    <vt:lpwstr/>
  </property>
</Properties>
</file>